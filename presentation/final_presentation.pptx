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2355B"/>
                </a:solidFill>
                <a:latin typeface="Arial"/>
              </a:defRPr>
            </a:pPr>
            <a:r>
              <a:rPr sz="1400" b="0" i="0" u="none" strike="noStrike">
                <a:solidFill>
                  <a:srgbClr val="12355B"/>
                </a:solidFill>
                <a:latin typeface="Arial"/>
              </a:rPr>
              <a:t>Internships: placement rate (%)</a:t>
            </a:r>
          </a:p>
        </c:rich>
      </c:tx>
      <c:layout/>
      <c:overlay val="0"/>
    </c:title>
    <c:autoTitleDeleted val="0"/>
    <c:plotArea>
      <c:layout/>
      <c:barChart>
        <c:barDir val="col"/>
        <c:grouping val="clustered"/>
        <c:varyColors val="0"/>
        <c:ser>
          <c:idx val="0"/>
          <c:order val="0"/>
          <c:tx>
            <c:strRef>
              <c:f>Sheet1!$B$1</c:f>
              <c:strCache>
                <c:ptCount val="1"/>
                <c:pt idx="0">
                  <c:v>Placement rate (%)</c:v>
                </c:pt>
              </c:strCache>
            </c:strRef>
          </c:tx>
          <c:spPr>
            <a:solidFill>
              <a:srgbClr val="17798A"/>
            </a:solidFill>
            <a:effectLst/>
          </c:spPr>
          <c:invertIfNegative val="0"/>
          <c:dLbls>
            <c:numFmt formatCode="0.0" sourceLinked="0"/>
            <c:txPr>
              <a:bodyPr/>
              <a:lstStyle/>
              <a:p>
                <a:pPr>
                  <a:defRPr b="0" i="0" strike="noStrike" sz="1200" u="none">
                    <a:solidFill>
                      <a:srgbClr val="1A2233"/>
                    </a:solidFill>
                    <a:latin typeface="Arial"/>
                  </a:defRPr>
                </a:pPr>
              </a:p>
            </c:txPr>
            <c:showLegendKey val="0"/>
            <c:showVal val="1"/>
            <c:showCatName val="0"/>
            <c:showSerName val="0"/>
            <c:showPercent val="0"/>
            <c:showBubbleSize val="0"/>
            <c:showLeaderLines val="0"/>
          </c:dLbls>
          <c:cat>
            <c:multiLvlStrRef>
              <c:f>Sheet1!$A$2:$A$4</c:f>
              <c:multiLvlStrCache>
                <c:ptCount val="3"/>
                <c:lvl>
                  <c:pt idx="0">
                    <c:v>0</c:v>
                  </c:pt>
                  <c:pt idx="1">
                    <c:v>1</c:v>
                  </c:pt>
                  <c:pt idx="2">
                    <c:v>2</c:v>
                  </c:pt>
                </c:lvl>
              </c:multiLvlStrCache>
            </c:multiLvlStrRef>
          </c:cat>
          <c:val>
            <c:numRef>
              <c:f>Sheet1!$B$2:$B$4</c:f>
              <c:numCache>
                <c:formatCode>General</c:formatCode>
                <c:ptCount val="3"/>
                <c:pt idx="0">
                  <c:v>33.4</c:v>
                </c:pt>
                <c:pt idx="1">
                  <c:v>32.6</c:v>
                </c:pt>
                <c:pt idx="2">
                  <c:v>69</c:v>
                </c:pt>
              </c:numCache>
            </c:numRef>
          </c:val>
        </c:ser>
        <c:dLbls>
          <c:numFmt formatCode="0.0" sourceLinked="0"/>
          <c:txPr>
            <a:bodyPr/>
            <a:lstStyle/>
            <a:p>
              <a:pPr>
                <a:defRPr b="0" i="0" strike="noStrike" sz="1200" u="none">
                  <a:solidFill>
                    <a:srgbClr val="1A2233"/>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A2233"/>
                </a:solidFill>
                <a:latin typeface="Arial"/>
              </a:defRPr>
            </a:pPr>
            <a:endParaRPr lang="en-US"/>
          </a:p>
        </c:txPr>
        <c:crossAx val="2094734552"/>
        <c:crosses val="autoZero"/>
        <c:auto val="1"/>
        <c:lblAlgn val="ctr"/>
        <c:noMultiLvlLbl val="1"/>
      </c:catAx>
      <c:valAx>
        <c:axId val="2094734552"/>
        <c:scaling>
          <c:orientation val="minMax"/>
          <c:max val="9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2355B"/>
                </a:solidFill>
                <a:latin typeface="Arial"/>
              </a:defRPr>
            </a:pPr>
            <a:r>
              <a:rPr sz="1400" b="0" i="0" u="none" strike="noStrike">
                <a:solidFill>
                  <a:srgbClr val="12355B"/>
                </a:solidFill>
                <a:latin typeface="Arial"/>
              </a:rPr>
              <a:t>Projects (level 0: n = 30): placement rate (%)</a:t>
            </a:r>
          </a:p>
        </c:rich>
      </c:tx>
      <c:layout/>
      <c:overlay val="0"/>
    </c:title>
    <c:autoTitleDeleted val="0"/>
    <c:plotArea>
      <c:layout/>
      <c:barChart>
        <c:barDir val="col"/>
        <c:grouping val="clustered"/>
        <c:varyColors val="0"/>
        <c:ser>
          <c:idx val="0"/>
          <c:order val="0"/>
          <c:tx>
            <c:strRef>
              <c:f>Sheet1!$B$1</c:f>
              <c:strCache>
                <c:ptCount val="1"/>
                <c:pt idx="0">
                  <c:v>Placement rate (%)</c:v>
                </c:pt>
              </c:strCache>
            </c:strRef>
          </c:tx>
          <c:spPr>
            <a:solidFill>
              <a:srgbClr val="17798A"/>
            </a:solidFill>
            <a:effectLst/>
          </c:spPr>
          <c:invertIfNegative val="0"/>
          <c:dLbls>
            <c:numFmt formatCode="0.0" sourceLinked="0"/>
            <c:txPr>
              <a:bodyPr/>
              <a:lstStyle/>
              <a:p>
                <a:pPr>
                  <a:defRPr b="0" i="0" strike="noStrike" sz="1200" u="none">
                    <a:solidFill>
                      <a:srgbClr val="1A2233"/>
                    </a:solidFill>
                    <a:latin typeface="Arial"/>
                  </a:defRPr>
                </a:pPr>
              </a:p>
            </c:txPr>
            <c:showLegendKey val="0"/>
            <c:showVal val="1"/>
            <c:showCatName val="0"/>
            <c:showSerName val="0"/>
            <c:showPercent val="0"/>
            <c:showBubbleSize val="0"/>
            <c:showLeaderLines val="0"/>
          </c:dLbls>
          <c:cat>
            <c:multiLvlStrRef>
              <c:f>Sheet1!$A$2:$A$5</c:f>
              <c:multiLvlStrCache>
                <c:ptCount val="4"/>
                <c:lvl>
                  <c:pt idx="0">
                    <c:v>0</c:v>
                  </c:pt>
                  <c:pt idx="1">
                    <c:v>1</c:v>
                  </c:pt>
                  <c:pt idx="2">
                    <c:v>2</c:v>
                  </c:pt>
                  <c:pt idx="3">
                    <c:v>3</c:v>
                  </c:pt>
                </c:lvl>
              </c:multiLvlStrCache>
            </c:multiLvlStrRef>
          </c:cat>
          <c:val>
            <c:numRef>
              <c:f>Sheet1!$B$2:$B$5</c:f>
              <c:numCache>
                <c:formatCode>General</c:formatCode>
                <c:ptCount val="4"/>
                <c:pt idx="0">
                  <c:v>60</c:v>
                </c:pt>
                <c:pt idx="1">
                  <c:v>16.9</c:v>
                </c:pt>
                <c:pt idx="2">
                  <c:v>31.4</c:v>
                </c:pt>
                <c:pt idx="3">
                  <c:v>71.4</c:v>
                </c:pt>
              </c:numCache>
            </c:numRef>
          </c:val>
        </c:ser>
        <c:dLbls>
          <c:numFmt formatCode="0.0" sourceLinked="0"/>
          <c:txPr>
            <a:bodyPr/>
            <a:lstStyle/>
            <a:p>
              <a:pPr>
                <a:defRPr b="0" i="0" strike="noStrike" sz="1200" u="none">
                  <a:solidFill>
                    <a:srgbClr val="1A2233"/>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A2233"/>
                </a:solidFill>
                <a:latin typeface="Arial"/>
              </a:defRPr>
            </a:pPr>
            <a:endParaRPr lang="en-US"/>
          </a:p>
        </c:txPr>
        <c:crossAx val="2094734552"/>
        <c:crosses val="autoZero"/>
        <c:auto val="1"/>
        <c:lblAlgn val="ctr"/>
        <c:noMultiLvlLbl val="1"/>
      </c:catAx>
      <c:valAx>
        <c:axId val="2094734552"/>
        <c:scaling>
          <c:orientation val="minMax"/>
          <c:max val="9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2355B"/>
                </a:solidFill>
                <a:latin typeface="Arial"/>
              </a:defRPr>
            </a:pPr>
            <a:r>
              <a:rPr sz="1400" b="0" i="0" u="none" strike="noStrike">
                <a:solidFill>
                  <a:srgbClr val="12355B"/>
                </a:solidFill>
                <a:latin typeface="Arial"/>
              </a:rPr>
              <a:t>Workshops / Certifications: placement rate (%)</a:t>
            </a:r>
          </a:p>
        </c:rich>
      </c:tx>
      <c:layout/>
      <c:overlay val="0"/>
    </c:title>
    <c:autoTitleDeleted val="0"/>
    <c:plotArea>
      <c:layout/>
      <c:barChart>
        <c:barDir val="col"/>
        <c:grouping val="clustered"/>
        <c:varyColors val="0"/>
        <c:ser>
          <c:idx val="0"/>
          <c:order val="0"/>
          <c:tx>
            <c:strRef>
              <c:f>Sheet1!$B$1</c:f>
              <c:strCache>
                <c:ptCount val="1"/>
                <c:pt idx="0">
                  <c:v>Placement rate (%)</c:v>
                </c:pt>
              </c:strCache>
            </c:strRef>
          </c:tx>
          <c:spPr>
            <a:solidFill>
              <a:srgbClr val="17798A"/>
            </a:solidFill>
            <a:effectLst/>
          </c:spPr>
          <c:invertIfNegative val="0"/>
          <c:dLbls>
            <c:numFmt formatCode="0.0" sourceLinked="0"/>
            <c:txPr>
              <a:bodyPr/>
              <a:lstStyle/>
              <a:p>
                <a:pPr>
                  <a:defRPr b="0" i="0" strike="noStrike" sz="1200" u="none">
                    <a:solidFill>
                      <a:srgbClr val="1A2233"/>
                    </a:solidFill>
                    <a:latin typeface="Arial"/>
                  </a:defRPr>
                </a:pPr>
              </a:p>
            </c:txPr>
            <c:showLegendKey val="0"/>
            <c:showVal val="1"/>
            <c:showCatName val="0"/>
            <c:showSerName val="0"/>
            <c:showPercent val="0"/>
            <c:showBubbleSize val="0"/>
            <c:showLeaderLines val="0"/>
          </c:dLbls>
          <c:cat>
            <c:multiLvlStrRef>
              <c:f>Sheet1!$A$2:$A$5</c:f>
              <c:multiLvlStrCache>
                <c:ptCount val="4"/>
                <c:lvl>
                  <c:pt idx="0">
                    <c:v>0</c:v>
                  </c:pt>
                  <c:pt idx="1">
                    <c:v>1</c:v>
                  </c:pt>
                  <c:pt idx="2">
                    <c:v>2</c:v>
                  </c:pt>
                  <c:pt idx="3">
                    <c:v>3</c:v>
                  </c:pt>
                </c:lvl>
              </c:multiLvlStrCache>
            </c:multiLvlStrRef>
          </c:cat>
          <c:val>
            <c:numRef>
              <c:f>Sheet1!$B$2:$B$5</c:f>
              <c:numCache>
                <c:formatCode>General</c:formatCode>
                <c:ptCount val="4"/>
                <c:pt idx="0">
                  <c:v>28.4</c:v>
                </c:pt>
                <c:pt idx="1">
                  <c:v>21.1</c:v>
                </c:pt>
                <c:pt idx="2">
                  <c:v>72.6</c:v>
                </c:pt>
                <c:pt idx="3">
                  <c:v>56.3</c:v>
                </c:pt>
              </c:numCache>
            </c:numRef>
          </c:val>
        </c:ser>
        <c:dLbls>
          <c:numFmt formatCode="0.0" sourceLinked="0"/>
          <c:txPr>
            <a:bodyPr/>
            <a:lstStyle/>
            <a:p>
              <a:pPr>
                <a:defRPr b="0" i="0" strike="noStrike" sz="1200" u="none">
                  <a:solidFill>
                    <a:srgbClr val="1A2233"/>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A2233"/>
                </a:solidFill>
                <a:latin typeface="Arial"/>
              </a:defRPr>
            </a:pPr>
            <a:endParaRPr lang="en-US"/>
          </a:p>
        </c:txPr>
        <c:crossAx val="2094734552"/>
        <c:crosses val="autoZero"/>
        <c:auto val="1"/>
        <c:lblAlgn val="ctr"/>
        <c:noMultiLvlLbl val="1"/>
      </c:catAx>
      <c:valAx>
        <c:axId val="2094734552"/>
        <c:scaling>
          <c:orientation val="minMax"/>
          <c:max val="9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2355B"/>
                </a:solidFill>
                <a:latin typeface="Arial"/>
              </a:defRPr>
            </a:pPr>
            <a:r>
              <a:rPr sz="1400" b="0" i="0" u="none" strike="noStrike">
                <a:solidFill>
                  <a:srgbClr val="12355B"/>
                </a:solidFill>
                <a:latin typeface="Arial"/>
              </a:rPr>
              <a:t>Permutation importance (validation): AUC lost when shuffled</a:t>
            </a:r>
          </a:p>
        </c:rich>
      </c:tx>
      <c:layout/>
      <c:overlay val="0"/>
    </c:title>
    <c:autoTitleDeleted val="0"/>
    <c:plotArea>
      <c:layout/>
      <c:barChart>
        <c:barDir val="bar"/>
        <c:grouping val="clustered"/>
        <c:varyColors val="0"/>
        <c:ser>
          <c:idx val="0"/>
          <c:order val="0"/>
          <c:tx>
            <c:strRef>
              <c:f>Sheet1!$B$1</c:f>
              <c:strCache>
                <c:ptCount val="1"/>
                <c:pt idx="0">
                  <c:v>AUC lost</c:v>
                </c:pt>
              </c:strCache>
            </c:strRef>
          </c:tx>
          <c:spPr>
            <a:solidFill>
              <a:srgbClr val="17798A"/>
            </a:solidFill>
            <a:effectLst/>
          </c:spPr>
          <c:invertIfNegative val="0"/>
          <c:dLbls>
            <c:numFmt formatCode="0.0000" sourceLinked="0"/>
            <c:txPr>
              <a:bodyPr/>
              <a:lstStyle/>
              <a:p>
                <a:pPr>
                  <a:defRPr b="0" i="0" strike="noStrike" sz="1200" u="none">
                    <a:solidFill>
                      <a:srgbClr val="1A2233"/>
                    </a:solidFill>
                    <a:latin typeface="Arial"/>
                  </a:defRPr>
                </a:pPr>
              </a:p>
            </c:txPr>
            <c:showLegendKey val="0"/>
            <c:showVal val="1"/>
            <c:showCatName val="0"/>
            <c:showSerName val="0"/>
            <c:showPercent val="0"/>
            <c:showBubbleSize val="0"/>
            <c:showLeaderLines val="0"/>
          </c:dLbls>
          <c:cat>
            <c:multiLvlStrRef>
              <c:f>Sheet1!$A$2:$A$11</c:f>
              <c:multiLvlStrCache>
                <c:ptCount val="10"/>
                <c:lvl>
                  <c:pt idx="0">
                    <c:v>Aptitude</c:v>
                  </c:pt>
                  <c:pt idx="1">
                    <c:v>Placement training</c:v>
                  </c:pt>
                  <c:pt idx="2">
                    <c:v>Extracurricular</c:v>
                  </c:pt>
                  <c:pt idx="3">
                    <c:v>Workshops/Certs</c:v>
                  </c:pt>
                  <c:pt idx="4">
                    <c:v>Soft skills</c:v>
                  </c:pt>
                  <c:pt idx="5">
                    <c:v>SSC marks</c:v>
                  </c:pt>
                  <c:pt idx="6">
                    <c:v>Projects</c:v>
                  </c:pt>
                  <c:pt idx="7">
                    <c:v>HSC marks</c:v>
                  </c:pt>
                  <c:pt idx="8">
                    <c:v>CGPA</c:v>
                  </c:pt>
                  <c:pt idx="9">
                    <c:v>Internships</c:v>
                  </c:pt>
                </c:lvl>
              </c:multiLvlStrCache>
            </c:multiLvlStrRef>
          </c:cat>
          <c:val>
            <c:numRef>
              <c:f>Sheet1!$B$2:$B$11</c:f>
              <c:numCache>
                <c:formatCode>General</c:formatCode>
                <c:ptCount val="10"/>
                <c:pt idx="0">
                  <c:v>0.0208</c:v>
                </c:pt>
                <c:pt idx="1">
                  <c:v>0.0177</c:v>
                </c:pt>
                <c:pt idx="2">
                  <c:v>0.0125</c:v>
                </c:pt>
                <c:pt idx="3">
                  <c:v>0.0081</c:v>
                </c:pt>
                <c:pt idx="4">
                  <c:v>0.006</c:v>
                </c:pt>
                <c:pt idx="5">
                  <c:v>0.005</c:v>
                </c:pt>
                <c:pt idx="6">
                  <c:v>0.0039</c:v>
                </c:pt>
                <c:pt idx="7">
                  <c:v>0.0038</c:v>
                </c:pt>
                <c:pt idx="8">
                  <c:v>0.0036</c:v>
                </c:pt>
                <c:pt idx="9">
                  <c:v>0.0003</c:v>
                </c:pt>
              </c:numCache>
            </c:numRef>
          </c:val>
        </c:ser>
        <c:dLbls>
          <c:numFmt formatCode="0.0000" sourceLinked="0"/>
          <c:txPr>
            <a:bodyPr/>
            <a:lstStyle/>
            <a:p>
              <a:pPr>
                <a:defRPr b="0" i="0" strike="noStrike" sz="1200" u="none">
                  <a:solidFill>
                    <a:srgbClr val="1A2233"/>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A2233"/>
                </a:solidFill>
                <a:latin typeface="Arial"/>
              </a:defRPr>
            </a:pPr>
            <a:endParaRPr lang="en-US"/>
          </a:p>
        </c:txPr>
        <c:crossAx val="2094734552"/>
        <c:crosses val="autoZero"/>
        <c:auto val="1"/>
        <c:lblAlgn val="ctr"/>
        <c:noMultiLvlLbl val="1"/>
      </c:catAx>
      <c:valAx>
        <c:axId val="2094734552"/>
        <c:scaling>
          <c:orientation val="minMax"/>
          <c:max val="0.026"/>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2355B"/>
                </a:solidFill>
                <a:latin typeface="Arial"/>
              </a:defRPr>
            </a:pPr>
            <a:r>
              <a:rPr sz="1400" b="0" i="0" u="none" strike="noStrike">
                <a:solidFill>
                  <a:srgbClr val="12355B"/>
                </a:solidFill>
                <a:latin typeface="Arial"/>
              </a:rPr>
              <a:t>Feature-group ablation: validation ROC-AUC (axis starts at 0.5)</a:t>
            </a:r>
          </a:p>
        </c:rich>
      </c:tx>
      <c:layout/>
      <c:overlay val="0"/>
    </c:title>
    <c:autoTitleDeleted val="0"/>
    <c:plotArea>
      <c:layout/>
      <c:barChart>
        <c:barDir val="col"/>
        <c:grouping val="clustered"/>
        <c:varyColors val="0"/>
        <c:ser>
          <c:idx val="0"/>
          <c:order val="0"/>
          <c:tx>
            <c:strRef>
              <c:f>Sheet1!$B$1</c:f>
              <c:strCache>
                <c:ptCount val="1"/>
                <c:pt idx="0">
                  <c:v>Validation ROC-AUC</c:v>
                </c:pt>
              </c:strCache>
            </c:strRef>
          </c:tx>
          <c:spPr>
            <a:solidFill>
              <a:srgbClr val="17798A"/>
            </a:solidFill>
            <a:effectLst/>
          </c:spPr>
          <c:invertIfNegative val="0"/>
          <c:dLbls>
            <c:numFmt formatCode="0.000" sourceLinked="0"/>
            <c:txPr>
              <a:bodyPr/>
              <a:lstStyle/>
              <a:p>
                <a:pPr>
                  <a:defRPr b="0" i="0" strike="noStrike" sz="1400" u="none">
                    <a:solidFill>
                      <a:srgbClr val="1A2233"/>
                    </a:solidFill>
                    <a:latin typeface="Arial"/>
                  </a:defRPr>
                </a:pPr>
              </a:p>
            </c:txPr>
            <c:showLegendKey val="0"/>
            <c:showVal val="1"/>
            <c:showCatName val="0"/>
            <c:showSerName val="0"/>
            <c:showPercent val="0"/>
            <c:showBubbleSize val="0"/>
            <c:showLeaderLines val="0"/>
          </c:dLbls>
          <c:dPt>
            <c:idx val="0"/>
            <c:invertIfNegative val="0"/>
            <c:bubble3D val="0"/>
            <c:spPr>
              <a:solidFill>
                <a:srgbClr val="17798A"/>
              </a:solidFill>
              <a:effectLst/>
            </c:spPr>
          </c:dPt>
          <c:dPt>
            <c:idx val="1"/>
            <c:invertIfNegative val="0"/>
            <c:bubble3D val="0"/>
            <c:spPr>
              <a:solidFill>
                <a:srgbClr val="17798A"/>
              </a:solidFill>
              <a:effectLst/>
            </c:spPr>
          </c:dPt>
          <c:dPt>
            <c:idx val="2"/>
            <c:invertIfNegative val="0"/>
            <c:bubble3D val="0"/>
            <c:spPr>
              <a:solidFill>
                <a:srgbClr val="17798A"/>
              </a:solidFill>
              <a:effectLst/>
            </c:spPr>
          </c:dPt>
          <c:dPt>
            <c:idx val="3"/>
            <c:invertIfNegative val="0"/>
            <c:bubble3D val="0"/>
            <c:spPr>
              <a:solidFill>
                <a:srgbClr val="12355B"/>
              </a:solidFill>
              <a:effectLst/>
            </c:spPr>
          </c:dPt>
          <c:dPt>
            <c:idx val="4"/>
            <c:invertIfNegative val="0"/>
            <c:bubble3D val="0"/>
            <c:spPr>
              <a:solidFill>
                <a:srgbClr val="8FB8C9"/>
              </a:solidFill>
              <a:effectLst/>
            </c:spPr>
          </c:dPt>
          <c:cat>
            <c:multiLvlStrRef>
              <c:f>Sheet1!$A$2:$A$6</c:f>
              <c:multiLvlStrCache>
                <c:ptCount val="5"/>
                <c:lvl>
                  <c:pt idx="0">
                    <c:v>Academic only</c:v>
                  </c:pt>
                  <c:pt idx="1">
                    <c:v>+ Aptitude</c:v>
                  </c:pt>
                  <c:pt idx="2">
                    <c:v>+ Technical counts</c:v>
                  </c:pt>
                  <c:pt idx="3">
                    <c:v>Full model</c:v>
                  </c:pt>
                  <c:pt idx="4">
                    <c:v>Employability only</c:v>
                  </c:pt>
                </c:lvl>
              </c:multiLvlStrCache>
            </c:multiLvlStrRef>
          </c:cat>
          <c:val>
            <c:numRef>
              <c:f>Sheet1!$B$2:$B$6</c:f>
              <c:numCache>
                <c:formatCode>General</c:formatCode>
                <c:ptCount val="5"/>
                <c:pt idx="0">
                  <c:v>0.823</c:v>
                </c:pt>
                <c:pt idx="1">
                  <c:v>0.844</c:v>
                </c:pt>
                <c:pt idx="2">
                  <c:v>0.856</c:v>
                </c:pt>
                <c:pt idx="3">
                  <c:v>0.872</c:v>
                </c:pt>
                <c:pt idx="4">
                  <c:v>0.828</c:v>
                </c:pt>
              </c:numCache>
            </c:numRef>
          </c:val>
        </c:ser>
        <c:dLbls>
          <c:numFmt formatCode="0.000" sourceLinked="0"/>
          <c:txPr>
            <a:bodyPr/>
            <a:lstStyle/>
            <a:p>
              <a:pPr>
                <a:defRPr b="0" i="0" strike="noStrike" sz="1400" u="none">
                  <a:solidFill>
                    <a:srgbClr val="1A2233"/>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A2233"/>
                </a:solidFill>
                <a:latin typeface="Arial"/>
              </a:defRPr>
            </a:pPr>
            <a:endParaRPr lang="en-US"/>
          </a:p>
        </c:txPr>
        <c:crossAx val="2094734552"/>
        <c:crosses val="autoZero"/>
        <c:auto val="1"/>
        <c:lblAlgn val="ctr"/>
        <c:noMultiLvlLbl val="1"/>
      </c:catAx>
      <c:valAx>
        <c:axId val="2094734552"/>
        <c:scaling>
          <c:orientation val="minMax"/>
          <c:max val="0.9"/>
          <c:min val="0.5"/>
        </c:scaling>
        <c:delete val="0"/>
        <c:axPos val="l"/>
        <c:majorGridlines>
          <c:spPr>
            <a:ln w="6350" cap="flat">
              <a:solidFill>
                <a:srgbClr val="C9D3DF"/>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B7F"/>
                </a:solidFill>
                <a:latin typeface="Arial"/>
              </a:defRPr>
            </a:pPr>
            <a:endParaRPr lang="en-US"/>
          </a:p>
        </c:txPr>
        <c:crossAx val="2094734554"/>
        <c:crosses val="autoZero"/>
        <c:crossBetween val="between"/>
        <c:majorUnit val="0.1"/>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This project is about estimating the probability that a student is placed, and about checking that this probability can be trusted. I will tell it as a methodological story: the data, a leakage problem I found and fixed, model comparison, calibration and threshold, one final held-out evaluation, and the limits. Throughout I say prediction and association, never cause: the model estimates a probability, it does not determine a placement. First, why a probability is more useful than a label.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placement models answer a yes-or-no question: Placed or NotPlaced. The problem is that a label hides how certain the model is. The illustration on the right is hypothetical: two students with estimated probabilities of 0.92 and 0.55 are both labelled Placed at the usual 0.50 cut-off, yet they carry very different certainty. So the goal here is to estimate the probability of being placed given ten student characteristics, written P of Y equals Placed given X. A classification is then derived from that probability with a threshold, and different users can choose different thresholds. The key message to remember: the probability is the primary output and the classification is secondary. Next,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come from the Hugging Face dataset Krooz slash Campus Recruitment CSV, released under CC0. The original file has 10,000 rows and 11 columns: ten predictors and the target, PlacementStatus. In the original data, 4,197 students are Placed and 5,803 are NotPlaced. I group the predictors into three families. Academic: CGPA and the SSC and HSC marks. Technical: aptitude test score, internships, projects, and workshops or certifications. Employability: soft skills rating, extracurricular activities and placement training. These numbers describe the original dataset, before cleaning. The dataset card does not say how the data were collected.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the strongest parts of the project. Before any modelling I audited the data. Of the 10,000 rows, 72 were surplus exact duplicates with the same label, and I collapsed them. Eight groups of rows had identical values on all ten predictors but opposite labels; I excluded all 16 of those rows and did not use a majority vote, because with one row per label there is no majority and any choice would be arbitrary. That leaves 9,912 modelling rows. More importantly, 33 feature profiles crossed the supplied train, validation and test files, so evaluating on those files would partly measure memorisation. I therefore discarded the supplied split and made a new stratified 70, 15, 15 split: 6,938 training, 1,487 validation and 1,487 test rows. The final splits have no feature-profile overlap.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cleaning, I explored the data. The scores that separate Placed and NotPlaced students most are aptitude, with a standardised mean difference, Cohen's d, of 1.23, and HSC marks with 1.18. Among binary variables, the observed placement rate is 61.6 percent with extracurricular activities against 13.7 percent without, an odds ratio of about 10.1; for placement training the odds ratio is about 5.7. These are associations in this dataset; I make no causal claim. The chart shows the second finding: the three count variables do not rise steadily. Internships are flat from 0 to 1 and then jump at 2; workshops dip at level 1; projects level 0 rests on only 30 students. That motivated testing a categorical representation of the counts. Now, how I tested these patterns formally.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tested these observations formally. For the scores I used Mann-Whitney and Welch tests with effect sizes. For binary variables, chi-square tests, Cramér's V and odds ratios. For the count variables, chi-square tests and pairwise comparisons, and a Cochran-Mantel-Haenszel analysis stratified by aptitude to see whether aptitude explained the patterns; it explained part of them but the dips persisted. Holm correction handled multiple testing and variance inflation factors checked redundancy. Two numbers to remember: the maximum VIF is 1.96, so multicollinearity is low, and aptitude alone has a single-feature AUC of about 0.81. The key point is at the bottom: these statistics shaped the representation and model choices, but with 10,000 students almost anything is significant, and none of them measures out-of-sample prediction or calibration. That had to be tested with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whole methodology in one picture. The first three steps, in navy, are data work: the quality audit, the leakage-aware split, then preprocessing. The teal steps are development, done with training and validation data only: baseline models, validation comparison, five-fold cross-validation, calibration, threshold analysis, and explainability with ablation. Only then was the final model frozen, in amber, with its specification, thresholds and metrics written to a protocol file. The one-time test evaluation happens after that, and the interactive application comes last. The test set was evaluated once, after the protocol was frozen. I will say honestly in a moment what that does and does not mean for early descriptive analyses. Now let me walk through the development steps, starting with the model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compared logistic regression, a decision tree, a random forest, gradient boosting and a base-rate dummy on the validation set. The selection rule was fixed in advance: the primary criterion was validation log loss; models whose paired-bootstrap interval for the log-loss difference contained zero were treated as tied; and within the tied set the most interpretable model was preferred. Logistic regression B, gradient boosting B and random forest B are practically tied on all three metrics. Their differences are far smaller than the bootstrap intervals. Only the decision tree is clearly worse, and every model beats the dummy. So I do not claim that logistic regression beat the others. For this dataset and protocol, LR B was retained because it is interpretable, has strong probability performance and is the simplest of the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Five-fold stratified cross-validation on the training data confirmed the tie and gave a yardstick for noise: LR B had ROC-AUC 0.879 plus or minus 0.010, log loss 0.431 plus or minus 0.016 and Brier 0.139 plus or minus 0.006. Next, calibration. A probability is only useful if it means what it says: among students given about 0.8, roughly 80 percent should be placed. The calibration slope of the raw probabilities was 0.99, where 1 is ideal, and the expected calibration error was 0.021, close to what sampling noise alone would give. I also tried sigmoid and isotonic recalibration. The rule, fixed in advance, required a log-loss improvement of at least 0.005 with a confidence interval entirely below zero. No method met it, so the raw LR B probabilities were retained.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Producing a probability and turning it into a label are different tasks. The classification threshold is a policy choice. I fixed a rule in advance: on a grid from 0.20 to 0.80, pick the threshold with the highest validation F1, with ties going to the value closest to 0.50. That selected 0.35, with validation F1 of 0.766. At 0.35 recall is higher, 0.838 against 0.741, and precision is lower, 0.705 against 0.772. At 0.50 the rule is more conservative, with higher precision and higher specificity. But F1 is flat from about 0.30 to 0.55 and 0.50 is practically tied, so 0.35 is the selected operating threshold under an F1-oriented criterion, not a universally optimal one. The right choice depends on the relative cost of the two errors, which this project did not define.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Logistic regression is additive on the log-odds scale: the logit of the probability equals an intercept plus a sum of per-feature contributions, each being a coefficient times the transformed value, measured against a baseline student. At model level, the strongest associations were placement training with an odds ratio of about 2.75, extracurricular activities about 1.95 and aptitude about 1.65 per standard deviation. The chart shows permutation importance on validation: shuffling aptitude costs about 0.021 of AUC, placement training 0.018 and extracurricular activities 0.013, while internships add almost nothing once the others are included. These are predictive contributions, not causal effects. Ablation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Ablation asks how much each feature group adds. Using logistic regression with the same preprocessing, validation AUC was 0.823 with academic features alone, 0.844 after adding aptitude, 0.856 after adding the technical counts, and 0.872 for the full model. Each added group improved performance in all five cross-validation folds, but the groups overlap, so the increments depend on order and are not independent contributions. On the right, error analysis at threshold 0.50 on validation: about 19.8 percent of students are misclassified, and roughly 70 percent of those errors lie where the predicted probability is between 0.2 and 0.8. Eighty-eight students were wrong with high confidence. The model is most uncertain where student profiles overlap.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final evaluation. The model specification, the thresholds and the metrics were frozen first; the final model was refit on train plus validation and evaluated once on the 1,487 test students. The three headline numbers are probability metrics: ROC-AUC 0.886, log loss 0.420 and Brier score 0.134. Please note that 0.886 is a ROC-AUC, not an accuracy. Calibration was good: slope 1.05 and expected calibration error 0.016. At threshold 0.50, accuracy is 0.812 with precision 0.779 and recall 0.765. At 0.35, recall rises to 0.851 and F1 to 0.781 while precision falls to 0.722: that is 53 fewer missed placed students for 69 more false alarms, and I do not claim a significant F1 difference. Test performance was broadly consistent with the development estimates.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step, Phase 8A, is a Streamlit application. A user enters the ten student characteristics; all fields are required and invalid values are rejected rather than silently clipped. The app loads the frozen Phase 7 artifact, LR B refit on train plus validation, exactly as saved: nothing is retrained, tuned or recalibrated. It returns the estimated probability, the classification at the 0.35 operating threshold, the 0.50 reference classification, a descriptive probability band, and an additive explanation of the contributions that reconstructs the model's log-odds to numerical precision. The application was verified against direct model predictions by a verification script that had 122 checks in its original Phase 8A form and has 178 in the final release form, all passing, and it never reads the held-out test split. This is a schematic of the workflow; no screenshot was captured, so I do not claim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four points. First, leakage-aware cleaning changed the evaluation design: without it, repeated profiles would have leaked across splits. Second, logistic regression provided strong, interpretable probability estimates, practically tied with the nonlinear models. Third, calibration and threshold analysis made the probability output more meaningful. Fourth, the model reached ROC-AUC 0.886 on the final held-out evaluation. The limits matter as much: one dataset of uncertain representativeness, a structure that may be rule-based or constructed, associations that are not causes, a threshold that depends on costs, no external validation, and early descriptive analyses that touched the eventual test rows, which I disclosed; no model, threshold or calibration decision used them. The final line: a useful predictive estimate within this dataset and protocol, not a guarantee for any individual student. Thank you;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rtlCol="0"/>
          <a:lstStyle>
            <a:lvl1pPr algn="l" indent="0" marL="0">
              <a:buNone/>
              <a:defRPr lang="en-US" sz="3200" b="1" dirty="0">
                <a:solidFill>
                  <a:srgbClr val="12355B"/>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B6B7F"/>
                </a:solidFill>
                <a:latin typeface="Calibri" pitchFamily="34" charset="0"/>
                <a:ea typeface="Calibri" pitchFamily="34" charset="-122"/>
                <a:cs typeface="Calibri" pitchFamily="34" charset="-120"/>
              </a:rPr>
              <a:t>Predicting Student Placement Probability</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F"/>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2355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rtlCol="0"/>
          <a:lstStyle>
            <a:lvl1pPr algn="l" indent="0" marL="0">
              <a:buNone/>
              <a:defRPr lang="en-US" sz="32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8FB8C9"/>
                </a:solidFill>
                <a:latin typeface="Calibri" pitchFamily="34" charset="0"/>
                <a:ea typeface="Calibri" pitchFamily="34" charset="-122"/>
                <a:cs typeface="Calibri" pitchFamily="34" charset="-120"/>
              </a:rPr>
              <a:t>Predicting Student Placement Probability</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B8C9"/>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rgbClr val="12355B"/>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F"/>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chart" Target="../charts/chart2.xml"/><Relationship Id="rId3" Type="http://schemas.openxmlformats.org/officeDocument/2006/relationships/chart" Target="../charts/chart3.xml"/><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charts/chart4.xml"/><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charts/chart5.xml"/><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txBox="1"/>
          <p:nvPr/>
        </p:nvSpPr>
        <p:spPr>
          <a:xfrm>
            <a:off x="731520" y="1371600"/>
            <a:ext cx="10698480" cy="118872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Predicting Student Placement Probability</a:t>
            </a:r>
            <a:endParaRPr lang="en-US" sz="4600" dirty="0"/>
          </a:p>
        </p:txBody>
      </p:sp>
      <p:sp>
        <p:nvSpPr>
          <p:cNvPr id="4" name="Text 1"/>
          <p:cNvSpPr txBox="1"/>
          <p:nvPr/>
        </p:nvSpPr>
        <p:spPr>
          <a:xfrm>
            <a:off x="731520" y="2606040"/>
            <a:ext cx="10698480" cy="548640"/>
          </a:xfrm>
          <a:prstGeom prst="rect">
            <a:avLst/>
          </a:prstGeom>
          <a:noFill/>
          <a:ln/>
        </p:spPr>
        <p:txBody>
          <a:bodyPr wrap="square" lIns="0" tIns="0" rIns="0" bIns="0" rtlCol="0" anchor="ctr"/>
          <a:lstStyle/>
          <a:p>
            <a:pPr indent="0" marL="0">
              <a:buNone/>
            </a:pPr>
            <a:r>
              <a:rPr lang="en-US" sz="2600" dirty="0">
                <a:solidFill>
                  <a:srgbClr val="8FB8C9"/>
                </a:solidFill>
                <a:latin typeface="Cambria" pitchFamily="34" charset="0"/>
                <a:ea typeface="Cambria" pitchFamily="34" charset="-122"/>
                <a:cs typeface="Cambria" pitchFamily="34" charset="-120"/>
              </a:rPr>
              <a:t>Using Academic, Technical and Employability Features</a:t>
            </a:r>
            <a:endParaRPr lang="en-US" sz="2600" dirty="0"/>
          </a:p>
        </p:txBody>
      </p:sp>
      <p:sp>
        <p:nvSpPr>
          <p:cNvPr id="5" name="Text 2"/>
          <p:cNvSpPr txBox="1"/>
          <p:nvPr/>
        </p:nvSpPr>
        <p:spPr>
          <a:xfrm>
            <a:off x="731520" y="3246120"/>
            <a:ext cx="10698480" cy="457200"/>
          </a:xfrm>
          <a:prstGeom prst="rect">
            <a:avLst/>
          </a:prstGeom>
          <a:noFill/>
          <a:ln/>
        </p:spPr>
        <p:txBody>
          <a:bodyPr wrap="square" lIns="0" tIns="0" rIns="0" bIns="0" rtlCol="0" anchor="ctr"/>
          <a:lstStyle/>
          <a:p>
            <a:pPr indent="0" marL="0">
              <a:buNone/>
            </a:pPr>
            <a:r>
              <a:rPr lang="en-US" sz="1800" i="1" dirty="0">
                <a:solidFill>
                  <a:srgbClr val="FFFFFF"/>
                </a:solidFill>
                <a:latin typeface="Calibri" pitchFamily="34" charset="0"/>
                <a:ea typeface="Calibri" pitchFamily="34" charset="-122"/>
                <a:cs typeface="Calibri" pitchFamily="34" charset="-120"/>
              </a:rPr>
              <a:t>A probability-based machine learning approach to student placement prediction</a:t>
            </a:r>
            <a:endParaRPr lang="en-US" sz="1800" dirty="0"/>
          </a:p>
        </p:txBody>
      </p:sp>
      <p:sp>
        <p:nvSpPr>
          <p:cNvPr id="6" name="info card"/>
          <p:cNvSpPr/>
          <p:nvPr/>
        </p:nvSpPr>
        <p:spPr>
          <a:xfrm>
            <a:off x="731520" y="4251960"/>
            <a:ext cx="10698480" cy="1783080"/>
          </a:xfrm>
          <a:prstGeom prst="roundRect">
            <a:avLst>
              <a:gd name="adj" fmla="val 5128"/>
            </a:avLst>
          </a:prstGeom>
          <a:solidFill>
            <a:srgbClr val="1D4673"/>
          </a:solidFill>
          <a:ln w="12700">
            <a:solidFill>
              <a:srgbClr val="1D4673"/>
            </a:solidFill>
            <a:prstDash val="solid"/>
          </a:ln>
        </p:spPr>
      </p:sp>
      <p:sp>
        <p:nvSpPr>
          <p:cNvPr id="7" name="Text 4"/>
          <p:cNvSpPr txBox="1"/>
          <p:nvPr/>
        </p:nvSpPr>
        <p:spPr>
          <a:xfrm>
            <a:off x="1005840" y="4389120"/>
            <a:ext cx="10149840" cy="1508760"/>
          </a:xfrm>
          <a:prstGeom prst="rect">
            <a:avLst/>
          </a:prstGeom>
          <a:noFill/>
          <a:ln/>
        </p:spPr>
        <p:txBody>
          <a:bodyPr wrap="square" lIns="0" tIns="0" rIns="0" bIns="0" rtlCol="0" anchor="ctr"/>
          <a:lstStyle/>
          <a:p>
            <a:pPr indent="0" marL="0">
              <a:spcAft>
                <a:spcPts val="400"/>
              </a:spcAft>
              <a:buNone/>
            </a:pPr>
            <a:r>
              <a:rPr lang="en-US" sz="1800" b="1" dirty="0">
                <a:solidFill>
                  <a:srgbClr val="E8A33D"/>
                </a:solidFill>
                <a:latin typeface="Calibri" pitchFamily="34" charset="0"/>
                <a:ea typeface="Calibri" pitchFamily="34" charset="-122"/>
                <a:cs typeface="Calibri" pitchFamily="34" charset="-120"/>
              </a:rPr>
              <a:t>Academic project</a:t>
            </a:r>
            <a:endParaRPr lang="en-US" sz="1800" dirty="0"/>
          </a:p>
          <a:p>
            <a:pPr indent="0" marL="0">
              <a:spcAft>
                <a:spcPts val="400"/>
              </a:spcAft>
              <a:buNone/>
            </a:pPr>
            <a:r>
              <a:rPr lang="en-US" sz="1800" dirty="0">
                <a:solidFill>
                  <a:srgbClr val="FFFFFF"/>
                </a:solidFill>
                <a:latin typeface="Calibri" pitchFamily="34" charset="0"/>
                <a:ea typeface="Calibri" pitchFamily="34" charset="-122"/>
                <a:cs typeface="Calibri" pitchFamily="34" charset="-120"/>
              </a:rPr>
              <a:t>[Student name(s)]   ·   [Registration number(s)]</a:t>
            </a:r>
            <a:endParaRPr lang="en-US" sz="1800" dirty="0"/>
          </a:p>
          <a:p>
            <a:pPr indent="0" marL="0">
              <a:spcAft>
                <a:spcPts val="400"/>
              </a:spcAft>
              <a:buNone/>
            </a:pPr>
            <a:r>
              <a:rPr lang="en-US" sz="1800" dirty="0">
                <a:solidFill>
                  <a:srgbClr val="FFFFFF"/>
                </a:solidFill>
                <a:latin typeface="Calibri" pitchFamily="34" charset="0"/>
                <a:ea typeface="Calibri" pitchFamily="34" charset="-122"/>
                <a:cs typeface="Calibri" pitchFamily="34" charset="-120"/>
              </a:rPr>
              <a:t>[Course / programme]   ·   [Department]   ·   [University]</a:t>
            </a:r>
            <a:endParaRPr lang="en-US" sz="1800" dirty="0"/>
          </a:p>
          <a:p>
            <a:pPr indent="0" marL="0">
              <a:spcAft>
                <a:spcPts val="400"/>
              </a:spcAft>
              <a:buNone/>
            </a:pPr>
            <a:r>
              <a:rPr lang="en-US" sz="1800" dirty="0">
                <a:solidFill>
                  <a:srgbClr val="FFFFFF"/>
                </a:solidFill>
                <a:latin typeface="Calibri" pitchFamily="34" charset="0"/>
                <a:ea typeface="Calibri" pitchFamily="34" charset="-122"/>
                <a:cs typeface="Calibri" pitchFamily="34" charset="-120"/>
              </a:rPr>
              <a:t>[Supervisor / faculty]   ·   [Date]</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lIns="0" tIns="0" rIns="0" bIns="0" rtlCol="0" anchor="ctr"/>
          <a:lstStyle/>
          <a:p>
            <a:pPr algn="l" indent="0" marL="0">
              <a:buNone/>
            </a:pPr>
            <a:r>
              <a:rPr lang="en-US" sz="3200" b="1" dirty="0">
                <a:solidFill>
                  <a:srgbClr val="12355B"/>
                </a:solidFill>
                <a:latin typeface="Cambria" pitchFamily="34" charset="0"/>
                <a:ea typeface="Cambria" pitchFamily="34" charset="-122"/>
                <a:cs typeface="Cambria" pitchFamily="34" charset="-120"/>
              </a:rPr>
              <a:t>A probability keeps what a label discards</a:t>
            </a:r>
            <a:endParaRPr lang="en-US" sz="3200" dirty="0"/>
          </a:p>
        </p:txBody>
      </p:sp>
      <p:sp>
        <p:nvSpPr>
          <p:cNvPr id="4" name="card"/>
          <p:cNvSpPr/>
          <p:nvPr/>
        </p:nvSpPr>
        <p:spPr>
          <a:xfrm>
            <a:off x="548640" y="1371600"/>
            <a:ext cx="5120640" cy="2331720"/>
          </a:xfrm>
          <a:prstGeom prst="roundRect">
            <a:avLst>
              <a:gd name="adj" fmla="val 3922"/>
            </a:avLst>
          </a:prstGeom>
          <a:solidFill>
            <a:srgbClr val="EEF3F8"/>
          </a:solidFill>
          <a:ln w="12700">
            <a:solidFill>
              <a:srgbClr val="EEF3F8"/>
            </a:solidFill>
            <a:prstDash val="solid"/>
          </a:ln>
        </p:spPr>
      </p:sp>
      <p:sp>
        <p:nvSpPr>
          <p:cNvPr id="5" name="Text 2"/>
          <p:cNvSpPr txBox="1"/>
          <p:nvPr/>
        </p:nvSpPr>
        <p:spPr>
          <a:xfrm>
            <a:off x="777240" y="1508760"/>
            <a:ext cx="4663440" cy="365760"/>
          </a:xfrm>
          <a:prstGeom prst="rect">
            <a:avLst/>
          </a:prstGeom>
          <a:noFill/>
          <a:ln/>
        </p:spPr>
        <p:txBody>
          <a:bodyPr wrap="square" lIns="0" tIns="0" rIns="0" bIns="0" rtlCol="0" anchor="t"/>
          <a:lstStyle/>
          <a:p>
            <a:pPr indent="0" marL="0">
              <a:buNone/>
            </a:pPr>
            <a:r>
              <a:rPr lang="en-US" sz="2000" b="1" dirty="0">
                <a:solidFill>
                  <a:srgbClr val="12355B"/>
                </a:solidFill>
                <a:latin typeface="Calibri" pitchFamily="34" charset="0"/>
                <a:ea typeface="Calibri" pitchFamily="34" charset="-122"/>
                <a:cs typeface="Calibri" pitchFamily="34" charset="-120"/>
              </a:rPr>
              <a:t>Binary prediction</a:t>
            </a:r>
            <a:endParaRPr lang="en-US" sz="2000" dirty="0"/>
          </a:p>
        </p:txBody>
      </p:sp>
      <p:sp>
        <p:nvSpPr>
          <p:cNvPr id="6" name="label pill"/>
          <p:cNvSpPr/>
          <p:nvPr/>
        </p:nvSpPr>
        <p:spPr>
          <a:xfrm>
            <a:off x="777240" y="2057400"/>
            <a:ext cx="2103120" cy="731520"/>
          </a:xfrm>
          <a:prstGeom prst="roundRect">
            <a:avLst>
              <a:gd name="adj" fmla="val 12500"/>
            </a:avLst>
          </a:prstGeom>
          <a:solidFill>
            <a:srgbClr val="17798A"/>
          </a:solidFill>
          <a:ln w="12700">
            <a:solidFill>
              <a:srgbClr val="17798A"/>
            </a:solidFill>
            <a:prstDash val="solid"/>
          </a:ln>
        </p:spPr>
      </p:sp>
      <p:sp>
        <p:nvSpPr>
          <p:cNvPr id="7" name="Text 4"/>
          <p:cNvSpPr txBox="1"/>
          <p:nvPr/>
        </p:nvSpPr>
        <p:spPr>
          <a:xfrm>
            <a:off x="777240" y="2057400"/>
            <a:ext cx="21031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Placed</a:t>
            </a:r>
            <a:endParaRPr lang="en-US" sz="2200" dirty="0"/>
          </a:p>
        </p:txBody>
      </p:sp>
      <p:sp>
        <p:nvSpPr>
          <p:cNvPr id="8" name="label pill"/>
          <p:cNvSpPr/>
          <p:nvPr/>
        </p:nvSpPr>
        <p:spPr>
          <a:xfrm>
            <a:off x="3108960" y="2057400"/>
            <a:ext cx="2286000" cy="731520"/>
          </a:xfrm>
          <a:prstGeom prst="roundRect">
            <a:avLst>
              <a:gd name="adj" fmla="val 12500"/>
            </a:avLst>
          </a:prstGeom>
          <a:solidFill>
            <a:srgbClr val="5B6B7F"/>
          </a:solidFill>
          <a:ln w="12700">
            <a:solidFill>
              <a:srgbClr val="5B6B7F"/>
            </a:solidFill>
            <a:prstDash val="solid"/>
          </a:ln>
        </p:spPr>
      </p:sp>
      <p:sp>
        <p:nvSpPr>
          <p:cNvPr id="9" name="Text 6"/>
          <p:cNvSpPr txBox="1"/>
          <p:nvPr/>
        </p:nvSpPr>
        <p:spPr>
          <a:xfrm>
            <a:off x="3108960" y="2057400"/>
            <a:ext cx="228600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NotPlaced</a:t>
            </a:r>
            <a:endParaRPr lang="en-US" sz="2200" dirty="0"/>
          </a:p>
        </p:txBody>
      </p:sp>
      <p:sp>
        <p:nvSpPr>
          <p:cNvPr id="10" name="Text 7"/>
          <p:cNvSpPr txBox="1"/>
          <p:nvPr/>
        </p:nvSpPr>
        <p:spPr>
          <a:xfrm>
            <a:off x="777240" y="3017520"/>
            <a:ext cx="4663440" cy="548640"/>
          </a:xfrm>
          <a:prstGeom prst="rect">
            <a:avLst/>
          </a:prstGeom>
          <a:noFill/>
          <a:ln/>
        </p:spPr>
        <p:txBody>
          <a:bodyPr wrap="square" lIns="0" tIns="0" rIns="0" bIns="0" rtlCol="0" anchor="t"/>
          <a:lstStyle/>
          <a:p>
            <a:pPr indent="0" marL="0">
              <a:buNone/>
            </a:pPr>
            <a:r>
              <a:rPr lang="en-US" sz="1600" dirty="0">
                <a:solidFill>
                  <a:srgbClr val="1A2233"/>
                </a:solidFill>
                <a:latin typeface="Calibri" pitchFamily="34" charset="0"/>
                <a:ea typeface="Calibri" pitchFamily="34" charset="-122"/>
                <a:cs typeface="Calibri" pitchFamily="34" charset="-120"/>
              </a:rPr>
              <a:t>A label hides how certain the model is.</a:t>
            </a:r>
            <a:endParaRPr lang="en-US" sz="1600" dirty="0"/>
          </a:p>
        </p:txBody>
      </p:sp>
      <p:sp>
        <p:nvSpPr>
          <p:cNvPr id="11" name="card"/>
          <p:cNvSpPr/>
          <p:nvPr/>
        </p:nvSpPr>
        <p:spPr>
          <a:xfrm>
            <a:off x="6035040" y="1371600"/>
            <a:ext cx="5577840" cy="2331720"/>
          </a:xfrm>
          <a:prstGeom prst="roundRect">
            <a:avLst>
              <a:gd name="adj" fmla="val 3922"/>
            </a:avLst>
          </a:prstGeom>
          <a:solidFill>
            <a:srgbClr val="EEF3F8"/>
          </a:solidFill>
          <a:ln w="12700">
            <a:solidFill>
              <a:srgbClr val="EEF3F8"/>
            </a:solidFill>
            <a:prstDash val="solid"/>
          </a:ln>
        </p:spPr>
      </p:sp>
      <p:sp>
        <p:nvSpPr>
          <p:cNvPr id="12" name="Text 9"/>
          <p:cNvSpPr txBox="1"/>
          <p:nvPr/>
        </p:nvSpPr>
        <p:spPr>
          <a:xfrm>
            <a:off x="6263640" y="1508760"/>
            <a:ext cx="5120640" cy="365760"/>
          </a:xfrm>
          <a:prstGeom prst="rect">
            <a:avLst/>
          </a:prstGeom>
          <a:noFill/>
          <a:ln/>
        </p:spPr>
        <p:txBody>
          <a:bodyPr wrap="square" lIns="0" tIns="0" rIns="0" bIns="0" rtlCol="0" anchor="t"/>
          <a:lstStyle/>
          <a:p>
            <a:pPr indent="0" marL="0">
              <a:buNone/>
            </a:pPr>
            <a:r>
              <a:rPr lang="en-US" sz="2000" b="1" dirty="0">
                <a:solidFill>
                  <a:srgbClr val="12355B"/>
                </a:solidFill>
                <a:latin typeface="Calibri" pitchFamily="34" charset="0"/>
                <a:ea typeface="Calibri" pitchFamily="34" charset="-122"/>
                <a:cs typeface="Calibri" pitchFamily="34" charset="-120"/>
              </a:rPr>
              <a:t>Estimated probability (illustrative)</a:t>
            </a:r>
            <a:endParaRPr lang="en-US" sz="2000" dirty="0"/>
          </a:p>
        </p:txBody>
      </p:sp>
      <p:sp>
        <p:nvSpPr>
          <p:cNvPr id="13" name="scale"/>
          <p:cNvSpPr/>
          <p:nvPr/>
        </p:nvSpPr>
        <p:spPr>
          <a:xfrm>
            <a:off x="6400800" y="2514600"/>
            <a:ext cx="4846320" cy="91440"/>
          </a:xfrm>
          <a:prstGeom prst="rect">
            <a:avLst/>
          </a:prstGeom>
          <a:solidFill>
            <a:srgbClr val="C9D3DF"/>
          </a:solidFill>
          <a:ln w="12700">
            <a:solidFill>
              <a:srgbClr val="C9D3DF"/>
            </a:solidFill>
            <a:prstDash val="solid"/>
          </a:ln>
        </p:spPr>
      </p:sp>
      <p:sp>
        <p:nvSpPr>
          <p:cNvPr id="14" name="threshold line"/>
          <p:cNvSpPr/>
          <p:nvPr/>
        </p:nvSpPr>
        <p:spPr>
          <a:xfrm>
            <a:off x="8823960" y="2194560"/>
            <a:ext cx="0" cy="731520"/>
          </a:xfrm>
          <a:prstGeom prst="line">
            <a:avLst/>
          </a:prstGeom>
          <a:noFill/>
          <a:ln w="19050">
            <a:solidFill>
              <a:srgbClr val="5B6B7F"/>
            </a:solidFill>
            <a:prstDash val="dash"/>
          </a:ln>
        </p:spPr>
      </p:sp>
      <p:sp>
        <p:nvSpPr>
          <p:cNvPr id="15" name="Text 12"/>
          <p:cNvSpPr txBox="1"/>
          <p:nvPr/>
        </p:nvSpPr>
        <p:spPr>
          <a:xfrm>
            <a:off x="8092440" y="2898648"/>
            <a:ext cx="1463040" cy="256032"/>
          </a:xfrm>
          <a:prstGeom prst="rect">
            <a:avLst/>
          </a:prstGeom>
          <a:noFill/>
          <a:ln/>
        </p:spPr>
        <p:txBody>
          <a:bodyPr wrap="square" lIns="0" tIns="0" rIns="0" bIns="0" rtlCol="0" anchor="t"/>
          <a:lstStyle/>
          <a:p>
            <a:pPr algn="ctr" indent="0" marL="0">
              <a:buNone/>
            </a:pPr>
            <a:r>
              <a:rPr lang="en-US" sz="1200" dirty="0">
                <a:solidFill>
                  <a:srgbClr val="5B6B7F"/>
                </a:solidFill>
                <a:latin typeface="Calibri" pitchFamily="34" charset="0"/>
                <a:ea typeface="Calibri" pitchFamily="34" charset="-122"/>
                <a:cs typeface="Calibri" pitchFamily="34" charset="-120"/>
              </a:rPr>
              <a:t>0.50 cut-off</a:t>
            </a:r>
            <a:endParaRPr lang="en-US" sz="1200" dirty="0"/>
          </a:p>
        </p:txBody>
      </p:sp>
      <p:sp>
        <p:nvSpPr>
          <p:cNvPr id="16" name="student A"/>
          <p:cNvSpPr/>
          <p:nvPr/>
        </p:nvSpPr>
        <p:spPr>
          <a:xfrm>
            <a:off x="8929116" y="2423160"/>
            <a:ext cx="274320" cy="274320"/>
          </a:xfrm>
          <a:prstGeom prst="ellipse">
            <a:avLst/>
          </a:prstGeom>
          <a:solidFill>
            <a:srgbClr val="E8A33D"/>
          </a:solidFill>
          <a:ln w="12700">
            <a:solidFill>
              <a:srgbClr val="FFFFFF"/>
            </a:solidFill>
            <a:prstDash val="solid"/>
          </a:ln>
        </p:spPr>
      </p:sp>
      <p:sp>
        <p:nvSpPr>
          <p:cNvPr id="17" name="Text 14"/>
          <p:cNvSpPr txBox="1"/>
          <p:nvPr/>
        </p:nvSpPr>
        <p:spPr>
          <a:xfrm>
            <a:off x="8700516" y="1947672"/>
            <a:ext cx="731520" cy="320040"/>
          </a:xfrm>
          <a:prstGeom prst="rect">
            <a:avLst/>
          </a:prstGeom>
          <a:noFill/>
          <a:ln/>
        </p:spPr>
        <p:txBody>
          <a:bodyPr wrap="square" lIns="0" tIns="0" rIns="0" bIns="0" rtlCol="0" anchor="t"/>
          <a:lstStyle/>
          <a:p>
            <a:pPr algn="ctr" indent="0" marL="0">
              <a:buNone/>
            </a:pPr>
            <a:r>
              <a:rPr lang="en-US" sz="1600" b="1" dirty="0">
                <a:solidFill>
                  <a:srgbClr val="1A2233"/>
                </a:solidFill>
                <a:latin typeface="Calibri" pitchFamily="34" charset="0"/>
                <a:ea typeface="Calibri" pitchFamily="34" charset="-122"/>
                <a:cs typeface="Calibri" pitchFamily="34" charset="-120"/>
              </a:rPr>
              <a:t>0.55</a:t>
            </a:r>
            <a:endParaRPr lang="en-US" sz="1600" dirty="0"/>
          </a:p>
        </p:txBody>
      </p:sp>
      <p:sp>
        <p:nvSpPr>
          <p:cNvPr id="18" name="student B"/>
          <p:cNvSpPr/>
          <p:nvPr/>
        </p:nvSpPr>
        <p:spPr>
          <a:xfrm>
            <a:off x="10722254" y="2423160"/>
            <a:ext cx="274320" cy="274320"/>
          </a:xfrm>
          <a:prstGeom prst="ellipse">
            <a:avLst/>
          </a:prstGeom>
          <a:solidFill>
            <a:srgbClr val="17798A"/>
          </a:solidFill>
          <a:ln w="12700">
            <a:solidFill>
              <a:srgbClr val="FFFFFF"/>
            </a:solidFill>
            <a:prstDash val="solid"/>
          </a:ln>
        </p:spPr>
      </p:sp>
      <p:sp>
        <p:nvSpPr>
          <p:cNvPr id="19" name="Text 16"/>
          <p:cNvSpPr txBox="1"/>
          <p:nvPr/>
        </p:nvSpPr>
        <p:spPr>
          <a:xfrm>
            <a:off x="10493654" y="1947672"/>
            <a:ext cx="731520" cy="320040"/>
          </a:xfrm>
          <a:prstGeom prst="rect">
            <a:avLst/>
          </a:prstGeom>
          <a:noFill/>
          <a:ln/>
        </p:spPr>
        <p:txBody>
          <a:bodyPr wrap="square" lIns="0" tIns="0" rIns="0" bIns="0" rtlCol="0" anchor="t"/>
          <a:lstStyle/>
          <a:p>
            <a:pPr algn="ctr" indent="0" marL="0">
              <a:buNone/>
            </a:pPr>
            <a:r>
              <a:rPr lang="en-US" sz="1600" b="1" dirty="0">
                <a:solidFill>
                  <a:srgbClr val="1A2233"/>
                </a:solidFill>
                <a:latin typeface="Calibri" pitchFamily="34" charset="0"/>
                <a:ea typeface="Calibri" pitchFamily="34" charset="-122"/>
                <a:cs typeface="Calibri" pitchFamily="34" charset="-120"/>
              </a:rPr>
              <a:t>0.92</a:t>
            </a:r>
            <a:endParaRPr lang="en-US" sz="1600" dirty="0"/>
          </a:p>
        </p:txBody>
      </p:sp>
      <p:sp>
        <p:nvSpPr>
          <p:cNvPr id="20" name="Text 17"/>
          <p:cNvSpPr txBox="1"/>
          <p:nvPr/>
        </p:nvSpPr>
        <p:spPr>
          <a:xfrm>
            <a:off x="6355080" y="2971800"/>
            <a:ext cx="365760" cy="274320"/>
          </a:xfrm>
          <a:prstGeom prst="rect">
            <a:avLst/>
          </a:prstGeom>
          <a:noFill/>
          <a:ln/>
        </p:spPr>
        <p:txBody>
          <a:bodyPr wrap="square" lIns="0" tIns="0" rIns="0" bIns="0" rtlCol="0" anchor="t"/>
          <a:lstStyle/>
          <a:p>
            <a:pPr indent="0" marL="0">
              <a:buNone/>
            </a:pPr>
            <a:r>
              <a:rPr lang="en-US" sz="1200" dirty="0">
                <a:solidFill>
                  <a:srgbClr val="5B6B7F"/>
                </a:solidFill>
                <a:latin typeface="Calibri" pitchFamily="34" charset="0"/>
                <a:ea typeface="Calibri" pitchFamily="34" charset="-122"/>
                <a:cs typeface="Calibri" pitchFamily="34" charset="-120"/>
              </a:rPr>
              <a:t>0</a:t>
            </a:r>
            <a:endParaRPr lang="en-US" sz="1200" dirty="0"/>
          </a:p>
        </p:txBody>
      </p:sp>
      <p:sp>
        <p:nvSpPr>
          <p:cNvPr id="21" name="Text 18"/>
          <p:cNvSpPr txBox="1"/>
          <p:nvPr/>
        </p:nvSpPr>
        <p:spPr>
          <a:xfrm>
            <a:off x="11018520" y="2971800"/>
            <a:ext cx="365760" cy="274320"/>
          </a:xfrm>
          <a:prstGeom prst="rect">
            <a:avLst/>
          </a:prstGeom>
          <a:noFill/>
          <a:ln/>
        </p:spPr>
        <p:txBody>
          <a:bodyPr wrap="square" lIns="0" tIns="0" rIns="0" bIns="0" rtlCol="0" anchor="t"/>
          <a:lstStyle/>
          <a:p>
            <a:pPr algn="r" indent="0" marL="0">
              <a:buNone/>
            </a:pPr>
            <a:r>
              <a:rPr lang="en-US" sz="1200" dirty="0">
                <a:solidFill>
                  <a:srgbClr val="5B6B7F"/>
                </a:solidFill>
                <a:latin typeface="Calibri" pitchFamily="34" charset="0"/>
                <a:ea typeface="Calibri" pitchFamily="34" charset="-122"/>
                <a:cs typeface="Calibri" pitchFamily="34" charset="-120"/>
              </a:rPr>
              <a:t>1</a:t>
            </a:r>
            <a:endParaRPr lang="en-US" sz="1200" dirty="0"/>
          </a:p>
        </p:txBody>
      </p:sp>
      <p:sp>
        <p:nvSpPr>
          <p:cNvPr id="22" name="Text 19"/>
          <p:cNvSpPr txBox="1"/>
          <p:nvPr/>
        </p:nvSpPr>
        <p:spPr>
          <a:xfrm>
            <a:off x="6263640" y="3246120"/>
            <a:ext cx="5120640" cy="411480"/>
          </a:xfrm>
          <a:prstGeom prst="rect">
            <a:avLst/>
          </a:prstGeom>
          <a:noFill/>
          <a:ln/>
        </p:spPr>
        <p:txBody>
          <a:bodyPr wrap="square" lIns="0" tIns="0" rIns="0" bIns="0" rtlCol="0" anchor="t"/>
          <a:lstStyle/>
          <a:p>
            <a:pPr indent="0" marL="0">
              <a:buNone/>
            </a:pPr>
            <a:r>
              <a:rPr lang="en-US" sz="1600" dirty="0">
                <a:solidFill>
                  <a:srgbClr val="1A2233"/>
                </a:solidFill>
                <a:latin typeface="Calibri" pitchFamily="34" charset="0"/>
                <a:ea typeface="Calibri" pitchFamily="34" charset="-122"/>
                <a:cs typeface="Calibri" pitchFamily="34" charset="-120"/>
              </a:rPr>
              <a:t>Both would be labelled “Placed”. The certainty differs.</a:t>
            </a:r>
            <a:endParaRPr lang="en-US" sz="1600" dirty="0"/>
          </a:p>
        </p:txBody>
      </p:sp>
      <p:sp>
        <p:nvSpPr>
          <p:cNvPr id="23" name="card"/>
          <p:cNvSpPr/>
          <p:nvPr/>
        </p:nvSpPr>
        <p:spPr>
          <a:xfrm>
            <a:off x="548640" y="3931920"/>
            <a:ext cx="11064240" cy="1234440"/>
          </a:xfrm>
          <a:prstGeom prst="roundRect">
            <a:avLst>
              <a:gd name="adj" fmla="val 7407"/>
            </a:avLst>
          </a:prstGeom>
          <a:solidFill>
            <a:srgbClr val="12355B"/>
          </a:solidFill>
          <a:ln w="12700">
            <a:solidFill>
              <a:srgbClr val="12355B"/>
            </a:solidFill>
            <a:prstDash val="solid"/>
          </a:ln>
        </p:spPr>
      </p:sp>
      <p:sp>
        <p:nvSpPr>
          <p:cNvPr id="24" name="Text 21"/>
          <p:cNvSpPr txBox="1"/>
          <p:nvPr/>
        </p:nvSpPr>
        <p:spPr>
          <a:xfrm>
            <a:off x="822960" y="4023360"/>
            <a:ext cx="10515600" cy="68580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P ( Placement = Placed  |  student characteristics )</a:t>
            </a:r>
            <a:endParaRPr lang="en-US" sz="3000" dirty="0"/>
          </a:p>
        </p:txBody>
      </p:sp>
      <p:sp>
        <p:nvSpPr>
          <p:cNvPr id="25" name="Text 22"/>
          <p:cNvSpPr txBox="1"/>
          <p:nvPr/>
        </p:nvSpPr>
        <p:spPr>
          <a:xfrm>
            <a:off x="822960" y="4663440"/>
            <a:ext cx="10515600" cy="411480"/>
          </a:xfrm>
          <a:prstGeom prst="rect">
            <a:avLst/>
          </a:prstGeom>
          <a:noFill/>
          <a:ln/>
        </p:spPr>
        <p:txBody>
          <a:bodyPr wrap="square" lIns="0" tIns="0" rIns="0" bIns="0" rtlCol="0" anchor="t"/>
          <a:lstStyle/>
          <a:p>
            <a:pPr algn="ctr" indent="0" marL="0">
              <a:buNone/>
            </a:pPr>
            <a:r>
              <a:rPr lang="en-US" sz="1600" dirty="0">
                <a:solidFill>
                  <a:srgbClr val="8FB8C9"/>
                </a:solidFill>
                <a:latin typeface="Calibri" pitchFamily="34" charset="0"/>
                <a:ea typeface="Calibri" pitchFamily="34" charset="-122"/>
                <a:cs typeface="Calibri" pitchFamily="34" charset="-120"/>
              </a:rPr>
              <a:t>model-estimated probability, then a classification from a threshold</a:t>
            </a:r>
            <a:endParaRPr lang="en-US" sz="1600" dirty="0"/>
          </a:p>
        </p:txBody>
      </p:sp>
      <p:sp>
        <p:nvSpPr>
          <p:cNvPr id="26" name="Text 23"/>
          <p:cNvSpPr txBox="1"/>
          <p:nvPr/>
        </p:nvSpPr>
        <p:spPr>
          <a:xfrm>
            <a:off x="548640" y="5440680"/>
            <a:ext cx="11064240" cy="548640"/>
          </a:xfrm>
          <a:prstGeom prst="rect">
            <a:avLst/>
          </a:prstGeom>
          <a:noFill/>
          <a:ln/>
        </p:spPr>
        <p:txBody>
          <a:bodyPr wrap="square" lIns="0" tIns="0" rIns="0" bIns="0" rtlCol="0" anchor="ctr"/>
          <a:lstStyle/>
          <a:p>
            <a:pPr algn="ctr" indent="0" marL="0">
              <a:buNone/>
            </a:pPr>
            <a:r>
              <a:rPr lang="en-US" sz="2400" b="1" dirty="0">
                <a:solidFill>
                  <a:srgbClr val="17798A"/>
                </a:solidFill>
                <a:latin typeface="Cambria" pitchFamily="34" charset="0"/>
                <a:ea typeface="Cambria" pitchFamily="34" charset="-122"/>
                <a:cs typeface="Cambria" pitchFamily="34" charset="-120"/>
              </a:rPr>
              <a:t>Probability is the primary output; classification is secondary.</a:t>
            </a:r>
            <a:endParaRPr lang="en-US" sz="2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F"/>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lIns="0" tIns="0" rIns="0" bIns="0" rtlCol="0" anchor="ctr"/>
          <a:lstStyle/>
          <a:p>
            <a:pPr algn="l" indent="0" marL="0">
              <a:buNone/>
            </a:pPr>
            <a:r>
              <a:rPr lang="en-US" sz="3200" b="1" dirty="0">
                <a:solidFill>
                  <a:srgbClr val="12355B"/>
                </a:solidFill>
                <a:latin typeface="Cambria" pitchFamily="34" charset="0"/>
                <a:ea typeface="Cambria" pitchFamily="34" charset="-122"/>
                <a:cs typeface="Cambria" pitchFamily="34" charset="-120"/>
              </a:rPr>
              <a:t>Ten characteristics in three groups</a:t>
            </a:r>
            <a:endParaRPr lang="en-US" sz="3200" dirty="0"/>
          </a:p>
        </p:txBody>
      </p:sp>
      <p:sp>
        <p:nvSpPr>
          <p:cNvPr id="4" name="Text 1"/>
          <p:cNvSpPr txBox="1"/>
          <p:nvPr/>
        </p:nvSpPr>
        <p:spPr>
          <a:xfrm>
            <a:off x="548640" y="1188720"/>
            <a:ext cx="11064240" cy="365760"/>
          </a:xfrm>
          <a:prstGeom prst="rect">
            <a:avLst/>
          </a:prstGeom>
          <a:noFill/>
          <a:ln/>
        </p:spPr>
        <p:txBody>
          <a:bodyPr wrap="square" lIns="0" tIns="0" rIns="0" bIns="0" rtlCol="0" anchor="t"/>
          <a:lstStyle/>
          <a:p>
            <a:pPr indent="0" marL="0">
              <a:buNone/>
            </a:pPr>
            <a:r>
              <a:rPr lang="en-US" sz="1400" dirty="0">
                <a:solidFill>
                  <a:srgbClr val="5B6B7F"/>
                </a:solidFill>
                <a:latin typeface="Calibri" pitchFamily="34" charset="0"/>
                <a:ea typeface="Calibri" pitchFamily="34" charset="-122"/>
                <a:cs typeface="Calibri" pitchFamily="34" charset="-120"/>
              </a:rPr>
              <a:t>Source: Hugging Face — Krooz/Campus_Recruitment_CSV (CC0-1.0). Original dataset, before cleaning.</a:t>
            </a:r>
            <a:endParaRPr lang="en-US" sz="1400" dirty="0"/>
          </a:p>
        </p:txBody>
      </p:sp>
      <p:sp>
        <p:nvSpPr>
          <p:cNvPr id="5" name="stat card"/>
          <p:cNvSpPr/>
          <p:nvPr/>
        </p:nvSpPr>
        <p:spPr>
          <a:xfrm>
            <a:off x="548640" y="1691640"/>
            <a:ext cx="2606040" cy="1234440"/>
          </a:xfrm>
          <a:prstGeom prst="roundRect">
            <a:avLst>
              <a:gd name="adj" fmla="val 7407"/>
            </a:avLst>
          </a:prstGeom>
          <a:solidFill>
            <a:srgbClr val="EEF3F8"/>
          </a:solidFill>
          <a:ln w="12700">
            <a:solidFill>
              <a:srgbClr val="EEF3F8"/>
            </a:solidFill>
            <a:prstDash val="solid"/>
          </a:ln>
        </p:spPr>
      </p:sp>
      <p:sp>
        <p:nvSpPr>
          <p:cNvPr id="6" name="Text 3"/>
          <p:cNvSpPr txBox="1"/>
          <p:nvPr/>
        </p:nvSpPr>
        <p:spPr>
          <a:xfrm>
            <a:off x="685800" y="1801368"/>
            <a:ext cx="2331720" cy="678942"/>
          </a:xfrm>
          <a:prstGeom prst="rect">
            <a:avLst/>
          </a:prstGeom>
          <a:noFill/>
          <a:ln/>
        </p:spPr>
        <p:txBody>
          <a:bodyPr wrap="square" lIns="0" tIns="0" rIns="0" bIns="0" rtlCol="0" anchor="ctr"/>
          <a:lstStyle/>
          <a:p>
            <a:pPr algn="ctr" indent="0" marL="0">
              <a:buNone/>
            </a:pPr>
            <a:r>
              <a:rPr lang="en-US" sz="3400" b="1" dirty="0">
                <a:solidFill>
                  <a:srgbClr val="12355B"/>
                </a:solidFill>
                <a:latin typeface="Cambria" pitchFamily="34" charset="0"/>
                <a:ea typeface="Cambria" pitchFamily="34" charset="-122"/>
                <a:cs typeface="Cambria" pitchFamily="34" charset="-120"/>
              </a:rPr>
              <a:t>10,000</a:t>
            </a:r>
            <a:endParaRPr lang="en-US" sz="3400" dirty="0"/>
          </a:p>
        </p:txBody>
      </p:sp>
      <p:sp>
        <p:nvSpPr>
          <p:cNvPr id="7" name="Text 4"/>
          <p:cNvSpPr txBox="1"/>
          <p:nvPr/>
        </p:nvSpPr>
        <p:spPr>
          <a:xfrm>
            <a:off x="685800" y="2407615"/>
            <a:ext cx="2331720" cy="469087"/>
          </a:xfrm>
          <a:prstGeom prst="rect">
            <a:avLst/>
          </a:prstGeom>
          <a:noFill/>
          <a:ln/>
        </p:spPr>
        <p:txBody>
          <a:bodyPr wrap="square" lIns="0" tIns="0" rIns="0" bIns="0" rtlCol="0" anchor="t"/>
          <a:lstStyle/>
          <a:p>
            <a:pPr algn="ctr" indent="0" marL="0">
              <a:buNone/>
            </a:pPr>
            <a:r>
              <a:rPr lang="en-US" sz="1400" dirty="0">
                <a:solidFill>
                  <a:srgbClr val="5B6B7F"/>
                </a:solidFill>
                <a:latin typeface="Calibri" pitchFamily="34" charset="0"/>
                <a:ea typeface="Calibri" pitchFamily="34" charset="-122"/>
                <a:cs typeface="Calibri" pitchFamily="34" charset="-120"/>
              </a:rPr>
              <a:t>rows</a:t>
            </a:r>
            <a:endParaRPr lang="en-US" sz="1400" dirty="0"/>
          </a:p>
        </p:txBody>
      </p:sp>
      <p:sp>
        <p:nvSpPr>
          <p:cNvPr id="8" name="stat card"/>
          <p:cNvSpPr/>
          <p:nvPr/>
        </p:nvSpPr>
        <p:spPr>
          <a:xfrm>
            <a:off x="3337560" y="1691640"/>
            <a:ext cx="2606040" cy="1234440"/>
          </a:xfrm>
          <a:prstGeom prst="roundRect">
            <a:avLst>
              <a:gd name="adj" fmla="val 7407"/>
            </a:avLst>
          </a:prstGeom>
          <a:solidFill>
            <a:srgbClr val="EEF3F8"/>
          </a:solidFill>
          <a:ln w="12700">
            <a:solidFill>
              <a:srgbClr val="EEF3F8"/>
            </a:solidFill>
            <a:prstDash val="solid"/>
          </a:ln>
        </p:spPr>
      </p:sp>
      <p:sp>
        <p:nvSpPr>
          <p:cNvPr id="9" name="Text 6"/>
          <p:cNvSpPr txBox="1"/>
          <p:nvPr/>
        </p:nvSpPr>
        <p:spPr>
          <a:xfrm>
            <a:off x="3474720" y="1801368"/>
            <a:ext cx="2331720" cy="678942"/>
          </a:xfrm>
          <a:prstGeom prst="rect">
            <a:avLst/>
          </a:prstGeom>
          <a:noFill/>
          <a:ln/>
        </p:spPr>
        <p:txBody>
          <a:bodyPr wrap="square" lIns="0" tIns="0" rIns="0" bIns="0" rtlCol="0" anchor="ctr"/>
          <a:lstStyle/>
          <a:p>
            <a:pPr algn="ctr" indent="0" marL="0">
              <a:buNone/>
            </a:pPr>
            <a:r>
              <a:rPr lang="en-US" sz="3400" b="1" dirty="0">
                <a:solidFill>
                  <a:srgbClr val="12355B"/>
                </a:solidFill>
                <a:latin typeface="Cambria" pitchFamily="34" charset="0"/>
                <a:ea typeface="Cambria" pitchFamily="34" charset="-122"/>
                <a:cs typeface="Cambria" pitchFamily="34" charset="-120"/>
              </a:rPr>
              <a:t>11</a:t>
            </a:r>
            <a:endParaRPr lang="en-US" sz="3400" dirty="0"/>
          </a:p>
        </p:txBody>
      </p:sp>
      <p:sp>
        <p:nvSpPr>
          <p:cNvPr id="10" name="Text 7"/>
          <p:cNvSpPr txBox="1"/>
          <p:nvPr/>
        </p:nvSpPr>
        <p:spPr>
          <a:xfrm>
            <a:off x="3474720" y="2407615"/>
            <a:ext cx="2331720" cy="469087"/>
          </a:xfrm>
          <a:prstGeom prst="rect">
            <a:avLst/>
          </a:prstGeom>
          <a:noFill/>
          <a:ln/>
        </p:spPr>
        <p:txBody>
          <a:bodyPr wrap="square" lIns="0" tIns="0" rIns="0" bIns="0" rtlCol="0" anchor="t"/>
          <a:lstStyle/>
          <a:p>
            <a:pPr algn="ctr" indent="0" marL="0">
              <a:buNone/>
            </a:pPr>
            <a:r>
              <a:rPr lang="en-US" sz="1300" dirty="0">
                <a:solidFill>
                  <a:srgbClr val="5B6B7F"/>
                </a:solidFill>
                <a:latin typeface="Calibri" pitchFamily="34" charset="0"/>
                <a:ea typeface="Calibri" pitchFamily="34" charset="-122"/>
                <a:cs typeface="Calibri" pitchFamily="34" charset="-120"/>
              </a:rPr>
              <a:t>columns (10 predictors + target)</a:t>
            </a:r>
            <a:endParaRPr lang="en-US" sz="1300" dirty="0"/>
          </a:p>
        </p:txBody>
      </p:sp>
      <p:sp>
        <p:nvSpPr>
          <p:cNvPr id="11" name="stat card"/>
          <p:cNvSpPr/>
          <p:nvPr/>
        </p:nvSpPr>
        <p:spPr>
          <a:xfrm>
            <a:off x="6126480" y="1691640"/>
            <a:ext cx="2606040" cy="1234440"/>
          </a:xfrm>
          <a:prstGeom prst="roundRect">
            <a:avLst>
              <a:gd name="adj" fmla="val 7407"/>
            </a:avLst>
          </a:prstGeom>
          <a:solidFill>
            <a:srgbClr val="EEF3F8"/>
          </a:solidFill>
          <a:ln w="12700">
            <a:solidFill>
              <a:srgbClr val="EEF3F8"/>
            </a:solidFill>
            <a:prstDash val="solid"/>
          </a:ln>
        </p:spPr>
      </p:sp>
      <p:sp>
        <p:nvSpPr>
          <p:cNvPr id="12" name="Text 9"/>
          <p:cNvSpPr txBox="1"/>
          <p:nvPr/>
        </p:nvSpPr>
        <p:spPr>
          <a:xfrm>
            <a:off x="6263640" y="1801368"/>
            <a:ext cx="2331720" cy="678942"/>
          </a:xfrm>
          <a:prstGeom prst="rect">
            <a:avLst/>
          </a:prstGeom>
          <a:noFill/>
          <a:ln/>
        </p:spPr>
        <p:txBody>
          <a:bodyPr wrap="square" lIns="0" tIns="0" rIns="0" bIns="0" rtlCol="0" anchor="ctr"/>
          <a:lstStyle/>
          <a:p>
            <a:pPr algn="ctr" indent="0" marL="0">
              <a:buNone/>
            </a:pPr>
            <a:r>
              <a:rPr lang="en-US" sz="3400" b="1" dirty="0">
                <a:solidFill>
                  <a:srgbClr val="17798A"/>
                </a:solidFill>
                <a:latin typeface="Cambria" pitchFamily="34" charset="0"/>
                <a:ea typeface="Cambria" pitchFamily="34" charset="-122"/>
                <a:cs typeface="Cambria" pitchFamily="34" charset="-120"/>
              </a:rPr>
              <a:t>4,197</a:t>
            </a:r>
            <a:endParaRPr lang="en-US" sz="3400" dirty="0"/>
          </a:p>
        </p:txBody>
      </p:sp>
      <p:sp>
        <p:nvSpPr>
          <p:cNvPr id="13" name="Text 10"/>
          <p:cNvSpPr txBox="1"/>
          <p:nvPr/>
        </p:nvSpPr>
        <p:spPr>
          <a:xfrm>
            <a:off x="6263640" y="2407615"/>
            <a:ext cx="2331720" cy="469087"/>
          </a:xfrm>
          <a:prstGeom prst="rect">
            <a:avLst/>
          </a:prstGeom>
          <a:noFill/>
          <a:ln/>
        </p:spPr>
        <p:txBody>
          <a:bodyPr wrap="square" lIns="0" tIns="0" rIns="0" bIns="0" rtlCol="0" anchor="t"/>
          <a:lstStyle/>
          <a:p>
            <a:pPr algn="ctr" indent="0" marL="0">
              <a:buNone/>
            </a:pPr>
            <a:r>
              <a:rPr lang="en-US" sz="1400" dirty="0">
                <a:solidFill>
                  <a:srgbClr val="5B6B7F"/>
                </a:solidFill>
                <a:latin typeface="Calibri" pitchFamily="34" charset="0"/>
                <a:ea typeface="Calibri" pitchFamily="34" charset="-122"/>
                <a:cs typeface="Calibri" pitchFamily="34" charset="-120"/>
              </a:rPr>
              <a:t>Placed</a:t>
            </a:r>
            <a:endParaRPr lang="en-US" sz="1400" dirty="0"/>
          </a:p>
        </p:txBody>
      </p:sp>
      <p:sp>
        <p:nvSpPr>
          <p:cNvPr id="14" name="stat card"/>
          <p:cNvSpPr/>
          <p:nvPr/>
        </p:nvSpPr>
        <p:spPr>
          <a:xfrm>
            <a:off x="8915400" y="1691640"/>
            <a:ext cx="2697480" cy="1234440"/>
          </a:xfrm>
          <a:prstGeom prst="roundRect">
            <a:avLst>
              <a:gd name="adj" fmla="val 7407"/>
            </a:avLst>
          </a:prstGeom>
          <a:solidFill>
            <a:srgbClr val="EEF3F8"/>
          </a:solidFill>
          <a:ln w="12700">
            <a:solidFill>
              <a:srgbClr val="EEF3F8"/>
            </a:solidFill>
            <a:prstDash val="solid"/>
          </a:ln>
        </p:spPr>
      </p:sp>
      <p:sp>
        <p:nvSpPr>
          <p:cNvPr id="15" name="Text 12"/>
          <p:cNvSpPr txBox="1"/>
          <p:nvPr/>
        </p:nvSpPr>
        <p:spPr>
          <a:xfrm>
            <a:off x="9052560" y="1801368"/>
            <a:ext cx="2423160" cy="678942"/>
          </a:xfrm>
          <a:prstGeom prst="rect">
            <a:avLst/>
          </a:prstGeom>
          <a:noFill/>
          <a:ln/>
        </p:spPr>
        <p:txBody>
          <a:bodyPr wrap="square" lIns="0" tIns="0" rIns="0" bIns="0" rtlCol="0" anchor="ctr"/>
          <a:lstStyle/>
          <a:p>
            <a:pPr algn="ctr" indent="0" marL="0">
              <a:buNone/>
            </a:pPr>
            <a:r>
              <a:rPr lang="en-US" sz="3400" b="1" dirty="0">
                <a:solidFill>
                  <a:srgbClr val="5B6B7F"/>
                </a:solidFill>
                <a:latin typeface="Cambria" pitchFamily="34" charset="0"/>
                <a:ea typeface="Cambria" pitchFamily="34" charset="-122"/>
                <a:cs typeface="Cambria" pitchFamily="34" charset="-120"/>
              </a:rPr>
              <a:t>5,803</a:t>
            </a:r>
            <a:endParaRPr lang="en-US" sz="3400" dirty="0"/>
          </a:p>
        </p:txBody>
      </p:sp>
      <p:sp>
        <p:nvSpPr>
          <p:cNvPr id="16" name="Text 13"/>
          <p:cNvSpPr txBox="1"/>
          <p:nvPr/>
        </p:nvSpPr>
        <p:spPr>
          <a:xfrm>
            <a:off x="9052560" y="2407615"/>
            <a:ext cx="2423160" cy="469087"/>
          </a:xfrm>
          <a:prstGeom prst="rect">
            <a:avLst/>
          </a:prstGeom>
          <a:noFill/>
          <a:ln/>
        </p:spPr>
        <p:txBody>
          <a:bodyPr wrap="square" lIns="0" tIns="0" rIns="0" bIns="0" rtlCol="0" anchor="t"/>
          <a:lstStyle/>
          <a:p>
            <a:pPr algn="ctr" indent="0" marL="0">
              <a:buNone/>
            </a:pPr>
            <a:r>
              <a:rPr lang="en-US" sz="1400" dirty="0">
                <a:solidFill>
                  <a:srgbClr val="5B6B7F"/>
                </a:solidFill>
                <a:latin typeface="Calibri" pitchFamily="34" charset="0"/>
                <a:ea typeface="Calibri" pitchFamily="34" charset="-122"/>
                <a:cs typeface="Calibri" pitchFamily="34" charset="-120"/>
              </a:rPr>
              <a:t>NotPlaced</a:t>
            </a:r>
            <a:endParaRPr lang="en-US" sz="1400" dirty="0"/>
          </a:p>
        </p:txBody>
      </p:sp>
      <p:sp>
        <p:nvSpPr>
          <p:cNvPr id="17" name="group card"/>
          <p:cNvSpPr/>
          <p:nvPr/>
        </p:nvSpPr>
        <p:spPr>
          <a:xfrm>
            <a:off x="548640" y="3200400"/>
            <a:ext cx="3566160" cy="2834640"/>
          </a:xfrm>
          <a:prstGeom prst="roundRect">
            <a:avLst>
              <a:gd name="adj" fmla="val 3226"/>
            </a:avLst>
          </a:prstGeom>
          <a:solidFill>
            <a:srgbClr val="FFFFFF"/>
          </a:solidFill>
          <a:ln w="12700">
            <a:solidFill>
              <a:srgbClr val="C9D3DF"/>
            </a:solidFill>
            <a:prstDash val="solid"/>
          </a:ln>
          <a:effectLst>
            <a:outerShdw sx="100000" sy="100000" kx="0" ky="0" algn="bl" rotWithShape="0" blurRad="76200" dist="25400" dir="5400000">
              <a:srgbClr val="000000">
                <a:alpha val="12000"/>
              </a:srgbClr>
            </a:outerShdw>
          </a:effectLst>
        </p:spPr>
      </p:sp>
      <p:sp>
        <p:nvSpPr>
          <p:cNvPr id="18" name="group header"/>
          <p:cNvSpPr/>
          <p:nvPr/>
        </p:nvSpPr>
        <p:spPr>
          <a:xfrm>
            <a:off x="731520" y="3383280"/>
            <a:ext cx="3200400" cy="502920"/>
          </a:xfrm>
          <a:prstGeom prst="roundRect">
            <a:avLst>
              <a:gd name="adj" fmla="val 14545"/>
            </a:avLst>
          </a:prstGeom>
          <a:solidFill>
            <a:srgbClr val="12355B"/>
          </a:solidFill>
          <a:ln w="12700">
            <a:solidFill>
              <a:srgbClr val="12355B"/>
            </a:solidFill>
            <a:prstDash val="solid"/>
          </a:ln>
        </p:spPr>
      </p:sp>
      <p:sp>
        <p:nvSpPr>
          <p:cNvPr id="19" name="Text 16"/>
          <p:cNvSpPr txBox="1"/>
          <p:nvPr/>
        </p:nvSpPr>
        <p:spPr>
          <a:xfrm>
            <a:off x="731520" y="3383280"/>
            <a:ext cx="320040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Academic</a:t>
            </a:r>
            <a:endParaRPr lang="en-US" sz="2000" dirty="0"/>
          </a:p>
        </p:txBody>
      </p:sp>
      <p:sp>
        <p:nvSpPr>
          <p:cNvPr id="20" name="Text 17"/>
          <p:cNvSpPr txBox="1"/>
          <p:nvPr/>
        </p:nvSpPr>
        <p:spPr>
          <a:xfrm>
            <a:off x="868680" y="4069080"/>
            <a:ext cx="3017520" cy="1783080"/>
          </a:xfrm>
          <a:prstGeom prst="rect">
            <a:avLst/>
          </a:prstGeom>
          <a:noFill/>
          <a:ln/>
        </p:spPr>
        <p:txBody>
          <a:bodyPr wrap="square" lIns="0" tIns="0" rIns="0" bIns="0" rtlCol="0" anchor="t"/>
          <a:lstStyle/>
          <a:p>
            <a:pPr marL="342900" indent="-342900">
              <a:spcAft>
                <a:spcPts val="800"/>
              </a:spcAft>
              <a:buSzPct val="100000"/>
              <a:buChar char="•"/>
            </a:pPr>
            <a:r>
              <a:rPr lang="en-US" sz="2000" dirty="0">
                <a:solidFill>
                  <a:srgbClr val="1A2233"/>
                </a:solidFill>
                <a:latin typeface="Calibri" pitchFamily="34" charset="0"/>
                <a:ea typeface="Calibri" pitchFamily="34" charset="-122"/>
                <a:cs typeface="Calibri" pitchFamily="34" charset="-120"/>
              </a:rPr>
              <a:t>CGPA</a:t>
            </a:r>
            <a:endParaRPr lang="en-US" sz="2000" dirty="0"/>
          </a:p>
          <a:p>
            <a:pPr marL="342900" indent="-342900">
              <a:spcAft>
                <a:spcPts val="800"/>
              </a:spcAft>
              <a:buSzPct val="100000"/>
              <a:buChar char="•"/>
            </a:pPr>
            <a:r>
              <a:rPr lang="en-US" sz="2000" dirty="0">
                <a:solidFill>
                  <a:srgbClr val="1A2233"/>
                </a:solidFill>
                <a:latin typeface="Calibri" pitchFamily="34" charset="0"/>
                <a:ea typeface="Calibri" pitchFamily="34" charset="-122"/>
                <a:cs typeface="Calibri" pitchFamily="34" charset="-120"/>
              </a:rPr>
              <a:t>SSC marks</a:t>
            </a:r>
            <a:endParaRPr lang="en-US" sz="2000" dirty="0"/>
          </a:p>
          <a:p>
            <a:pPr marL="342900" indent="-342900">
              <a:spcAft>
                <a:spcPts val="800"/>
              </a:spcAft>
              <a:buSzPct val="100000"/>
              <a:buChar char="•"/>
            </a:pPr>
            <a:r>
              <a:rPr lang="en-US" sz="2000" dirty="0">
                <a:solidFill>
                  <a:srgbClr val="1A2233"/>
                </a:solidFill>
                <a:latin typeface="Calibri" pitchFamily="34" charset="0"/>
                <a:ea typeface="Calibri" pitchFamily="34" charset="-122"/>
                <a:cs typeface="Calibri" pitchFamily="34" charset="-120"/>
              </a:rPr>
              <a:t>HSC marks</a:t>
            </a:r>
            <a:endParaRPr lang="en-US" sz="2000" dirty="0"/>
          </a:p>
        </p:txBody>
      </p:sp>
      <p:sp>
        <p:nvSpPr>
          <p:cNvPr id="21" name="group card"/>
          <p:cNvSpPr/>
          <p:nvPr/>
        </p:nvSpPr>
        <p:spPr>
          <a:xfrm>
            <a:off x="4297680" y="3200400"/>
            <a:ext cx="3566160" cy="2834640"/>
          </a:xfrm>
          <a:prstGeom prst="roundRect">
            <a:avLst>
              <a:gd name="adj" fmla="val 3226"/>
            </a:avLst>
          </a:prstGeom>
          <a:solidFill>
            <a:srgbClr val="FFFFFF"/>
          </a:solidFill>
          <a:ln w="12700">
            <a:solidFill>
              <a:srgbClr val="C9D3DF"/>
            </a:solidFill>
            <a:prstDash val="solid"/>
          </a:ln>
          <a:effectLst>
            <a:outerShdw sx="100000" sy="100000" kx="0" ky="0" algn="bl" rotWithShape="0" blurRad="76200" dist="25400" dir="5400000">
              <a:srgbClr val="000000">
                <a:alpha val="12000"/>
              </a:srgbClr>
            </a:outerShdw>
          </a:effectLst>
        </p:spPr>
      </p:sp>
      <p:sp>
        <p:nvSpPr>
          <p:cNvPr id="22" name="group header"/>
          <p:cNvSpPr/>
          <p:nvPr/>
        </p:nvSpPr>
        <p:spPr>
          <a:xfrm>
            <a:off x="4480560" y="3383280"/>
            <a:ext cx="3200400" cy="502920"/>
          </a:xfrm>
          <a:prstGeom prst="roundRect">
            <a:avLst>
              <a:gd name="adj" fmla="val 14545"/>
            </a:avLst>
          </a:prstGeom>
          <a:solidFill>
            <a:srgbClr val="17798A"/>
          </a:solidFill>
          <a:ln w="12700">
            <a:solidFill>
              <a:srgbClr val="17798A"/>
            </a:solidFill>
            <a:prstDash val="solid"/>
          </a:ln>
        </p:spPr>
      </p:sp>
      <p:sp>
        <p:nvSpPr>
          <p:cNvPr id="23" name="Text 20"/>
          <p:cNvSpPr txBox="1"/>
          <p:nvPr/>
        </p:nvSpPr>
        <p:spPr>
          <a:xfrm>
            <a:off x="4480560" y="3383280"/>
            <a:ext cx="320040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Technical</a:t>
            </a:r>
            <a:endParaRPr lang="en-US" sz="2000" dirty="0"/>
          </a:p>
        </p:txBody>
      </p:sp>
      <p:sp>
        <p:nvSpPr>
          <p:cNvPr id="24" name="Text 21"/>
          <p:cNvSpPr txBox="1"/>
          <p:nvPr/>
        </p:nvSpPr>
        <p:spPr>
          <a:xfrm>
            <a:off x="4617720" y="4069080"/>
            <a:ext cx="3017520" cy="1783080"/>
          </a:xfrm>
          <a:prstGeom prst="rect">
            <a:avLst/>
          </a:prstGeom>
          <a:noFill/>
          <a:ln/>
        </p:spPr>
        <p:txBody>
          <a:bodyPr wrap="square" lIns="0" tIns="0" rIns="0" bIns="0" rtlCol="0" anchor="t"/>
          <a:lstStyle/>
          <a:p>
            <a:pPr marL="342900" indent="-342900">
              <a:spcAft>
                <a:spcPts val="800"/>
              </a:spcAft>
              <a:buSzPct val="100000"/>
              <a:buChar char="•"/>
            </a:pPr>
            <a:r>
              <a:rPr lang="en-US" sz="2000" dirty="0">
                <a:solidFill>
                  <a:srgbClr val="1A2233"/>
                </a:solidFill>
                <a:latin typeface="Calibri" pitchFamily="34" charset="0"/>
                <a:ea typeface="Calibri" pitchFamily="34" charset="-122"/>
                <a:cs typeface="Calibri" pitchFamily="34" charset="-120"/>
              </a:rPr>
              <a:t>Aptitude test score</a:t>
            </a:r>
            <a:endParaRPr lang="en-US" sz="2000" dirty="0"/>
          </a:p>
          <a:p>
            <a:pPr marL="342900" indent="-342900">
              <a:spcAft>
                <a:spcPts val="800"/>
              </a:spcAft>
              <a:buSzPct val="100000"/>
              <a:buChar char="•"/>
            </a:pPr>
            <a:r>
              <a:rPr lang="en-US" sz="2000" dirty="0">
                <a:solidFill>
                  <a:srgbClr val="1A2233"/>
                </a:solidFill>
                <a:latin typeface="Calibri" pitchFamily="34" charset="0"/>
                <a:ea typeface="Calibri" pitchFamily="34" charset="-122"/>
                <a:cs typeface="Calibri" pitchFamily="34" charset="-120"/>
              </a:rPr>
              <a:t>Internships</a:t>
            </a:r>
            <a:endParaRPr lang="en-US" sz="2000" dirty="0"/>
          </a:p>
          <a:p>
            <a:pPr marL="342900" indent="-342900">
              <a:spcAft>
                <a:spcPts val="800"/>
              </a:spcAft>
              <a:buSzPct val="100000"/>
              <a:buChar char="•"/>
            </a:pPr>
            <a:r>
              <a:rPr lang="en-US" sz="2000" dirty="0">
                <a:solidFill>
                  <a:srgbClr val="1A2233"/>
                </a:solidFill>
                <a:latin typeface="Calibri" pitchFamily="34" charset="0"/>
                <a:ea typeface="Calibri" pitchFamily="34" charset="-122"/>
                <a:cs typeface="Calibri" pitchFamily="34" charset="-120"/>
              </a:rPr>
              <a:t>Projects</a:t>
            </a:r>
            <a:endParaRPr lang="en-US" sz="2000" dirty="0"/>
          </a:p>
          <a:p>
            <a:pPr marL="342900" indent="-342900">
              <a:spcAft>
                <a:spcPts val="800"/>
              </a:spcAft>
              <a:buSzPct val="100000"/>
              <a:buChar char="•"/>
            </a:pPr>
            <a:r>
              <a:rPr lang="en-US" sz="2000" dirty="0">
                <a:solidFill>
                  <a:srgbClr val="1A2233"/>
                </a:solidFill>
                <a:latin typeface="Calibri" pitchFamily="34" charset="0"/>
                <a:ea typeface="Calibri" pitchFamily="34" charset="-122"/>
                <a:cs typeface="Calibri" pitchFamily="34" charset="-120"/>
              </a:rPr>
              <a:t>Workshops / Certifications</a:t>
            </a:r>
            <a:endParaRPr lang="en-US" sz="2000" dirty="0"/>
          </a:p>
        </p:txBody>
      </p:sp>
      <p:sp>
        <p:nvSpPr>
          <p:cNvPr id="25" name="group card"/>
          <p:cNvSpPr/>
          <p:nvPr/>
        </p:nvSpPr>
        <p:spPr>
          <a:xfrm>
            <a:off x="8046720" y="3200400"/>
            <a:ext cx="3566160" cy="2834640"/>
          </a:xfrm>
          <a:prstGeom prst="roundRect">
            <a:avLst>
              <a:gd name="adj" fmla="val 3226"/>
            </a:avLst>
          </a:prstGeom>
          <a:solidFill>
            <a:srgbClr val="FFFFFF"/>
          </a:solidFill>
          <a:ln w="12700">
            <a:solidFill>
              <a:srgbClr val="C9D3DF"/>
            </a:solidFill>
            <a:prstDash val="solid"/>
          </a:ln>
          <a:effectLst>
            <a:outerShdw sx="100000" sy="100000" kx="0" ky="0" algn="bl" rotWithShape="0" blurRad="76200" dist="25400" dir="5400000">
              <a:srgbClr val="000000">
                <a:alpha val="12000"/>
              </a:srgbClr>
            </a:outerShdw>
          </a:effectLst>
        </p:spPr>
      </p:sp>
      <p:sp>
        <p:nvSpPr>
          <p:cNvPr id="26" name="group header"/>
          <p:cNvSpPr/>
          <p:nvPr/>
        </p:nvSpPr>
        <p:spPr>
          <a:xfrm>
            <a:off x="8229600" y="3383280"/>
            <a:ext cx="3200400" cy="502920"/>
          </a:xfrm>
          <a:prstGeom prst="roundRect">
            <a:avLst>
              <a:gd name="adj" fmla="val 14545"/>
            </a:avLst>
          </a:prstGeom>
          <a:solidFill>
            <a:srgbClr val="B67A12"/>
          </a:solidFill>
          <a:ln w="12700">
            <a:solidFill>
              <a:srgbClr val="B67A12"/>
            </a:solidFill>
            <a:prstDash val="solid"/>
          </a:ln>
        </p:spPr>
      </p:sp>
      <p:sp>
        <p:nvSpPr>
          <p:cNvPr id="27" name="Text 24"/>
          <p:cNvSpPr txBox="1"/>
          <p:nvPr/>
        </p:nvSpPr>
        <p:spPr>
          <a:xfrm>
            <a:off x="8229600" y="3383280"/>
            <a:ext cx="320040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Employability</a:t>
            </a:r>
            <a:endParaRPr lang="en-US" sz="2000" dirty="0"/>
          </a:p>
        </p:txBody>
      </p:sp>
      <p:sp>
        <p:nvSpPr>
          <p:cNvPr id="28" name="Text 25"/>
          <p:cNvSpPr txBox="1"/>
          <p:nvPr/>
        </p:nvSpPr>
        <p:spPr>
          <a:xfrm>
            <a:off x="8366760" y="4069080"/>
            <a:ext cx="3017520" cy="1783080"/>
          </a:xfrm>
          <a:prstGeom prst="rect">
            <a:avLst/>
          </a:prstGeom>
          <a:noFill/>
          <a:ln/>
        </p:spPr>
        <p:txBody>
          <a:bodyPr wrap="square" lIns="0" tIns="0" rIns="0" bIns="0" rtlCol="0" anchor="t"/>
          <a:lstStyle/>
          <a:p>
            <a:pPr marL="342900" indent="-342900">
              <a:spcAft>
                <a:spcPts val="800"/>
              </a:spcAft>
              <a:buSzPct val="100000"/>
              <a:buChar char="•"/>
            </a:pPr>
            <a:r>
              <a:rPr lang="en-US" sz="2000" dirty="0">
                <a:solidFill>
                  <a:srgbClr val="1A2233"/>
                </a:solidFill>
                <a:latin typeface="Calibri" pitchFamily="34" charset="0"/>
                <a:ea typeface="Calibri" pitchFamily="34" charset="-122"/>
                <a:cs typeface="Calibri" pitchFamily="34" charset="-120"/>
              </a:rPr>
              <a:t>Soft skills rating</a:t>
            </a:r>
            <a:endParaRPr lang="en-US" sz="2000" dirty="0"/>
          </a:p>
          <a:p>
            <a:pPr marL="342900" indent="-342900">
              <a:spcAft>
                <a:spcPts val="800"/>
              </a:spcAft>
              <a:buSzPct val="100000"/>
              <a:buChar char="•"/>
            </a:pPr>
            <a:r>
              <a:rPr lang="en-US" sz="2000" dirty="0">
                <a:solidFill>
                  <a:srgbClr val="1A2233"/>
                </a:solidFill>
                <a:latin typeface="Calibri" pitchFamily="34" charset="0"/>
                <a:ea typeface="Calibri" pitchFamily="34" charset="-122"/>
                <a:cs typeface="Calibri" pitchFamily="34" charset="-120"/>
              </a:rPr>
              <a:t>Extracurricular activities</a:t>
            </a:r>
            <a:endParaRPr lang="en-US" sz="2000" dirty="0"/>
          </a:p>
          <a:p>
            <a:pPr marL="342900" indent="-342900">
              <a:spcAft>
                <a:spcPts val="800"/>
              </a:spcAft>
              <a:buSzPct val="100000"/>
              <a:buChar char="•"/>
            </a:pPr>
            <a:r>
              <a:rPr lang="en-US" sz="2000" dirty="0">
                <a:solidFill>
                  <a:srgbClr val="1A2233"/>
                </a:solidFill>
                <a:latin typeface="Calibri" pitchFamily="34" charset="0"/>
                <a:ea typeface="Calibri" pitchFamily="34" charset="-122"/>
                <a:cs typeface="Calibri" pitchFamily="34" charset="-120"/>
              </a:rPr>
              <a:t>Placement training</a:t>
            </a:r>
            <a:endParaRPr lang="en-US" sz="2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F"/>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lIns="0" tIns="0" rIns="0" bIns="0" rtlCol="0" anchor="ctr"/>
          <a:lstStyle/>
          <a:p>
            <a:pPr algn="l" indent="0" marL="0">
              <a:buNone/>
            </a:pPr>
            <a:r>
              <a:rPr lang="en-US" sz="3200" b="1" dirty="0">
                <a:solidFill>
                  <a:srgbClr val="12355B"/>
                </a:solidFill>
                <a:latin typeface="Cambria" pitchFamily="34" charset="0"/>
                <a:ea typeface="Cambria" pitchFamily="34" charset="-122"/>
                <a:cs typeface="Cambria" pitchFamily="34" charset="-120"/>
              </a:rPr>
              <a:t>The supplied split was not safe for evaluation</a:t>
            </a:r>
            <a:endParaRPr lang="en-US" sz="3200" dirty="0"/>
          </a:p>
        </p:txBody>
      </p:sp>
      <p:sp>
        <p:nvSpPr>
          <p:cNvPr id="4" name="flow box"/>
          <p:cNvSpPr/>
          <p:nvPr/>
        </p:nvSpPr>
        <p:spPr>
          <a:xfrm>
            <a:off x="548640" y="1463040"/>
            <a:ext cx="2103120" cy="1371600"/>
          </a:xfrm>
          <a:prstGeom prst="roundRect">
            <a:avLst>
              <a:gd name="adj" fmla="val 6667"/>
            </a:avLst>
          </a:prstGeom>
          <a:solidFill>
            <a:srgbClr val="12355B"/>
          </a:solidFill>
          <a:ln w="12700">
            <a:solidFill>
              <a:srgbClr val="12355B"/>
            </a:solidFill>
            <a:prstDash val="solid"/>
          </a:ln>
        </p:spPr>
      </p:sp>
      <p:sp>
        <p:nvSpPr>
          <p:cNvPr id="5" name="Text 2"/>
          <p:cNvSpPr txBox="1"/>
          <p:nvPr/>
        </p:nvSpPr>
        <p:spPr>
          <a:xfrm>
            <a:off x="640080" y="1536192"/>
            <a:ext cx="1920240" cy="640080"/>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10,000</a:t>
            </a:r>
            <a:endParaRPr lang="en-US" sz="3200" dirty="0"/>
          </a:p>
        </p:txBody>
      </p:sp>
      <p:sp>
        <p:nvSpPr>
          <p:cNvPr id="6" name="Text 3"/>
          <p:cNvSpPr txBox="1"/>
          <p:nvPr/>
        </p:nvSpPr>
        <p:spPr>
          <a:xfrm>
            <a:off x="685800" y="2176272"/>
            <a:ext cx="1828800" cy="594360"/>
          </a:xfrm>
          <a:prstGeom prst="rect">
            <a:avLst/>
          </a:prstGeom>
          <a:noFill/>
          <a:ln/>
        </p:spPr>
        <p:txBody>
          <a:bodyPr wrap="square" lIns="0" tIns="0" rIns="0" bIns="0" rtlCol="0" anchor="t"/>
          <a:lstStyle/>
          <a:p>
            <a:pPr algn="ctr" indent="0" marL="0">
              <a:buNone/>
            </a:pPr>
            <a:r>
              <a:rPr lang="en-US" sz="1400" dirty="0">
                <a:solidFill>
                  <a:srgbClr val="FFFFFF"/>
                </a:solidFill>
                <a:latin typeface="Calibri" pitchFamily="34" charset="0"/>
                <a:ea typeface="Calibri" pitchFamily="34" charset="-122"/>
                <a:cs typeface="Calibri" pitchFamily="34" charset="-120"/>
              </a:rPr>
              <a:t>original rows</a:t>
            </a:r>
            <a:endParaRPr lang="en-US" sz="1400" dirty="0"/>
          </a:p>
        </p:txBody>
      </p:sp>
      <p:sp>
        <p:nvSpPr>
          <p:cNvPr id="7" name="arrow"/>
          <p:cNvSpPr/>
          <p:nvPr/>
        </p:nvSpPr>
        <p:spPr>
          <a:xfrm>
            <a:off x="2688336" y="2148840"/>
            <a:ext cx="475488" cy="0"/>
          </a:xfrm>
          <a:prstGeom prst="line">
            <a:avLst/>
          </a:prstGeom>
          <a:noFill/>
          <a:ln w="25400">
            <a:solidFill>
              <a:srgbClr val="5B6B7F"/>
            </a:solidFill>
            <a:prstDash val="solid"/>
            <a:tailEnd type="triangle"/>
          </a:ln>
        </p:spPr>
      </p:sp>
      <p:sp>
        <p:nvSpPr>
          <p:cNvPr id="8" name="flow box"/>
          <p:cNvSpPr/>
          <p:nvPr/>
        </p:nvSpPr>
        <p:spPr>
          <a:xfrm>
            <a:off x="3200400" y="1463040"/>
            <a:ext cx="2651760" cy="1371600"/>
          </a:xfrm>
          <a:prstGeom prst="roundRect">
            <a:avLst>
              <a:gd name="adj" fmla="val 6667"/>
            </a:avLst>
          </a:prstGeom>
          <a:solidFill>
            <a:srgbClr val="5B6B7F"/>
          </a:solidFill>
          <a:ln w="12700">
            <a:solidFill>
              <a:srgbClr val="5B6B7F"/>
            </a:solidFill>
            <a:prstDash val="solid"/>
          </a:ln>
        </p:spPr>
      </p:sp>
      <p:sp>
        <p:nvSpPr>
          <p:cNvPr id="9" name="Text 6"/>
          <p:cNvSpPr txBox="1"/>
          <p:nvPr/>
        </p:nvSpPr>
        <p:spPr>
          <a:xfrm>
            <a:off x="3291840" y="1536192"/>
            <a:ext cx="2468880" cy="640080"/>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− 72</a:t>
            </a:r>
            <a:endParaRPr lang="en-US" sz="3200" dirty="0"/>
          </a:p>
        </p:txBody>
      </p:sp>
      <p:sp>
        <p:nvSpPr>
          <p:cNvPr id="10" name="Text 7"/>
          <p:cNvSpPr txBox="1"/>
          <p:nvPr/>
        </p:nvSpPr>
        <p:spPr>
          <a:xfrm>
            <a:off x="3337560" y="2176272"/>
            <a:ext cx="2377440" cy="594360"/>
          </a:xfrm>
          <a:prstGeom prst="rect">
            <a:avLst/>
          </a:prstGeom>
          <a:noFill/>
          <a:ln/>
        </p:spPr>
        <p:txBody>
          <a:bodyPr wrap="square" lIns="0" tIns="0" rIns="0" bIns="0" rtlCol="0" anchor="t"/>
          <a:lstStyle/>
          <a:p>
            <a:pPr algn="ctr" indent="0" marL="0">
              <a:buNone/>
            </a:pPr>
            <a:r>
              <a:rPr lang="en-US" sz="1400" dirty="0">
                <a:solidFill>
                  <a:srgbClr val="FFFFFF"/>
                </a:solidFill>
                <a:latin typeface="Calibri" pitchFamily="34" charset="0"/>
                <a:ea typeface="Calibri" pitchFamily="34" charset="-122"/>
                <a:cs typeface="Calibri" pitchFamily="34" charset="-120"/>
              </a:rPr>
              <a:t>same-label duplicate surplus rows collapsed</a:t>
            </a:r>
            <a:endParaRPr lang="en-US" sz="1400" dirty="0"/>
          </a:p>
        </p:txBody>
      </p:sp>
      <p:sp>
        <p:nvSpPr>
          <p:cNvPr id="11" name="arrow"/>
          <p:cNvSpPr/>
          <p:nvPr/>
        </p:nvSpPr>
        <p:spPr>
          <a:xfrm>
            <a:off x="5888736" y="2148840"/>
            <a:ext cx="475488" cy="0"/>
          </a:xfrm>
          <a:prstGeom prst="line">
            <a:avLst/>
          </a:prstGeom>
          <a:noFill/>
          <a:ln w="25400">
            <a:solidFill>
              <a:srgbClr val="5B6B7F"/>
            </a:solidFill>
            <a:prstDash val="solid"/>
            <a:tailEnd type="triangle"/>
          </a:ln>
        </p:spPr>
      </p:sp>
      <p:sp>
        <p:nvSpPr>
          <p:cNvPr id="12" name="flow box"/>
          <p:cNvSpPr/>
          <p:nvPr/>
        </p:nvSpPr>
        <p:spPr>
          <a:xfrm>
            <a:off x="6400800" y="1463040"/>
            <a:ext cx="2651760" cy="1371600"/>
          </a:xfrm>
          <a:prstGeom prst="roundRect">
            <a:avLst>
              <a:gd name="adj" fmla="val 6667"/>
            </a:avLst>
          </a:prstGeom>
          <a:solidFill>
            <a:srgbClr val="B5483A"/>
          </a:solidFill>
          <a:ln w="12700">
            <a:solidFill>
              <a:srgbClr val="B5483A"/>
            </a:solidFill>
            <a:prstDash val="solid"/>
          </a:ln>
        </p:spPr>
      </p:sp>
      <p:sp>
        <p:nvSpPr>
          <p:cNvPr id="13" name="Text 10"/>
          <p:cNvSpPr txBox="1"/>
          <p:nvPr/>
        </p:nvSpPr>
        <p:spPr>
          <a:xfrm>
            <a:off x="6492240" y="1536192"/>
            <a:ext cx="2468880" cy="640080"/>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− 16</a:t>
            </a:r>
            <a:endParaRPr lang="en-US" sz="3200" dirty="0"/>
          </a:p>
        </p:txBody>
      </p:sp>
      <p:sp>
        <p:nvSpPr>
          <p:cNvPr id="14" name="Text 11"/>
          <p:cNvSpPr txBox="1"/>
          <p:nvPr/>
        </p:nvSpPr>
        <p:spPr>
          <a:xfrm>
            <a:off x="6537960" y="2176272"/>
            <a:ext cx="2377440" cy="594360"/>
          </a:xfrm>
          <a:prstGeom prst="rect">
            <a:avLst/>
          </a:prstGeom>
          <a:noFill/>
          <a:ln/>
        </p:spPr>
        <p:txBody>
          <a:bodyPr wrap="square" lIns="0" tIns="0" rIns="0" bIns="0" rtlCol="0" anchor="t"/>
          <a:lstStyle/>
          <a:p>
            <a:pPr algn="ctr" indent="0" marL="0">
              <a:buNone/>
            </a:pPr>
            <a:r>
              <a:rPr lang="en-US" sz="1400" dirty="0">
                <a:solidFill>
                  <a:srgbClr val="FFFFFF"/>
                </a:solidFill>
                <a:latin typeface="Calibri" pitchFamily="34" charset="0"/>
                <a:ea typeface="Calibri" pitchFamily="34" charset="-122"/>
                <a:cs typeface="Calibri" pitchFamily="34" charset="-120"/>
              </a:rPr>
              <a:t>rows in 8 conflicting-label groups excluded</a:t>
            </a:r>
            <a:endParaRPr lang="en-US" sz="1400" dirty="0"/>
          </a:p>
        </p:txBody>
      </p:sp>
      <p:sp>
        <p:nvSpPr>
          <p:cNvPr id="15" name="arrow"/>
          <p:cNvSpPr/>
          <p:nvPr/>
        </p:nvSpPr>
        <p:spPr>
          <a:xfrm>
            <a:off x="9089136" y="2148840"/>
            <a:ext cx="475488" cy="0"/>
          </a:xfrm>
          <a:prstGeom prst="line">
            <a:avLst/>
          </a:prstGeom>
          <a:noFill/>
          <a:ln w="25400">
            <a:solidFill>
              <a:srgbClr val="5B6B7F"/>
            </a:solidFill>
            <a:prstDash val="solid"/>
            <a:tailEnd type="triangle"/>
          </a:ln>
        </p:spPr>
      </p:sp>
      <p:sp>
        <p:nvSpPr>
          <p:cNvPr id="16" name="flow box"/>
          <p:cNvSpPr/>
          <p:nvPr/>
        </p:nvSpPr>
        <p:spPr>
          <a:xfrm>
            <a:off x="9601200" y="1463040"/>
            <a:ext cx="2011680" cy="1371600"/>
          </a:xfrm>
          <a:prstGeom prst="roundRect">
            <a:avLst>
              <a:gd name="adj" fmla="val 6667"/>
            </a:avLst>
          </a:prstGeom>
          <a:solidFill>
            <a:srgbClr val="17798A"/>
          </a:solidFill>
          <a:ln w="12700">
            <a:solidFill>
              <a:srgbClr val="17798A"/>
            </a:solidFill>
            <a:prstDash val="solid"/>
          </a:ln>
        </p:spPr>
      </p:sp>
      <p:sp>
        <p:nvSpPr>
          <p:cNvPr id="17" name="Text 14"/>
          <p:cNvSpPr txBox="1"/>
          <p:nvPr/>
        </p:nvSpPr>
        <p:spPr>
          <a:xfrm>
            <a:off x="9692640" y="1536192"/>
            <a:ext cx="1828800" cy="640080"/>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9,912</a:t>
            </a:r>
            <a:endParaRPr lang="en-US" sz="3200" dirty="0"/>
          </a:p>
        </p:txBody>
      </p:sp>
      <p:sp>
        <p:nvSpPr>
          <p:cNvPr id="18" name="Text 15"/>
          <p:cNvSpPr txBox="1"/>
          <p:nvPr/>
        </p:nvSpPr>
        <p:spPr>
          <a:xfrm>
            <a:off x="9738360" y="2176272"/>
            <a:ext cx="1737360" cy="594360"/>
          </a:xfrm>
          <a:prstGeom prst="rect">
            <a:avLst/>
          </a:prstGeom>
          <a:noFill/>
          <a:ln/>
        </p:spPr>
        <p:txBody>
          <a:bodyPr wrap="square" lIns="0" tIns="0" rIns="0" bIns="0" rtlCol="0" anchor="t"/>
          <a:lstStyle/>
          <a:p>
            <a:pPr algn="ctr" indent="0" marL="0">
              <a:buNone/>
            </a:pPr>
            <a:r>
              <a:rPr lang="en-US" sz="1400" dirty="0">
                <a:solidFill>
                  <a:srgbClr val="FFFFFF"/>
                </a:solidFill>
                <a:latin typeface="Calibri" pitchFamily="34" charset="0"/>
                <a:ea typeface="Calibri" pitchFamily="34" charset="-122"/>
                <a:cs typeface="Calibri" pitchFamily="34" charset="-120"/>
              </a:rPr>
              <a:t>modelling rows</a:t>
            </a:r>
            <a:endParaRPr lang="en-US" sz="1400" dirty="0"/>
          </a:p>
        </p:txBody>
      </p:sp>
      <p:sp>
        <p:nvSpPr>
          <p:cNvPr id="19" name="Text 16"/>
          <p:cNvSpPr txBox="1"/>
          <p:nvPr/>
        </p:nvSpPr>
        <p:spPr>
          <a:xfrm>
            <a:off x="548640" y="3200400"/>
            <a:ext cx="7315200" cy="365760"/>
          </a:xfrm>
          <a:prstGeom prst="rect">
            <a:avLst/>
          </a:prstGeom>
          <a:noFill/>
          <a:ln/>
        </p:spPr>
        <p:txBody>
          <a:bodyPr wrap="square" lIns="0" tIns="0" rIns="0" bIns="0" rtlCol="0" anchor="t"/>
          <a:lstStyle/>
          <a:p>
            <a:pPr indent="0" marL="0">
              <a:buNone/>
            </a:pPr>
            <a:r>
              <a:rPr lang="en-US" sz="1600" b="1" dirty="0">
                <a:solidFill>
                  <a:srgbClr val="12355B"/>
                </a:solidFill>
                <a:latin typeface="Calibri" pitchFamily="34" charset="0"/>
                <a:ea typeface="Calibri" pitchFamily="34" charset="-122"/>
                <a:cs typeface="Calibri" pitchFamily="34" charset="-120"/>
              </a:rPr>
              <a:t>New stratified split (placed rate 41.56% in each)</a:t>
            </a:r>
            <a:endParaRPr lang="en-US" sz="1600" dirty="0"/>
          </a:p>
        </p:txBody>
      </p:sp>
      <p:sp>
        <p:nvSpPr>
          <p:cNvPr id="20" name="split segment"/>
          <p:cNvSpPr/>
          <p:nvPr/>
        </p:nvSpPr>
        <p:spPr>
          <a:xfrm>
            <a:off x="548640" y="3611880"/>
            <a:ext cx="7707946" cy="777240"/>
          </a:xfrm>
          <a:prstGeom prst="rect">
            <a:avLst/>
          </a:prstGeom>
          <a:solidFill>
            <a:srgbClr val="17798A"/>
          </a:solidFill>
          <a:ln w="12700">
            <a:solidFill>
              <a:srgbClr val="17798A"/>
            </a:solidFill>
            <a:prstDash val="solid"/>
          </a:ln>
        </p:spPr>
      </p:sp>
      <p:sp>
        <p:nvSpPr>
          <p:cNvPr id="21" name="Text 18"/>
          <p:cNvSpPr txBox="1"/>
          <p:nvPr/>
        </p:nvSpPr>
        <p:spPr>
          <a:xfrm>
            <a:off x="548640" y="3611880"/>
            <a:ext cx="7707946" cy="7772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Train  6,938</a:t>
            </a:r>
            <a:endParaRPr lang="en-US" sz="1600" dirty="0"/>
          </a:p>
        </p:txBody>
      </p:sp>
      <p:sp>
        <p:nvSpPr>
          <p:cNvPr id="22" name="split segment"/>
          <p:cNvSpPr/>
          <p:nvPr/>
        </p:nvSpPr>
        <p:spPr>
          <a:xfrm>
            <a:off x="8293162" y="3611880"/>
            <a:ext cx="1623283" cy="777240"/>
          </a:xfrm>
          <a:prstGeom prst="rect">
            <a:avLst/>
          </a:prstGeom>
          <a:solidFill>
            <a:srgbClr val="12355B"/>
          </a:solidFill>
          <a:ln w="12700">
            <a:solidFill>
              <a:srgbClr val="12355B"/>
            </a:solidFill>
            <a:prstDash val="solid"/>
          </a:ln>
        </p:spPr>
      </p:sp>
      <p:sp>
        <p:nvSpPr>
          <p:cNvPr id="23" name="Text 20"/>
          <p:cNvSpPr txBox="1"/>
          <p:nvPr/>
        </p:nvSpPr>
        <p:spPr>
          <a:xfrm>
            <a:off x="8293162" y="3611880"/>
            <a:ext cx="1623283" cy="7772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Validation  1,487</a:t>
            </a:r>
            <a:endParaRPr lang="en-US" sz="1600" dirty="0"/>
          </a:p>
        </p:txBody>
      </p:sp>
      <p:sp>
        <p:nvSpPr>
          <p:cNvPr id="24" name="split segment"/>
          <p:cNvSpPr/>
          <p:nvPr/>
        </p:nvSpPr>
        <p:spPr>
          <a:xfrm>
            <a:off x="9953021" y="3611880"/>
            <a:ext cx="1623283" cy="777240"/>
          </a:xfrm>
          <a:prstGeom prst="rect">
            <a:avLst/>
          </a:prstGeom>
          <a:solidFill>
            <a:srgbClr val="E8A33D"/>
          </a:solidFill>
          <a:ln w="12700">
            <a:solidFill>
              <a:srgbClr val="E8A33D"/>
            </a:solidFill>
            <a:prstDash val="solid"/>
          </a:ln>
        </p:spPr>
      </p:sp>
      <p:sp>
        <p:nvSpPr>
          <p:cNvPr id="25" name="Text 22"/>
          <p:cNvSpPr txBox="1"/>
          <p:nvPr/>
        </p:nvSpPr>
        <p:spPr>
          <a:xfrm>
            <a:off x="9953021" y="3611880"/>
            <a:ext cx="1623283" cy="777240"/>
          </a:xfrm>
          <a:prstGeom prst="rect">
            <a:avLst/>
          </a:prstGeom>
          <a:noFill/>
          <a:ln/>
        </p:spPr>
        <p:txBody>
          <a:bodyPr wrap="square" lIns="0" tIns="0" rIns="0" bIns="0" rtlCol="0" anchor="ctr"/>
          <a:lstStyle/>
          <a:p>
            <a:pPr algn="ctr" indent="0" marL="0">
              <a:buNone/>
            </a:pPr>
            <a:r>
              <a:rPr lang="en-US" sz="1600" b="1" dirty="0">
                <a:solidFill>
                  <a:srgbClr val="1A2233"/>
                </a:solidFill>
                <a:latin typeface="Calibri" pitchFamily="34" charset="0"/>
                <a:ea typeface="Calibri" pitchFamily="34" charset="-122"/>
                <a:cs typeface="Calibri" pitchFamily="34" charset="-120"/>
              </a:rPr>
              <a:t>Test  1,487</a:t>
            </a:r>
            <a:endParaRPr lang="en-US" sz="1600" dirty="0"/>
          </a:p>
        </p:txBody>
      </p:sp>
      <p:sp>
        <p:nvSpPr>
          <p:cNvPr id="26" name="callout"/>
          <p:cNvSpPr/>
          <p:nvPr/>
        </p:nvSpPr>
        <p:spPr>
          <a:xfrm>
            <a:off x="548640" y="4663440"/>
            <a:ext cx="5394960" cy="1417320"/>
          </a:xfrm>
          <a:prstGeom prst="roundRect">
            <a:avLst>
              <a:gd name="adj" fmla="val 6452"/>
            </a:avLst>
          </a:prstGeom>
          <a:solidFill>
            <a:srgbClr val="EEF3F8"/>
          </a:solidFill>
          <a:ln w="12700">
            <a:solidFill>
              <a:srgbClr val="EEF3F8"/>
            </a:solidFill>
            <a:prstDash val="solid"/>
          </a:ln>
        </p:spPr>
      </p:sp>
      <p:sp>
        <p:nvSpPr>
          <p:cNvPr id="27" name="Text 24"/>
          <p:cNvSpPr txBox="1"/>
          <p:nvPr/>
        </p:nvSpPr>
        <p:spPr>
          <a:xfrm>
            <a:off x="731520" y="4754880"/>
            <a:ext cx="1188720" cy="1234440"/>
          </a:xfrm>
          <a:prstGeom prst="rect">
            <a:avLst/>
          </a:prstGeom>
          <a:noFill/>
          <a:ln/>
        </p:spPr>
        <p:txBody>
          <a:bodyPr wrap="square" lIns="0" tIns="0" rIns="0" bIns="0" rtlCol="0" anchor="ctr"/>
          <a:lstStyle/>
          <a:p>
            <a:pPr algn="ctr" indent="0" marL="0">
              <a:buNone/>
            </a:pPr>
            <a:r>
              <a:rPr lang="en-US" sz="4800" b="1" dirty="0">
                <a:solidFill>
                  <a:srgbClr val="B5483A"/>
                </a:solidFill>
                <a:latin typeface="Cambria" pitchFamily="34" charset="0"/>
                <a:ea typeface="Cambria" pitchFamily="34" charset="-122"/>
                <a:cs typeface="Cambria" pitchFamily="34" charset="-120"/>
              </a:rPr>
              <a:t>33</a:t>
            </a:r>
            <a:endParaRPr lang="en-US" sz="4800" dirty="0"/>
          </a:p>
        </p:txBody>
      </p:sp>
      <p:sp>
        <p:nvSpPr>
          <p:cNvPr id="28" name="Text 25"/>
          <p:cNvSpPr txBox="1"/>
          <p:nvPr/>
        </p:nvSpPr>
        <p:spPr>
          <a:xfrm>
            <a:off x="1965960" y="4800600"/>
            <a:ext cx="3840480" cy="1143000"/>
          </a:xfrm>
          <a:prstGeom prst="rect">
            <a:avLst/>
          </a:prstGeom>
          <a:noFill/>
          <a:ln/>
        </p:spPr>
        <p:txBody>
          <a:bodyPr wrap="square" lIns="0" tIns="0" rIns="0" bIns="0" rtlCol="0" anchor="ctr"/>
          <a:lstStyle/>
          <a:p>
            <a:pPr indent="0" marL="0">
              <a:buNone/>
            </a:pPr>
            <a:r>
              <a:rPr lang="en-US" sz="1800" dirty="0">
                <a:solidFill>
                  <a:srgbClr val="1A2233"/>
                </a:solidFill>
                <a:latin typeface="Calibri" pitchFamily="34" charset="0"/>
                <a:ea typeface="Calibri" pitchFamily="34" charset="-122"/>
                <a:cs typeface="Calibri" pitchFamily="34" charset="-120"/>
              </a:rPr>
              <a:t>feature profiles crossed the supplied train / validation / test files</a:t>
            </a:r>
            <a:endParaRPr lang="en-US" sz="1800" dirty="0"/>
          </a:p>
        </p:txBody>
      </p:sp>
      <p:sp>
        <p:nvSpPr>
          <p:cNvPr id="29" name="callout"/>
          <p:cNvSpPr/>
          <p:nvPr/>
        </p:nvSpPr>
        <p:spPr>
          <a:xfrm>
            <a:off x="6217920" y="4663440"/>
            <a:ext cx="5394960" cy="1417320"/>
          </a:xfrm>
          <a:prstGeom prst="roundRect">
            <a:avLst>
              <a:gd name="adj" fmla="val 6452"/>
            </a:avLst>
          </a:prstGeom>
          <a:solidFill>
            <a:srgbClr val="12355B"/>
          </a:solidFill>
          <a:ln w="12700">
            <a:solidFill>
              <a:srgbClr val="12355B"/>
            </a:solidFill>
            <a:prstDash val="solid"/>
          </a:ln>
        </p:spPr>
      </p:sp>
      <p:sp>
        <p:nvSpPr>
          <p:cNvPr id="30" name="Text 27"/>
          <p:cNvSpPr txBox="1"/>
          <p:nvPr/>
        </p:nvSpPr>
        <p:spPr>
          <a:xfrm>
            <a:off x="6446520" y="4754880"/>
            <a:ext cx="4937760" cy="123444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No feature-profile overlap among the final train, validation and test splits.</a:t>
            </a:r>
            <a:endParaRPr lang="en-US" sz="2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F"/>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lIns="0" tIns="0" rIns="0" bIns="0" rtlCol="0" anchor="ctr"/>
          <a:lstStyle/>
          <a:p>
            <a:pPr algn="l" indent="0" marL="0">
              <a:buNone/>
            </a:pPr>
            <a:r>
              <a:rPr lang="en-US" sz="3200" b="1" dirty="0">
                <a:solidFill>
                  <a:srgbClr val="12355B"/>
                </a:solidFill>
                <a:latin typeface="Cambria" pitchFamily="34" charset="0"/>
                <a:ea typeface="Cambria" pitchFamily="34" charset="-122"/>
                <a:cs typeface="Cambria" pitchFamily="34" charset="-120"/>
              </a:rPr>
              <a:t>Strong associations, but counts are not monotonic</a:t>
            </a:r>
            <a:endParaRPr lang="en-US" sz="3200" dirty="0"/>
          </a:p>
        </p:txBody>
      </p:sp>
      <p:sp>
        <p:nvSpPr>
          <p:cNvPr id="4" name="stat card"/>
          <p:cNvSpPr/>
          <p:nvPr/>
        </p:nvSpPr>
        <p:spPr>
          <a:xfrm>
            <a:off x="548640" y="1280160"/>
            <a:ext cx="2651760" cy="1371600"/>
          </a:xfrm>
          <a:prstGeom prst="roundRect">
            <a:avLst>
              <a:gd name="adj" fmla="val 6667"/>
            </a:avLst>
          </a:prstGeom>
          <a:solidFill>
            <a:srgbClr val="EEF3F8"/>
          </a:solidFill>
          <a:ln w="12700">
            <a:solidFill>
              <a:srgbClr val="EEF3F8"/>
            </a:solidFill>
            <a:prstDash val="solid"/>
          </a:ln>
        </p:spPr>
      </p:sp>
      <p:sp>
        <p:nvSpPr>
          <p:cNvPr id="5" name="Text 2"/>
          <p:cNvSpPr txBox="1"/>
          <p:nvPr/>
        </p:nvSpPr>
        <p:spPr>
          <a:xfrm>
            <a:off x="685800" y="1389888"/>
            <a:ext cx="2377440" cy="754380"/>
          </a:xfrm>
          <a:prstGeom prst="rect">
            <a:avLst/>
          </a:prstGeom>
          <a:noFill/>
          <a:ln/>
        </p:spPr>
        <p:txBody>
          <a:bodyPr wrap="square" lIns="0" tIns="0" rIns="0" bIns="0" rtlCol="0" anchor="ctr"/>
          <a:lstStyle/>
          <a:p>
            <a:pPr algn="ctr" indent="0" marL="0">
              <a:buNone/>
            </a:pPr>
            <a:r>
              <a:rPr lang="en-US" sz="3000" b="1" dirty="0">
                <a:solidFill>
                  <a:srgbClr val="12355B"/>
                </a:solidFill>
                <a:latin typeface="Cambria" pitchFamily="34" charset="0"/>
                <a:ea typeface="Cambria" pitchFamily="34" charset="-122"/>
                <a:cs typeface="Cambria" pitchFamily="34" charset="-120"/>
              </a:rPr>
              <a:t>d = 1.23</a:t>
            </a:r>
            <a:endParaRPr lang="en-US" sz="3000" dirty="0"/>
          </a:p>
        </p:txBody>
      </p:sp>
      <p:sp>
        <p:nvSpPr>
          <p:cNvPr id="6" name="Text 3"/>
          <p:cNvSpPr txBox="1"/>
          <p:nvPr/>
        </p:nvSpPr>
        <p:spPr>
          <a:xfrm>
            <a:off x="685800" y="2075688"/>
            <a:ext cx="2377440" cy="521208"/>
          </a:xfrm>
          <a:prstGeom prst="rect">
            <a:avLst/>
          </a:prstGeom>
          <a:noFill/>
          <a:ln/>
        </p:spPr>
        <p:txBody>
          <a:bodyPr wrap="square" lIns="0" tIns="0" rIns="0" bIns="0" rtlCol="0" anchor="t"/>
          <a:lstStyle/>
          <a:p>
            <a:pPr algn="ctr" indent="0" marL="0">
              <a:buNone/>
            </a:pPr>
            <a:r>
              <a:rPr lang="en-US" sz="1400" dirty="0">
                <a:solidFill>
                  <a:srgbClr val="5B6B7F"/>
                </a:solidFill>
                <a:latin typeface="Calibri" pitchFamily="34" charset="0"/>
                <a:ea typeface="Calibri" pitchFamily="34" charset="-122"/>
                <a:cs typeface="Calibri" pitchFamily="34" charset="-120"/>
              </a:rPr>
              <a:t>Aptitude score</a:t>
            </a:r>
            <a:endParaRPr lang="en-US" sz="1400" dirty="0"/>
          </a:p>
        </p:txBody>
      </p:sp>
      <p:sp>
        <p:nvSpPr>
          <p:cNvPr id="7" name="stat card"/>
          <p:cNvSpPr/>
          <p:nvPr/>
        </p:nvSpPr>
        <p:spPr>
          <a:xfrm>
            <a:off x="3337560" y="1280160"/>
            <a:ext cx="2651760" cy="1371600"/>
          </a:xfrm>
          <a:prstGeom prst="roundRect">
            <a:avLst>
              <a:gd name="adj" fmla="val 6667"/>
            </a:avLst>
          </a:prstGeom>
          <a:solidFill>
            <a:srgbClr val="EEF3F8"/>
          </a:solidFill>
          <a:ln w="12700">
            <a:solidFill>
              <a:srgbClr val="EEF3F8"/>
            </a:solidFill>
            <a:prstDash val="solid"/>
          </a:ln>
        </p:spPr>
      </p:sp>
      <p:sp>
        <p:nvSpPr>
          <p:cNvPr id="8" name="Text 5"/>
          <p:cNvSpPr txBox="1"/>
          <p:nvPr/>
        </p:nvSpPr>
        <p:spPr>
          <a:xfrm>
            <a:off x="3474720" y="1389888"/>
            <a:ext cx="2377440" cy="754380"/>
          </a:xfrm>
          <a:prstGeom prst="rect">
            <a:avLst/>
          </a:prstGeom>
          <a:noFill/>
          <a:ln/>
        </p:spPr>
        <p:txBody>
          <a:bodyPr wrap="square" lIns="0" tIns="0" rIns="0" bIns="0" rtlCol="0" anchor="ctr"/>
          <a:lstStyle/>
          <a:p>
            <a:pPr algn="ctr" indent="0" marL="0">
              <a:buNone/>
            </a:pPr>
            <a:r>
              <a:rPr lang="en-US" sz="3000" b="1" dirty="0">
                <a:solidFill>
                  <a:srgbClr val="12355B"/>
                </a:solidFill>
                <a:latin typeface="Cambria" pitchFamily="34" charset="0"/>
                <a:ea typeface="Cambria" pitchFamily="34" charset="-122"/>
                <a:cs typeface="Cambria" pitchFamily="34" charset="-120"/>
              </a:rPr>
              <a:t>d = 1.18</a:t>
            </a:r>
            <a:endParaRPr lang="en-US" sz="3000" dirty="0"/>
          </a:p>
        </p:txBody>
      </p:sp>
      <p:sp>
        <p:nvSpPr>
          <p:cNvPr id="9" name="Text 6"/>
          <p:cNvSpPr txBox="1"/>
          <p:nvPr/>
        </p:nvSpPr>
        <p:spPr>
          <a:xfrm>
            <a:off x="3474720" y="2075688"/>
            <a:ext cx="2377440" cy="521208"/>
          </a:xfrm>
          <a:prstGeom prst="rect">
            <a:avLst/>
          </a:prstGeom>
          <a:noFill/>
          <a:ln/>
        </p:spPr>
        <p:txBody>
          <a:bodyPr wrap="square" lIns="0" tIns="0" rIns="0" bIns="0" rtlCol="0" anchor="t"/>
          <a:lstStyle/>
          <a:p>
            <a:pPr algn="ctr" indent="0" marL="0">
              <a:buNone/>
            </a:pPr>
            <a:r>
              <a:rPr lang="en-US" sz="1400" dirty="0">
                <a:solidFill>
                  <a:srgbClr val="5B6B7F"/>
                </a:solidFill>
                <a:latin typeface="Calibri" pitchFamily="34" charset="0"/>
                <a:ea typeface="Calibri" pitchFamily="34" charset="-122"/>
                <a:cs typeface="Calibri" pitchFamily="34" charset="-120"/>
              </a:rPr>
              <a:t>HSC marks</a:t>
            </a:r>
            <a:endParaRPr lang="en-US" sz="1400" dirty="0"/>
          </a:p>
        </p:txBody>
      </p:sp>
      <p:sp>
        <p:nvSpPr>
          <p:cNvPr id="10" name="stat card"/>
          <p:cNvSpPr/>
          <p:nvPr/>
        </p:nvSpPr>
        <p:spPr>
          <a:xfrm>
            <a:off x="6126480" y="1280160"/>
            <a:ext cx="2651760" cy="1371600"/>
          </a:xfrm>
          <a:prstGeom prst="roundRect">
            <a:avLst>
              <a:gd name="adj" fmla="val 6667"/>
            </a:avLst>
          </a:prstGeom>
          <a:solidFill>
            <a:srgbClr val="EEF3F8"/>
          </a:solidFill>
          <a:ln w="12700">
            <a:solidFill>
              <a:srgbClr val="EEF3F8"/>
            </a:solidFill>
            <a:prstDash val="solid"/>
          </a:ln>
        </p:spPr>
      </p:sp>
      <p:sp>
        <p:nvSpPr>
          <p:cNvPr id="11" name="Text 8"/>
          <p:cNvSpPr txBox="1"/>
          <p:nvPr/>
        </p:nvSpPr>
        <p:spPr>
          <a:xfrm>
            <a:off x="6263640" y="1389888"/>
            <a:ext cx="2377440" cy="754380"/>
          </a:xfrm>
          <a:prstGeom prst="rect">
            <a:avLst/>
          </a:prstGeom>
          <a:noFill/>
          <a:ln/>
        </p:spPr>
        <p:txBody>
          <a:bodyPr wrap="square" lIns="0" tIns="0" rIns="0" bIns="0" rtlCol="0" anchor="ctr"/>
          <a:lstStyle/>
          <a:p>
            <a:pPr algn="ctr" indent="0" marL="0">
              <a:buNone/>
            </a:pPr>
            <a:r>
              <a:rPr lang="en-US" sz="3000" b="1" dirty="0">
                <a:solidFill>
                  <a:srgbClr val="17798A"/>
                </a:solidFill>
                <a:latin typeface="Cambria" pitchFamily="34" charset="0"/>
                <a:ea typeface="Cambria" pitchFamily="34" charset="-122"/>
                <a:cs typeface="Cambria" pitchFamily="34" charset="-120"/>
              </a:rPr>
              <a:t>OR ≈ 10.1</a:t>
            </a:r>
            <a:endParaRPr lang="en-US" sz="3000" dirty="0"/>
          </a:p>
        </p:txBody>
      </p:sp>
      <p:sp>
        <p:nvSpPr>
          <p:cNvPr id="12" name="Text 9"/>
          <p:cNvSpPr txBox="1"/>
          <p:nvPr/>
        </p:nvSpPr>
        <p:spPr>
          <a:xfrm>
            <a:off x="6263640" y="2075688"/>
            <a:ext cx="2377440" cy="521208"/>
          </a:xfrm>
          <a:prstGeom prst="rect">
            <a:avLst/>
          </a:prstGeom>
          <a:noFill/>
          <a:ln/>
        </p:spPr>
        <p:txBody>
          <a:bodyPr wrap="square" lIns="0" tIns="0" rIns="0" bIns="0" rtlCol="0" anchor="t"/>
          <a:lstStyle/>
          <a:p>
            <a:pPr algn="ctr" indent="0" marL="0">
              <a:buNone/>
            </a:pPr>
            <a:r>
              <a:rPr lang="en-US" sz="1400" dirty="0">
                <a:solidFill>
                  <a:srgbClr val="5B6B7F"/>
                </a:solidFill>
                <a:latin typeface="Calibri" pitchFamily="34" charset="0"/>
                <a:ea typeface="Calibri" pitchFamily="34" charset="-122"/>
                <a:cs typeface="Calibri" pitchFamily="34" charset="-120"/>
              </a:rPr>
              <a:t>Extracurricular activities</a:t>
            </a:r>
            <a:endParaRPr lang="en-US" sz="1400" dirty="0"/>
          </a:p>
        </p:txBody>
      </p:sp>
      <p:sp>
        <p:nvSpPr>
          <p:cNvPr id="13" name="stat card"/>
          <p:cNvSpPr/>
          <p:nvPr/>
        </p:nvSpPr>
        <p:spPr>
          <a:xfrm>
            <a:off x="8915400" y="1280160"/>
            <a:ext cx="2697480" cy="1371600"/>
          </a:xfrm>
          <a:prstGeom prst="roundRect">
            <a:avLst>
              <a:gd name="adj" fmla="val 6667"/>
            </a:avLst>
          </a:prstGeom>
          <a:solidFill>
            <a:srgbClr val="EEF3F8"/>
          </a:solidFill>
          <a:ln w="12700">
            <a:solidFill>
              <a:srgbClr val="EEF3F8"/>
            </a:solidFill>
            <a:prstDash val="solid"/>
          </a:ln>
        </p:spPr>
      </p:sp>
      <p:sp>
        <p:nvSpPr>
          <p:cNvPr id="14" name="Text 11"/>
          <p:cNvSpPr txBox="1"/>
          <p:nvPr/>
        </p:nvSpPr>
        <p:spPr>
          <a:xfrm>
            <a:off x="9052560" y="1389888"/>
            <a:ext cx="2423160" cy="754380"/>
          </a:xfrm>
          <a:prstGeom prst="rect">
            <a:avLst/>
          </a:prstGeom>
          <a:noFill/>
          <a:ln/>
        </p:spPr>
        <p:txBody>
          <a:bodyPr wrap="square" lIns="0" tIns="0" rIns="0" bIns="0" rtlCol="0" anchor="ctr"/>
          <a:lstStyle/>
          <a:p>
            <a:pPr algn="ctr" indent="0" marL="0">
              <a:buNone/>
            </a:pPr>
            <a:r>
              <a:rPr lang="en-US" sz="3000" b="1" dirty="0">
                <a:solidFill>
                  <a:srgbClr val="17798A"/>
                </a:solidFill>
                <a:latin typeface="Cambria" pitchFamily="34" charset="0"/>
                <a:ea typeface="Cambria" pitchFamily="34" charset="-122"/>
                <a:cs typeface="Cambria" pitchFamily="34" charset="-120"/>
              </a:rPr>
              <a:t>OR ≈ 5.7</a:t>
            </a:r>
            <a:endParaRPr lang="en-US" sz="3000" dirty="0"/>
          </a:p>
        </p:txBody>
      </p:sp>
      <p:sp>
        <p:nvSpPr>
          <p:cNvPr id="15" name="Text 12"/>
          <p:cNvSpPr txBox="1"/>
          <p:nvPr/>
        </p:nvSpPr>
        <p:spPr>
          <a:xfrm>
            <a:off x="9052560" y="2075688"/>
            <a:ext cx="2423160" cy="521208"/>
          </a:xfrm>
          <a:prstGeom prst="rect">
            <a:avLst/>
          </a:prstGeom>
          <a:noFill/>
          <a:ln/>
        </p:spPr>
        <p:txBody>
          <a:bodyPr wrap="square" lIns="0" tIns="0" rIns="0" bIns="0" rtlCol="0" anchor="t"/>
          <a:lstStyle/>
          <a:p>
            <a:pPr algn="ctr" indent="0" marL="0">
              <a:buNone/>
            </a:pPr>
            <a:r>
              <a:rPr lang="en-US" sz="1400" dirty="0">
                <a:solidFill>
                  <a:srgbClr val="5B6B7F"/>
                </a:solidFill>
                <a:latin typeface="Calibri" pitchFamily="34" charset="0"/>
                <a:ea typeface="Calibri" pitchFamily="34" charset="-122"/>
                <a:cs typeface="Calibri" pitchFamily="34" charset="-120"/>
              </a:rPr>
              <a:t>Placement training</a:t>
            </a:r>
            <a:endParaRPr lang="en-US" sz="1400" dirty="0"/>
          </a:p>
        </p:txBody>
      </p:sp>
      <p:graphicFrame>
        <p:nvGraphicFramePr>
          <p:cNvPr id="16" name="Chart 0" descr=""/>
          <p:cNvGraphicFramePr/>
          <p:nvPr/>
        </p:nvGraphicFramePr>
        <p:xfrm>
          <a:off x="548640" y="2743200"/>
          <a:ext cx="3566160" cy="2514600"/>
        </p:xfrm>
        <a:graphic xmlns:a="http://schemas.openxmlformats.org/drawingml/2006/main">
          <a:graphicData uri="http://schemas.openxmlformats.org/drawingml/2006/chart">
            <c:chart xmlns:c="http://schemas.openxmlformats.org/drawingml/2006/chart" r:id="rId1"/>
          </a:graphicData>
        </a:graphic>
      </p:graphicFrame>
      <p:graphicFrame>
        <p:nvGraphicFramePr>
          <p:cNvPr id="17" name="Chart 1" descr=""/>
          <p:cNvGraphicFramePr/>
          <p:nvPr/>
        </p:nvGraphicFramePr>
        <p:xfrm>
          <a:off x="4297680" y="2743200"/>
          <a:ext cx="3566160" cy="2514600"/>
        </p:xfrm>
        <a:graphic xmlns:a="http://schemas.openxmlformats.org/drawingml/2006/main">
          <a:graphicData uri="http://schemas.openxmlformats.org/drawingml/2006/chart">
            <c:chart xmlns:c="http://schemas.openxmlformats.org/drawingml/2006/chart" r:id="rId2"/>
          </a:graphicData>
        </a:graphic>
      </p:graphicFrame>
      <p:graphicFrame>
        <p:nvGraphicFramePr>
          <p:cNvPr id="18" name="Chart 2" descr=""/>
          <p:cNvGraphicFramePr/>
          <p:nvPr/>
        </p:nvGraphicFramePr>
        <p:xfrm>
          <a:off x="8046720" y="2743200"/>
          <a:ext cx="3566160" cy="2514600"/>
        </p:xfrm>
        <a:graphic xmlns:a="http://schemas.openxmlformats.org/drawingml/2006/main">
          <a:graphicData uri="http://schemas.openxmlformats.org/drawingml/2006/chart">
            <c:chart xmlns:c="http://schemas.openxmlformats.org/drawingml/2006/chart" r:id="rId3"/>
          </a:graphicData>
        </a:graphic>
      </p:graphicFrame>
      <p:sp>
        <p:nvSpPr>
          <p:cNvPr id="19" name="Text 13"/>
          <p:cNvSpPr txBox="1"/>
          <p:nvPr/>
        </p:nvSpPr>
        <p:spPr>
          <a:xfrm>
            <a:off x="548640" y="5349240"/>
            <a:ext cx="11064240" cy="411480"/>
          </a:xfrm>
          <a:prstGeom prst="rect">
            <a:avLst/>
          </a:prstGeom>
          <a:noFill/>
          <a:ln/>
        </p:spPr>
        <p:txBody>
          <a:bodyPr wrap="square" lIns="0" tIns="0" rIns="0" bIns="0" rtlCol="0" anchor="t"/>
          <a:lstStyle/>
          <a:p>
            <a:pPr indent="0" marL="0">
              <a:buNone/>
            </a:pPr>
            <a:r>
              <a:rPr lang="en-US" sz="1500" b="1" dirty="0">
                <a:solidFill>
                  <a:srgbClr val="12355B"/>
                </a:solidFill>
                <a:latin typeface="Calibri" pitchFamily="34" charset="0"/>
                <a:ea typeface="Calibri" pitchFamily="34" charset="-122"/>
                <a:cs typeface="Calibri" pitchFamily="34" charset="-120"/>
              </a:rPr>
              <a:t>Counts are step-like: Internships flat, then a jump at 2  ·  Workshops dip at level 1  ·  Projects = 0 rests on 30 students</a:t>
            </a:r>
            <a:endParaRPr lang="en-US" sz="1500" dirty="0"/>
          </a:p>
        </p:txBody>
      </p:sp>
      <p:sp>
        <p:nvSpPr>
          <p:cNvPr id="20" name="Text 14"/>
          <p:cNvSpPr txBox="1"/>
          <p:nvPr/>
        </p:nvSpPr>
        <p:spPr>
          <a:xfrm>
            <a:off x="548640" y="5852160"/>
            <a:ext cx="11064240" cy="365760"/>
          </a:xfrm>
          <a:prstGeom prst="rect">
            <a:avLst/>
          </a:prstGeom>
          <a:noFill/>
          <a:ln/>
        </p:spPr>
        <p:txBody>
          <a:bodyPr wrap="square" lIns="0" tIns="0" rIns="0" bIns="0" rtlCol="0" anchor="t"/>
          <a:lstStyle/>
          <a:p>
            <a:pPr indent="0" marL="0">
              <a:buNone/>
            </a:pPr>
            <a:r>
              <a:rPr lang="en-US" sz="1200" dirty="0">
                <a:solidFill>
                  <a:srgbClr val="5B6B7F"/>
                </a:solidFill>
                <a:latin typeface="Calibri" pitchFamily="34" charset="0"/>
                <a:ea typeface="Calibri" pitchFamily="34" charset="-122"/>
                <a:cs typeface="Calibri" pitchFamily="34" charset="-120"/>
              </a:rPr>
              <a:t>Associations in the cleaned dataset (n = 9,912); not causal effects. d = Cohen’s d (Placed vs NotPlaced); OR = odds ratio.</a:t>
            </a:r>
            <a:endParaRPr lang="en-US" sz="1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F"/>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lIns="0" tIns="0" rIns="0" bIns="0" rtlCol="0" anchor="ctr"/>
          <a:lstStyle/>
          <a:p>
            <a:pPr algn="l" indent="0" marL="0">
              <a:buNone/>
            </a:pPr>
            <a:r>
              <a:rPr lang="en-US" sz="3200" b="1" dirty="0">
                <a:solidFill>
                  <a:srgbClr val="12355B"/>
                </a:solidFill>
                <a:latin typeface="Cambria" pitchFamily="34" charset="0"/>
                <a:ea typeface="Cambria" pitchFamily="34" charset="-122"/>
                <a:cs typeface="Cambria" pitchFamily="34" charset="-120"/>
              </a:rPr>
              <a:t>Statistics informed the design, not the evaluation</a:t>
            </a:r>
            <a:endParaRPr lang="en-US" sz="3200" dirty="0"/>
          </a:p>
        </p:txBody>
      </p:sp>
      <p:sp>
        <p:nvSpPr>
          <p:cNvPr id="4" name="Text 1"/>
          <p:cNvSpPr txBox="1"/>
          <p:nvPr/>
        </p:nvSpPr>
        <p:spPr>
          <a:xfrm>
            <a:off x="548640" y="1280160"/>
            <a:ext cx="5486400" cy="365760"/>
          </a:xfrm>
          <a:prstGeom prst="rect">
            <a:avLst/>
          </a:prstGeom>
          <a:noFill/>
          <a:ln/>
        </p:spPr>
        <p:txBody>
          <a:bodyPr wrap="square" lIns="0" tIns="0" rIns="0" bIns="0" rtlCol="0" anchor="t"/>
          <a:lstStyle/>
          <a:p>
            <a:pPr indent="0" marL="0">
              <a:buNone/>
            </a:pPr>
            <a:r>
              <a:rPr lang="en-US" sz="2000" b="1" dirty="0">
                <a:solidFill>
                  <a:srgbClr val="12355B"/>
                </a:solidFill>
                <a:latin typeface="Calibri" pitchFamily="34" charset="0"/>
                <a:ea typeface="Calibri" pitchFamily="34" charset="-122"/>
                <a:cs typeface="Calibri" pitchFamily="34" charset="-120"/>
              </a:rPr>
              <a:t>Methods</a:t>
            </a:r>
            <a:endParaRPr lang="en-US" sz="2000" dirty="0"/>
          </a:p>
        </p:txBody>
      </p:sp>
      <p:sp>
        <p:nvSpPr>
          <p:cNvPr id="5" name="method chip"/>
          <p:cNvSpPr/>
          <p:nvPr/>
        </p:nvSpPr>
        <p:spPr>
          <a:xfrm>
            <a:off x="548640" y="1783080"/>
            <a:ext cx="2926080" cy="731520"/>
          </a:xfrm>
          <a:prstGeom prst="roundRect">
            <a:avLst>
              <a:gd name="adj" fmla="val 12500"/>
            </a:avLst>
          </a:prstGeom>
          <a:solidFill>
            <a:srgbClr val="EEF3F8"/>
          </a:solidFill>
          <a:ln w="12700">
            <a:solidFill>
              <a:srgbClr val="EEF3F8"/>
            </a:solidFill>
            <a:prstDash val="solid"/>
          </a:ln>
        </p:spPr>
      </p:sp>
      <p:sp>
        <p:nvSpPr>
          <p:cNvPr id="6" name="Text 3"/>
          <p:cNvSpPr txBox="1"/>
          <p:nvPr/>
        </p:nvSpPr>
        <p:spPr>
          <a:xfrm>
            <a:off x="640080" y="1783080"/>
            <a:ext cx="2743200" cy="731520"/>
          </a:xfrm>
          <a:prstGeom prst="rect">
            <a:avLst/>
          </a:prstGeom>
          <a:noFill/>
          <a:ln/>
        </p:spPr>
        <p:txBody>
          <a:bodyPr wrap="square" lIns="0" tIns="0" rIns="0" bIns="0" rtlCol="0" anchor="ctr"/>
          <a:lstStyle/>
          <a:p>
            <a:pPr algn="ctr" indent="0" marL="0">
              <a:buNone/>
            </a:pPr>
            <a:r>
              <a:rPr lang="en-US" sz="1500" b="1" dirty="0">
                <a:solidFill>
                  <a:srgbClr val="1A2233"/>
                </a:solidFill>
                <a:latin typeface="Calibri" pitchFamily="34" charset="0"/>
                <a:ea typeface="Calibri" pitchFamily="34" charset="-122"/>
                <a:cs typeface="Calibri" pitchFamily="34" charset="-120"/>
              </a:rPr>
              <a:t>Mann–Whitney / Welch tests</a:t>
            </a:r>
            <a:endParaRPr lang="en-US" sz="1500" dirty="0"/>
          </a:p>
        </p:txBody>
      </p:sp>
      <p:sp>
        <p:nvSpPr>
          <p:cNvPr id="7" name="method chip"/>
          <p:cNvSpPr/>
          <p:nvPr/>
        </p:nvSpPr>
        <p:spPr>
          <a:xfrm>
            <a:off x="3611880" y="1783080"/>
            <a:ext cx="2926080" cy="731520"/>
          </a:xfrm>
          <a:prstGeom prst="roundRect">
            <a:avLst>
              <a:gd name="adj" fmla="val 12500"/>
            </a:avLst>
          </a:prstGeom>
          <a:solidFill>
            <a:srgbClr val="EEF3F8"/>
          </a:solidFill>
          <a:ln w="12700">
            <a:solidFill>
              <a:srgbClr val="EEF3F8"/>
            </a:solidFill>
            <a:prstDash val="solid"/>
          </a:ln>
        </p:spPr>
      </p:sp>
      <p:sp>
        <p:nvSpPr>
          <p:cNvPr id="8" name="Text 5"/>
          <p:cNvSpPr txBox="1"/>
          <p:nvPr/>
        </p:nvSpPr>
        <p:spPr>
          <a:xfrm>
            <a:off x="3703320" y="1783080"/>
            <a:ext cx="2743200" cy="731520"/>
          </a:xfrm>
          <a:prstGeom prst="rect">
            <a:avLst/>
          </a:prstGeom>
          <a:noFill/>
          <a:ln/>
        </p:spPr>
        <p:txBody>
          <a:bodyPr wrap="square" lIns="0" tIns="0" rIns="0" bIns="0" rtlCol="0" anchor="ctr"/>
          <a:lstStyle/>
          <a:p>
            <a:pPr algn="ctr" indent="0" marL="0">
              <a:buNone/>
            </a:pPr>
            <a:r>
              <a:rPr lang="en-US" sz="1500" b="1" dirty="0">
                <a:solidFill>
                  <a:srgbClr val="1A2233"/>
                </a:solidFill>
                <a:latin typeface="Calibri" pitchFamily="34" charset="0"/>
                <a:ea typeface="Calibri" pitchFamily="34" charset="-122"/>
                <a:cs typeface="Calibri" pitchFamily="34" charset="-120"/>
              </a:rPr>
              <a:t>Chi-square, Cramér’s V</a:t>
            </a:r>
            <a:endParaRPr lang="en-US" sz="1500" dirty="0"/>
          </a:p>
        </p:txBody>
      </p:sp>
      <p:sp>
        <p:nvSpPr>
          <p:cNvPr id="9" name="method chip"/>
          <p:cNvSpPr/>
          <p:nvPr/>
        </p:nvSpPr>
        <p:spPr>
          <a:xfrm>
            <a:off x="548640" y="2651760"/>
            <a:ext cx="2926080" cy="731520"/>
          </a:xfrm>
          <a:prstGeom prst="roundRect">
            <a:avLst>
              <a:gd name="adj" fmla="val 12500"/>
            </a:avLst>
          </a:prstGeom>
          <a:solidFill>
            <a:srgbClr val="EEF3F8"/>
          </a:solidFill>
          <a:ln w="12700">
            <a:solidFill>
              <a:srgbClr val="EEF3F8"/>
            </a:solidFill>
            <a:prstDash val="solid"/>
          </a:ln>
        </p:spPr>
      </p:sp>
      <p:sp>
        <p:nvSpPr>
          <p:cNvPr id="10" name="Text 7"/>
          <p:cNvSpPr txBox="1"/>
          <p:nvPr/>
        </p:nvSpPr>
        <p:spPr>
          <a:xfrm>
            <a:off x="640080" y="2651760"/>
            <a:ext cx="2743200" cy="731520"/>
          </a:xfrm>
          <a:prstGeom prst="rect">
            <a:avLst/>
          </a:prstGeom>
          <a:noFill/>
          <a:ln/>
        </p:spPr>
        <p:txBody>
          <a:bodyPr wrap="square" lIns="0" tIns="0" rIns="0" bIns="0" rtlCol="0" anchor="ctr"/>
          <a:lstStyle/>
          <a:p>
            <a:pPr algn="ctr" indent="0" marL="0">
              <a:buNone/>
            </a:pPr>
            <a:r>
              <a:rPr lang="en-US" sz="1500" b="1" dirty="0">
                <a:solidFill>
                  <a:srgbClr val="1A2233"/>
                </a:solidFill>
                <a:latin typeface="Calibri" pitchFamily="34" charset="0"/>
                <a:ea typeface="Calibri" pitchFamily="34" charset="-122"/>
                <a:cs typeface="Calibri" pitchFamily="34" charset="-120"/>
              </a:rPr>
              <a:t>Odds ratios with CIs</a:t>
            </a:r>
            <a:endParaRPr lang="en-US" sz="1500" dirty="0"/>
          </a:p>
        </p:txBody>
      </p:sp>
      <p:sp>
        <p:nvSpPr>
          <p:cNvPr id="11" name="method chip"/>
          <p:cNvSpPr/>
          <p:nvPr/>
        </p:nvSpPr>
        <p:spPr>
          <a:xfrm>
            <a:off x="3611880" y="2651760"/>
            <a:ext cx="2926080" cy="731520"/>
          </a:xfrm>
          <a:prstGeom prst="roundRect">
            <a:avLst>
              <a:gd name="adj" fmla="val 12500"/>
            </a:avLst>
          </a:prstGeom>
          <a:solidFill>
            <a:srgbClr val="EEF3F8"/>
          </a:solidFill>
          <a:ln w="12700">
            <a:solidFill>
              <a:srgbClr val="EEF3F8"/>
            </a:solidFill>
            <a:prstDash val="solid"/>
          </a:ln>
        </p:spPr>
      </p:sp>
      <p:sp>
        <p:nvSpPr>
          <p:cNvPr id="12" name="Text 9"/>
          <p:cNvSpPr txBox="1"/>
          <p:nvPr/>
        </p:nvSpPr>
        <p:spPr>
          <a:xfrm>
            <a:off x="3703320" y="2651760"/>
            <a:ext cx="2743200" cy="731520"/>
          </a:xfrm>
          <a:prstGeom prst="rect">
            <a:avLst/>
          </a:prstGeom>
          <a:noFill/>
          <a:ln/>
        </p:spPr>
        <p:txBody>
          <a:bodyPr wrap="square" lIns="0" tIns="0" rIns="0" bIns="0" rtlCol="0" anchor="ctr"/>
          <a:lstStyle/>
          <a:p>
            <a:pPr algn="ctr" indent="0" marL="0">
              <a:buNone/>
            </a:pPr>
            <a:r>
              <a:rPr lang="en-US" sz="1500" b="1" dirty="0">
                <a:solidFill>
                  <a:srgbClr val="1A2233"/>
                </a:solidFill>
                <a:latin typeface="Calibri" pitchFamily="34" charset="0"/>
                <a:ea typeface="Calibri" pitchFamily="34" charset="-122"/>
                <a:cs typeface="Calibri" pitchFamily="34" charset="-120"/>
              </a:rPr>
              <a:t>CMH stratification (by aptitude)</a:t>
            </a:r>
            <a:endParaRPr lang="en-US" sz="1500" dirty="0"/>
          </a:p>
        </p:txBody>
      </p:sp>
      <p:sp>
        <p:nvSpPr>
          <p:cNvPr id="13" name="method chip"/>
          <p:cNvSpPr/>
          <p:nvPr/>
        </p:nvSpPr>
        <p:spPr>
          <a:xfrm>
            <a:off x="548640" y="3520440"/>
            <a:ext cx="2926080" cy="731520"/>
          </a:xfrm>
          <a:prstGeom prst="roundRect">
            <a:avLst>
              <a:gd name="adj" fmla="val 12500"/>
            </a:avLst>
          </a:prstGeom>
          <a:solidFill>
            <a:srgbClr val="EEF3F8"/>
          </a:solidFill>
          <a:ln w="12700">
            <a:solidFill>
              <a:srgbClr val="EEF3F8"/>
            </a:solidFill>
            <a:prstDash val="solid"/>
          </a:ln>
        </p:spPr>
      </p:sp>
      <p:sp>
        <p:nvSpPr>
          <p:cNvPr id="14" name="Text 11"/>
          <p:cNvSpPr txBox="1"/>
          <p:nvPr/>
        </p:nvSpPr>
        <p:spPr>
          <a:xfrm>
            <a:off x="640080" y="3520440"/>
            <a:ext cx="2743200" cy="731520"/>
          </a:xfrm>
          <a:prstGeom prst="rect">
            <a:avLst/>
          </a:prstGeom>
          <a:noFill/>
          <a:ln/>
        </p:spPr>
        <p:txBody>
          <a:bodyPr wrap="square" lIns="0" tIns="0" rIns="0" bIns="0" rtlCol="0" anchor="ctr"/>
          <a:lstStyle/>
          <a:p>
            <a:pPr algn="ctr" indent="0" marL="0">
              <a:buNone/>
            </a:pPr>
            <a:r>
              <a:rPr lang="en-US" sz="1500" b="1" dirty="0">
                <a:solidFill>
                  <a:srgbClr val="1A2233"/>
                </a:solidFill>
                <a:latin typeface="Calibri" pitchFamily="34" charset="0"/>
                <a:ea typeface="Calibri" pitchFamily="34" charset="-122"/>
                <a:cs typeface="Calibri" pitchFamily="34" charset="-120"/>
              </a:rPr>
              <a:t>Holm correction</a:t>
            </a:r>
            <a:endParaRPr lang="en-US" sz="1500" dirty="0"/>
          </a:p>
        </p:txBody>
      </p:sp>
      <p:sp>
        <p:nvSpPr>
          <p:cNvPr id="15" name="method chip"/>
          <p:cNvSpPr/>
          <p:nvPr/>
        </p:nvSpPr>
        <p:spPr>
          <a:xfrm>
            <a:off x="3611880" y="3520440"/>
            <a:ext cx="2926080" cy="731520"/>
          </a:xfrm>
          <a:prstGeom prst="roundRect">
            <a:avLst>
              <a:gd name="adj" fmla="val 12500"/>
            </a:avLst>
          </a:prstGeom>
          <a:solidFill>
            <a:srgbClr val="EEF3F8"/>
          </a:solidFill>
          <a:ln w="12700">
            <a:solidFill>
              <a:srgbClr val="EEF3F8"/>
            </a:solidFill>
            <a:prstDash val="solid"/>
          </a:ln>
        </p:spPr>
      </p:sp>
      <p:sp>
        <p:nvSpPr>
          <p:cNvPr id="16" name="Text 13"/>
          <p:cNvSpPr txBox="1"/>
          <p:nvPr/>
        </p:nvSpPr>
        <p:spPr>
          <a:xfrm>
            <a:off x="3703320" y="3520440"/>
            <a:ext cx="2743200" cy="731520"/>
          </a:xfrm>
          <a:prstGeom prst="rect">
            <a:avLst/>
          </a:prstGeom>
          <a:noFill/>
          <a:ln/>
        </p:spPr>
        <p:txBody>
          <a:bodyPr wrap="square" lIns="0" tIns="0" rIns="0" bIns="0" rtlCol="0" anchor="ctr"/>
          <a:lstStyle/>
          <a:p>
            <a:pPr algn="ctr" indent="0" marL="0">
              <a:buNone/>
            </a:pPr>
            <a:r>
              <a:rPr lang="en-US" sz="1500" b="1" dirty="0">
                <a:solidFill>
                  <a:srgbClr val="1A2233"/>
                </a:solidFill>
                <a:latin typeface="Calibri" pitchFamily="34" charset="0"/>
                <a:ea typeface="Calibri" pitchFamily="34" charset="-122"/>
                <a:cs typeface="Calibri" pitchFamily="34" charset="-120"/>
              </a:rPr>
              <a:t>VIF (multicollinearity)</a:t>
            </a:r>
            <a:endParaRPr lang="en-US" sz="1500" dirty="0"/>
          </a:p>
        </p:txBody>
      </p:sp>
      <p:sp>
        <p:nvSpPr>
          <p:cNvPr id="17" name="stat card"/>
          <p:cNvSpPr/>
          <p:nvPr/>
        </p:nvSpPr>
        <p:spPr>
          <a:xfrm>
            <a:off x="6949440" y="1280160"/>
            <a:ext cx="2286000" cy="1783080"/>
          </a:xfrm>
          <a:prstGeom prst="roundRect">
            <a:avLst>
              <a:gd name="adj" fmla="val 5128"/>
            </a:avLst>
          </a:prstGeom>
          <a:solidFill>
            <a:srgbClr val="EEF3F8"/>
          </a:solidFill>
          <a:ln w="12700">
            <a:solidFill>
              <a:srgbClr val="EEF3F8"/>
            </a:solidFill>
            <a:prstDash val="solid"/>
          </a:ln>
        </p:spPr>
      </p:sp>
      <p:sp>
        <p:nvSpPr>
          <p:cNvPr id="18" name="Text 15"/>
          <p:cNvSpPr txBox="1"/>
          <p:nvPr/>
        </p:nvSpPr>
        <p:spPr>
          <a:xfrm>
            <a:off x="7086600" y="1389888"/>
            <a:ext cx="2011680" cy="980694"/>
          </a:xfrm>
          <a:prstGeom prst="rect">
            <a:avLst/>
          </a:prstGeom>
          <a:noFill/>
          <a:ln/>
        </p:spPr>
        <p:txBody>
          <a:bodyPr wrap="square" lIns="0" tIns="0" rIns="0" bIns="0" rtlCol="0" anchor="ctr"/>
          <a:lstStyle/>
          <a:p>
            <a:pPr algn="ctr" indent="0" marL="0">
              <a:buNone/>
            </a:pPr>
            <a:r>
              <a:rPr lang="en-US" sz="4000" b="1" dirty="0">
                <a:solidFill>
                  <a:srgbClr val="12355B"/>
                </a:solidFill>
                <a:latin typeface="Cambria" pitchFamily="34" charset="0"/>
                <a:ea typeface="Cambria" pitchFamily="34" charset="-122"/>
                <a:cs typeface="Cambria" pitchFamily="34" charset="-120"/>
              </a:rPr>
              <a:t>1.96</a:t>
            </a:r>
            <a:endParaRPr lang="en-US" sz="4000" dirty="0"/>
          </a:p>
        </p:txBody>
      </p:sp>
      <p:sp>
        <p:nvSpPr>
          <p:cNvPr id="19" name="Text 16"/>
          <p:cNvSpPr txBox="1"/>
          <p:nvPr/>
        </p:nvSpPr>
        <p:spPr>
          <a:xfrm>
            <a:off x="7086600" y="2314346"/>
            <a:ext cx="2011680" cy="677570"/>
          </a:xfrm>
          <a:prstGeom prst="rect">
            <a:avLst/>
          </a:prstGeom>
          <a:noFill/>
          <a:ln/>
        </p:spPr>
        <p:txBody>
          <a:bodyPr wrap="square" lIns="0" tIns="0" rIns="0" bIns="0" rtlCol="0" anchor="t"/>
          <a:lstStyle/>
          <a:p>
            <a:pPr algn="ctr" indent="0" marL="0">
              <a:buNone/>
            </a:pPr>
            <a:r>
              <a:rPr lang="en-US" sz="1400" dirty="0">
                <a:solidFill>
                  <a:srgbClr val="5B6B7F"/>
                </a:solidFill>
                <a:latin typeface="Calibri" pitchFamily="34" charset="0"/>
                <a:ea typeface="Calibri" pitchFamily="34" charset="-122"/>
                <a:cs typeface="Calibri" pitchFamily="34" charset="-120"/>
              </a:rPr>
              <a:t>maximum VIF (low multicollinearity)</a:t>
            </a:r>
            <a:endParaRPr lang="en-US" sz="1400" dirty="0"/>
          </a:p>
        </p:txBody>
      </p:sp>
      <p:sp>
        <p:nvSpPr>
          <p:cNvPr id="20" name="stat card"/>
          <p:cNvSpPr/>
          <p:nvPr/>
        </p:nvSpPr>
        <p:spPr>
          <a:xfrm>
            <a:off x="9326880" y="1280160"/>
            <a:ext cx="2286000" cy="1783080"/>
          </a:xfrm>
          <a:prstGeom prst="roundRect">
            <a:avLst>
              <a:gd name="adj" fmla="val 5128"/>
            </a:avLst>
          </a:prstGeom>
          <a:solidFill>
            <a:srgbClr val="EEF3F8"/>
          </a:solidFill>
          <a:ln w="12700">
            <a:solidFill>
              <a:srgbClr val="EEF3F8"/>
            </a:solidFill>
            <a:prstDash val="solid"/>
          </a:ln>
        </p:spPr>
      </p:sp>
      <p:sp>
        <p:nvSpPr>
          <p:cNvPr id="21" name="Text 18"/>
          <p:cNvSpPr txBox="1"/>
          <p:nvPr/>
        </p:nvSpPr>
        <p:spPr>
          <a:xfrm>
            <a:off x="9464040" y="1389888"/>
            <a:ext cx="2011680" cy="980694"/>
          </a:xfrm>
          <a:prstGeom prst="rect">
            <a:avLst/>
          </a:prstGeom>
          <a:noFill/>
          <a:ln/>
        </p:spPr>
        <p:txBody>
          <a:bodyPr wrap="square" lIns="0" tIns="0" rIns="0" bIns="0" rtlCol="0" anchor="ctr"/>
          <a:lstStyle/>
          <a:p>
            <a:pPr algn="ctr" indent="0" marL="0">
              <a:buNone/>
            </a:pPr>
            <a:r>
              <a:rPr lang="en-US" sz="4000" b="1" dirty="0">
                <a:solidFill>
                  <a:srgbClr val="17798A"/>
                </a:solidFill>
                <a:latin typeface="Cambria" pitchFamily="34" charset="0"/>
                <a:ea typeface="Cambria" pitchFamily="34" charset="-122"/>
                <a:cs typeface="Cambria" pitchFamily="34" charset="-120"/>
              </a:rPr>
              <a:t>≈ 0.81</a:t>
            </a:r>
            <a:endParaRPr lang="en-US" sz="4000" dirty="0"/>
          </a:p>
        </p:txBody>
      </p:sp>
      <p:sp>
        <p:nvSpPr>
          <p:cNvPr id="22" name="Text 19"/>
          <p:cNvSpPr txBox="1"/>
          <p:nvPr/>
        </p:nvSpPr>
        <p:spPr>
          <a:xfrm>
            <a:off x="9464040" y="2314346"/>
            <a:ext cx="2011680" cy="677570"/>
          </a:xfrm>
          <a:prstGeom prst="rect">
            <a:avLst/>
          </a:prstGeom>
          <a:noFill/>
          <a:ln/>
        </p:spPr>
        <p:txBody>
          <a:bodyPr wrap="square" lIns="0" tIns="0" rIns="0" bIns="0" rtlCol="0" anchor="t"/>
          <a:lstStyle/>
          <a:p>
            <a:pPr algn="ctr" indent="0" marL="0">
              <a:buNone/>
            </a:pPr>
            <a:r>
              <a:rPr lang="en-US" sz="1400" dirty="0">
                <a:solidFill>
                  <a:srgbClr val="5B6B7F"/>
                </a:solidFill>
                <a:latin typeface="Calibri" pitchFamily="34" charset="0"/>
                <a:ea typeface="Calibri" pitchFamily="34" charset="-122"/>
                <a:cs typeface="Calibri" pitchFamily="34" charset="-120"/>
              </a:rPr>
              <a:t>single-feature AUC of aptitude</a:t>
            </a:r>
            <a:endParaRPr lang="en-US" sz="1400" dirty="0"/>
          </a:p>
        </p:txBody>
      </p:sp>
      <p:sp>
        <p:nvSpPr>
          <p:cNvPr id="23" name="Text 20"/>
          <p:cNvSpPr txBox="1"/>
          <p:nvPr/>
        </p:nvSpPr>
        <p:spPr>
          <a:xfrm>
            <a:off x="6949440" y="3200400"/>
            <a:ext cx="4663440" cy="320040"/>
          </a:xfrm>
          <a:prstGeom prst="rect">
            <a:avLst/>
          </a:prstGeom>
          <a:noFill/>
          <a:ln/>
        </p:spPr>
        <p:txBody>
          <a:bodyPr wrap="square" lIns="0" tIns="0" rIns="0" bIns="0" rtlCol="0" anchor="t"/>
          <a:lstStyle/>
          <a:p>
            <a:pPr indent="0" marL="0">
              <a:buNone/>
            </a:pPr>
            <a:r>
              <a:rPr lang="en-US" sz="1400" dirty="0">
                <a:solidFill>
                  <a:srgbClr val="5B6B7F"/>
                </a:solidFill>
                <a:latin typeface="Calibri" pitchFamily="34" charset="0"/>
                <a:ea typeface="Calibri" pitchFamily="34" charset="-122"/>
                <a:cs typeface="Calibri" pitchFamily="34" charset="-120"/>
              </a:rPr>
              <a:t>All results replicated on the training split alone.</a:t>
            </a:r>
            <a:endParaRPr lang="en-US" sz="1400" dirty="0"/>
          </a:p>
        </p:txBody>
      </p:sp>
      <p:sp>
        <p:nvSpPr>
          <p:cNvPr id="24" name="informed"/>
          <p:cNvSpPr/>
          <p:nvPr/>
        </p:nvSpPr>
        <p:spPr>
          <a:xfrm>
            <a:off x="548640" y="4526280"/>
            <a:ext cx="5394960" cy="1554480"/>
          </a:xfrm>
          <a:prstGeom prst="roundRect">
            <a:avLst>
              <a:gd name="adj" fmla="val 5882"/>
            </a:avLst>
          </a:prstGeom>
          <a:solidFill>
            <a:srgbClr val="FFFFFF"/>
          </a:solidFill>
          <a:ln w="12700">
            <a:solidFill>
              <a:srgbClr val="17798A"/>
            </a:solidFill>
            <a:prstDash val="solid"/>
          </a:ln>
        </p:spPr>
      </p:sp>
      <p:sp>
        <p:nvSpPr>
          <p:cNvPr id="25" name="Text 22"/>
          <p:cNvSpPr txBox="1"/>
          <p:nvPr/>
        </p:nvSpPr>
        <p:spPr>
          <a:xfrm>
            <a:off x="777240" y="4617720"/>
            <a:ext cx="4937760" cy="1371600"/>
          </a:xfrm>
          <a:prstGeom prst="rect">
            <a:avLst/>
          </a:prstGeom>
          <a:noFill/>
          <a:ln/>
        </p:spPr>
        <p:txBody>
          <a:bodyPr wrap="square" lIns="0" tIns="0" rIns="0" bIns="0" rtlCol="0" anchor="t"/>
          <a:lstStyle/>
          <a:p>
            <a:pPr indent="0" marL="0">
              <a:spcAft>
                <a:spcPts val="300"/>
              </a:spcAft>
              <a:buNone/>
            </a:pPr>
            <a:r>
              <a:rPr lang="en-US" sz="1800" b="1" dirty="0">
                <a:solidFill>
                  <a:srgbClr val="17798A"/>
                </a:solidFill>
                <a:latin typeface="Calibri" pitchFamily="34" charset="0"/>
                <a:ea typeface="Calibri" pitchFamily="34" charset="-122"/>
                <a:cs typeface="Calibri" pitchFamily="34" charset="-120"/>
              </a:rPr>
              <a:t>Informed</a:t>
            </a:r>
            <a:endParaRPr lang="en-US" sz="1600" dirty="0"/>
          </a:p>
          <a:p>
            <a:pPr marL="342900" indent="-342900">
              <a:spcAft>
                <a:spcPts val="300"/>
              </a:spcAft>
              <a:buSzPct val="100000"/>
              <a:buChar char="•"/>
            </a:pPr>
            <a:r>
              <a:rPr lang="en-US" sz="1600" dirty="0">
                <a:solidFill>
                  <a:srgbClr val="1A2233"/>
                </a:solidFill>
                <a:latin typeface="Calibri" pitchFamily="34" charset="0"/>
                <a:ea typeface="Calibri" pitchFamily="34" charset="-122"/>
                <a:cs typeface="Calibri" pitchFamily="34" charset="-120"/>
              </a:rPr>
              <a:t>categorical coding of the counts</a:t>
            </a:r>
            <a:endParaRPr lang="en-US" sz="1600" dirty="0"/>
          </a:p>
          <a:p>
            <a:pPr marL="342900" indent="-342900">
              <a:spcAft>
                <a:spcPts val="300"/>
              </a:spcAft>
              <a:buSzPct val="100000"/>
              <a:buChar char="•"/>
            </a:pPr>
            <a:r>
              <a:rPr lang="en-US" sz="1600" dirty="0">
                <a:solidFill>
                  <a:srgbClr val="1A2233"/>
                </a:solidFill>
                <a:latin typeface="Calibri" pitchFamily="34" charset="0"/>
                <a:ea typeface="Calibri" pitchFamily="34" charset="-122"/>
                <a:cs typeface="Calibri" pitchFamily="34" charset="-120"/>
              </a:rPr>
              <a:t>keep all ten predictors</a:t>
            </a:r>
            <a:endParaRPr lang="en-US" sz="1600" dirty="0"/>
          </a:p>
          <a:p>
            <a:pPr marL="342900" indent="-342900">
              <a:spcAft>
                <a:spcPts val="300"/>
              </a:spcAft>
              <a:buSzPct val="100000"/>
              <a:buChar char="•"/>
            </a:pPr>
            <a:r>
              <a:rPr lang="en-US" sz="1600" dirty="0">
                <a:solidFill>
                  <a:srgbClr val="1A2233"/>
                </a:solidFill>
                <a:latin typeface="Calibri" pitchFamily="34" charset="0"/>
                <a:ea typeface="Calibri" pitchFamily="34" charset="-122"/>
                <a:cs typeface="Calibri" pitchFamily="34" charset="-120"/>
              </a:rPr>
              <a:t>a logistic-regression baseline</a:t>
            </a:r>
            <a:endParaRPr lang="en-US" sz="1600" dirty="0"/>
          </a:p>
        </p:txBody>
      </p:sp>
      <p:sp>
        <p:nvSpPr>
          <p:cNvPr id="26" name="did not replace"/>
          <p:cNvSpPr/>
          <p:nvPr/>
        </p:nvSpPr>
        <p:spPr>
          <a:xfrm>
            <a:off x="6217920" y="4526280"/>
            <a:ext cx="5394960" cy="1554480"/>
          </a:xfrm>
          <a:prstGeom prst="roundRect">
            <a:avLst>
              <a:gd name="adj" fmla="val 5882"/>
            </a:avLst>
          </a:prstGeom>
          <a:solidFill>
            <a:srgbClr val="FFFFFF"/>
          </a:solidFill>
          <a:ln w="12700">
            <a:solidFill>
              <a:srgbClr val="B5483A"/>
            </a:solidFill>
            <a:prstDash val="solid"/>
          </a:ln>
        </p:spPr>
      </p:sp>
      <p:sp>
        <p:nvSpPr>
          <p:cNvPr id="27" name="Text 24"/>
          <p:cNvSpPr txBox="1"/>
          <p:nvPr/>
        </p:nvSpPr>
        <p:spPr>
          <a:xfrm>
            <a:off x="6446520" y="4617720"/>
            <a:ext cx="4937760" cy="1371600"/>
          </a:xfrm>
          <a:prstGeom prst="rect">
            <a:avLst/>
          </a:prstGeom>
          <a:noFill/>
          <a:ln/>
        </p:spPr>
        <p:txBody>
          <a:bodyPr wrap="square" lIns="0" tIns="0" rIns="0" bIns="0" rtlCol="0" anchor="t"/>
          <a:lstStyle/>
          <a:p>
            <a:pPr indent="0" marL="0">
              <a:spcAft>
                <a:spcPts val="300"/>
              </a:spcAft>
              <a:buNone/>
            </a:pPr>
            <a:r>
              <a:rPr lang="en-US" sz="1800" b="1" dirty="0">
                <a:solidFill>
                  <a:srgbClr val="B5483A"/>
                </a:solidFill>
                <a:latin typeface="Calibri" pitchFamily="34" charset="0"/>
                <a:ea typeface="Calibri" pitchFamily="34" charset="-122"/>
                <a:cs typeface="Calibri" pitchFamily="34" charset="-120"/>
              </a:rPr>
              <a:t>Did not replace</a:t>
            </a:r>
            <a:endParaRPr lang="en-US" sz="1600" dirty="0"/>
          </a:p>
          <a:p>
            <a:pPr marL="342900" indent="-342900">
              <a:spcAft>
                <a:spcPts val="300"/>
              </a:spcAft>
              <a:buSzPct val="100000"/>
              <a:buChar char="•"/>
            </a:pPr>
            <a:r>
              <a:rPr lang="en-US" sz="1600" dirty="0">
                <a:solidFill>
                  <a:srgbClr val="1A2233"/>
                </a:solidFill>
                <a:latin typeface="Calibri" pitchFamily="34" charset="0"/>
                <a:ea typeface="Calibri" pitchFamily="34" charset="-122"/>
                <a:cs typeface="Calibri" pitchFamily="34" charset="-120"/>
              </a:rPr>
              <a:t>out-of-sample predictive evaluation</a:t>
            </a:r>
            <a:endParaRPr lang="en-US" sz="1600" dirty="0"/>
          </a:p>
          <a:p>
            <a:pPr marL="342900" indent="-342900">
              <a:spcAft>
                <a:spcPts val="300"/>
              </a:spcAft>
              <a:buSzPct val="100000"/>
              <a:buChar char="•"/>
            </a:pPr>
            <a:r>
              <a:rPr lang="en-US" sz="1600" dirty="0">
                <a:solidFill>
                  <a:srgbClr val="1A2233"/>
                </a:solidFill>
                <a:latin typeface="Calibri" pitchFamily="34" charset="0"/>
                <a:ea typeface="Calibri" pitchFamily="34" charset="-122"/>
                <a:cs typeface="Calibri" pitchFamily="34" charset="-120"/>
              </a:rPr>
              <a:t>calibration of probabilities</a:t>
            </a:r>
            <a:endParaRPr lang="en-US" sz="1600" dirty="0"/>
          </a:p>
          <a:p>
            <a:pPr marL="342900" indent="-342900">
              <a:spcAft>
                <a:spcPts val="300"/>
              </a:spcAft>
              <a:buSzPct val="100000"/>
              <a:buChar char="•"/>
            </a:pPr>
            <a:r>
              <a:rPr lang="en-US" sz="1600" dirty="0">
                <a:solidFill>
                  <a:srgbClr val="1A2233"/>
                </a:solidFill>
                <a:latin typeface="Calibri" pitchFamily="34" charset="0"/>
                <a:ea typeface="Calibri" pitchFamily="34" charset="-122"/>
                <a:cs typeface="Calibri" pitchFamily="34" charset="-120"/>
              </a:rPr>
              <a:t>any causal interpretation</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F"/>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lIns="0" tIns="0" rIns="0" bIns="0" rtlCol="0" anchor="ctr"/>
          <a:lstStyle/>
          <a:p>
            <a:pPr algn="l" indent="0" marL="0">
              <a:buNone/>
            </a:pPr>
            <a:r>
              <a:rPr lang="en-US" sz="3200" b="1" dirty="0">
                <a:solidFill>
                  <a:srgbClr val="12355B"/>
                </a:solidFill>
                <a:latin typeface="Cambria" pitchFamily="34" charset="0"/>
                <a:ea typeface="Cambria" pitchFamily="34" charset="-122"/>
                <a:cs typeface="Cambria" pitchFamily="34" charset="-120"/>
              </a:rPr>
              <a:t>From raw data to a frozen model: test comes last</a:t>
            </a:r>
            <a:endParaRPr lang="en-US" sz="3200" dirty="0"/>
          </a:p>
        </p:txBody>
      </p:sp>
      <p:sp>
        <p:nvSpPr>
          <p:cNvPr id="4" name="step 1"/>
          <p:cNvSpPr/>
          <p:nvPr/>
        </p:nvSpPr>
        <p:spPr>
          <a:xfrm>
            <a:off x="548640" y="1508760"/>
            <a:ext cx="1371600" cy="1143000"/>
          </a:xfrm>
          <a:prstGeom prst="roundRect">
            <a:avLst>
              <a:gd name="adj" fmla="val 8000"/>
            </a:avLst>
          </a:prstGeom>
          <a:solidFill>
            <a:srgbClr val="12355B"/>
          </a:solidFill>
          <a:ln w="12700">
            <a:solidFill>
              <a:srgbClr val="12355B"/>
            </a:solidFill>
            <a:prstDash val="solid"/>
          </a:ln>
        </p:spPr>
      </p:sp>
      <p:sp>
        <p:nvSpPr>
          <p:cNvPr id="5" name="Text 2"/>
          <p:cNvSpPr txBox="1"/>
          <p:nvPr/>
        </p:nvSpPr>
        <p:spPr>
          <a:xfrm>
            <a:off x="640080" y="1563624"/>
            <a:ext cx="365760" cy="274320"/>
          </a:xfrm>
          <a:prstGeom prst="rect">
            <a:avLst/>
          </a:prstGeom>
          <a:noFill/>
          <a:ln/>
        </p:spPr>
        <p:txBody>
          <a:bodyPr wrap="square" lIns="0" tIns="0" rIns="0" bIns="0" rtlCol="0" anchor="t"/>
          <a:lstStyle/>
          <a:p>
            <a:pPr indent="0" marL="0">
              <a:buNone/>
            </a:pPr>
            <a:r>
              <a:rPr lang="en-US" sz="1200" b="1" dirty="0">
                <a:solidFill>
                  <a:srgbClr val="8FB8C9"/>
                </a:solidFill>
                <a:latin typeface="Calibri" pitchFamily="34" charset="0"/>
                <a:ea typeface="Calibri" pitchFamily="34" charset="-122"/>
                <a:cs typeface="Calibri" pitchFamily="34" charset="-120"/>
              </a:rPr>
              <a:t>1</a:t>
            </a:r>
            <a:endParaRPr lang="en-US" sz="1200" dirty="0"/>
          </a:p>
        </p:txBody>
      </p:sp>
      <p:sp>
        <p:nvSpPr>
          <p:cNvPr id="6" name="Text 3"/>
          <p:cNvSpPr txBox="1"/>
          <p:nvPr/>
        </p:nvSpPr>
        <p:spPr>
          <a:xfrm>
            <a:off x="621792" y="1783080"/>
            <a:ext cx="1225296" cy="8229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Raw data</a:t>
            </a:r>
            <a:endParaRPr lang="en-US" sz="1400" dirty="0"/>
          </a:p>
        </p:txBody>
      </p:sp>
      <p:sp>
        <p:nvSpPr>
          <p:cNvPr id="7" name="arrow"/>
          <p:cNvSpPr/>
          <p:nvPr/>
        </p:nvSpPr>
        <p:spPr>
          <a:xfrm>
            <a:off x="1938528" y="2080260"/>
            <a:ext cx="192024" cy="0"/>
          </a:xfrm>
          <a:prstGeom prst="line">
            <a:avLst/>
          </a:prstGeom>
          <a:noFill/>
          <a:ln w="25400">
            <a:solidFill>
              <a:srgbClr val="5B6B7F"/>
            </a:solidFill>
            <a:prstDash val="solid"/>
            <a:tailEnd type="triangle"/>
          </a:ln>
        </p:spPr>
      </p:sp>
      <p:sp>
        <p:nvSpPr>
          <p:cNvPr id="8" name="step 2"/>
          <p:cNvSpPr/>
          <p:nvPr/>
        </p:nvSpPr>
        <p:spPr>
          <a:xfrm>
            <a:off x="2148840" y="1508760"/>
            <a:ext cx="1371600" cy="1143000"/>
          </a:xfrm>
          <a:prstGeom prst="roundRect">
            <a:avLst>
              <a:gd name="adj" fmla="val 8000"/>
            </a:avLst>
          </a:prstGeom>
          <a:solidFill>
            <a:srgbClr val="12355B"/>
          </a:solidFill>
          <a:ln w="12700">
            <a:solidFill>
              <a:srgbClr val="12355B"/>
            </a:solidFill>
            <a:prstDash val="solid"/>
          </a:ln>
        </p:spPr>
      </p:sp>
      <p:sp>
        <p:nvSpPr>
          <p:cNvPr id="9" name="Text 6"/>
          <p:cNvSpPr txBox="1"/>
          <p:nvPr/>
        </p:nvSpPr>
        <p:spPr>
          <a:xfrm>
            <a:off x="2240280" y="1563624"/>
            <a:ext cx="365760" cy="274320"/>
          </a:xfrm>
          <a:prstGeom prst="rect">
            <a:avLst/>
          </a:prstGeom>
          <a:noFill/>
          <a:ln/>
        </p:spPr>
        <p:txBody>
          <a:bodyPr wrap="square" lIns="0" tIns="0" rIns="0" bIns="0" rtlCol="0" anchor="t"/>
          <a:lstStyle/>
          <a:p>
            <a:pPr indent="0" marL="0">
              <a:buNone/>
            </a:pPr>
            <a:r>
              <a:rPr lang="en-US" sz="1200" b="1" dirty="0">
                <a:solidFill>
                  <a:srgbClr val="8FB8C9"/>
                </a:solidFill>
                <a:latin typeface="Calibri" pitchFamily="34" charset="0"/>
                <a:ea typeface="Calibri" pitchFamily="34" charset="-122"/>
                <a:cs typeface="Calibri" pitchFamily="34" charset="-120"/>
              </a:rPr>
              <a:t>2</a:t>
            </a:r>
            <a:endParaRPr lang="en-US" sz="1200" dirty="0"/>
          </a:p>
        </p:txBody>
      </p:sp>
      <p:sp>
        <p:nvSpPr>
          <p:cNvPr id="10" name="Text 7"/>
          <p:cNvSpPr txBox="1"/>
          <p:nvPr/>
        </p:nvSpPr>
        <p:spPr>
          <a:xfrm>
            <a:off x="2221992" y="1783080"/>
            <a:ext cx="1225296" cy="8229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Data-quality audit</a:t>
            </a:r>
            <a:endParaRPr lang="en-US" sz="1400" dirty="0"/>
          </a:p>
        </p:txBody>
      </p:sp>
      <p:sp>
        <p:nvSpPr>
          <p:cNvPr id="11" name="arrow"/>
          <p:cNvSpPr/>
          <p:nvPr/>
        </p:nvSpPr>
        <p:spPr>
          <a:xfrm>
            <a:off x="3538728" y="2080260"/>
            <a:ext cx="192024" cy="0"/>
          </a:xfrm>
          <a:prstGeom prst="line">
            <a:avLst/>
          </a:prstGeom>
          <a:noFill/>
          <a:ln w="25400">
            <a:solidFill>
              <a:srgbClr val="5B6B7F"/>
            </a:solidFill>
            <a:prstDash val="solid"/>
            <a:tailEnd type="triangle"/>
          </a:ln>
        </p:spPr>
      </p:sp>
      <p:sp>
        <p:nvSpPr>
          <p:cNvPr id="12" name="step 3"/>
          <p:cNvSpPr/>
          <p:nvPr/>
        </p:nvSpPr>
        <p:spPr>
          <a:xfrm>
            <a:off x="3749040" y="1508760"/>
            <a:ext cx="1371600" cy="1143000"/>
          </a:xfrm>
          <a:prstGeom prst="roundRect">
            <a:avLst>
              <a:gd name="adj" fmla="val 8000"/>
            </a:avLst>
          </a:prstGeom>
          <a:solidFill>
            <a:srgbClr val="12355B"/>
          </a:solidFill>
          <a:ln w="12700">
            <a:solidFill>
              <a:srgbClr val="12355B"/>
            </a:solidFill>
            <a:prstDash val="solid"/>
          </a:ln>
        </p:spPr>
      </p:sp>
      <p:sp>
        <p:nvSpPr>
          <p:cNvPr id="13" name="Text 10"/>
          <p:cNvSpPr txBox="1"/>
          <p:nvPr/>
        </p:nvSpPr>
        <p:spPr>
          <a:xfrm>
            <a:off x="3840480" y="1563624"/>
            <a:ext cx="365760" cy="274320"/>
          </a:xfrm>
          <a:prstGeom prst="rect">
            <a:avLst/>
          </a:prstGeom>
          <a:noFill/>
          <a:ln/>
        </p:spPr>
        <p:txBody>
          <a:bodyPr wrap="square" lIns="0" tIns="0" rIns="0" bIns="0" rtlCol="0" anchor="t"/>
          <a:lstStyle/>
          <a:p>
            <a:pPr indent="0" marL="0">
              <a:buNone/>
            </a:pPr>
            <a:r>
              <a:rPr lang="en-US" sz="1200" b="1" dirty="0">
                <a:solidFill>
                  <a:srgbClr val="8FB8C9"/>
                </a:solidFill>
                <a:latin typeface="Calibri" pitchFamily="34" charset="0"/>
                <a:ea typeface="Calibri" pitchFamily="34" charset="-122"/>
                <a:cs typeface="Calibri" pitchFamily="34" charset="-120"/>
              </a:rPr>
              <a:t>3</a:t>
            </a:r>
            <a:endParaRPr lang="en-US" sz="1200" dirty="0"/>
          </a:p>
        </p:txBody>
      </p:sp>
      <p:sp>
        <p:nvSpPr>
          <p:cNvPr id="14" name="Text 11"/>
          <p:cNvSpPr txBox="1"/>
          <p:nvPr/>
        </p:nvSpPr>
        <p:spPr>
          <a:xfrm>
            <a:off x="3822192" y="1783080"/>
            <a:ext cx="1225296" cy="8229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Leakage-aware split</a:t>
            </a:r>
            <a:endParaRPr lang="en-US" sz="1400" dirty="0"/>
          </a:p>
        </p:txBody>
      </p:sp>
      <p:sp>
        <p:nvSpPr>
          <p:cNvPr id="15" name="arrow"/>
          <p:cNvSpPr/>
          <p:nvPr/>
        </p:nvSpPr>
        <p:spPr>
          <a:xfrm>
            <a:off x="5138928" y="2080260"/>
            <a:ext cx="192024" cy="0"/>
          </a:xfrm>
          <a:prstGeom prst="line">
            <a:avLst/>
          </a:prstGeom>
          <a:noFill/>
          <a:ln w="25400">
            <a:solidFill>
              <a:srgbClr val="5B6B7F"/>
            </a:solidFill>
            <a:prstDash val="solid"/>
            <a:tailEnd type="triangle"/>
          </a:ln>
        </p:spPr>
      </p:sp>
      <p:sp>
        <p:nvSpPr>
          <p:cNvPr id="16" name="step 4"/>
          <p:cNvSpPr/>
          <p:nvPr/>
        </p:nvSpPr>
        <p:spPr>
          <a:xfrm>
            <a:off x="5349240" y="1508760"/>
            <a:ext cx="1371600" cy="1143000"/>
          </a:xfrm>
          <a:prstGeom prst="roundRect">
            <a:avLst>
              <a:gd name="adj" fmla="val 8000"/>
            </a:avLst>
          </a:prstGeom>
          <a:solidFill>
            <a:srgbClr val="12355B"/>
          </a:solidFill>
          <a:ln w="12700">
            <a:solidFill>
              <a:srgbClr val="12355B"/>
            </a:solidFill>
            <a:prstDash val="solid"/>
          </a:ln>
        </p:spPr>
      </p:sp>
      <p:sp>
        <p:nvSpPr>
          <p:cNvPr id="17" name="Text 14"/>
          <p:cNvSpPr txBox="1"/>
          <p:nvPr/>
        </p:nvSpPr>
        <p:spPr>
          <a:xfrm>
            <a:off x="5440680" y="1563624"/>
            <a:ext cx="365760" cy="274320"/>
          </a:xfrm>
          <a:prstGeom prst="rect">
            <a:avLst/>
          </a:prstGeom>
          <a:noFill/>
          <a:ln/>
        </p:spPr>
        <p:txBody>
          <a:bodyPr wrap="square" lIns="0" tIns="0" rIns="0" bIns="0" rtlCol="0" anchor="t"/>
          <a:lstStyle/>
          <a:p>
            <a:pPr indent="0" marL="0">
              <a:buNone/>
            </a:pPr>
            <a:r>
              <a:rPr lang="en-US" sz="1200" b="1" dirty="0">
                <a:solidFill>
                  <a:srgbClr val="8FB8C9"/>
                </a:solidFill>
                <a:latin typeface="Calibri" pitchFamily="34" charset="0"/>
                <a:ea typeface="Calibri" pitchFamily="34" charset="-122"/>
                <a:cs typeface="Calibri" pitchFamily="34" charset="-120"/>
              </a:rPr>
              <a:t>4</a:t>
            </a:r>
            <a:endParaRPr lang="en-US" sz="1200" dirty="0"/>
          </a:p>
        </p:txBody>
      </p:sp>
      <p:sp>
        <p:nvSpPr>
          <p:cNvPr id="18" name="Text 15"/>
          <p:cNvSpPr txBox="1"/>
          <p:nvPr/>
        </p:nvSpPr>
        <p:spPr>
          <a:xfrm>
            <a:off x="5422392" y="1783080"/>
            <a:ext cx="1225296" cy="8229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Preprocessing</a:t>
            </a:r>
            <a:endParaRPr lang="en-US" sz="1400" dirty="0"/>
          </a:p>
        </p:txBody>
      </p:sp>
      <p:sp>
        <p:nvSpPr>
          <p:cNvPr id="19" name="arrow"/>
          <p:cNvSpPr/>
          <p:nvPr/>
        </p:nvSpPr>
        <p:spPr>
          <a:xfrm>
            <a:off x="6739128" y="2080260"/>
            <a:ext cx="192024" cy="0"/>
          </a:xfrm>
          <a:prstGeom prst="line">
            <a:avLst/>
          </a:prstGeom>
          <a:noFill/>
          <a:ln w="25400">
            <a:solidFill>
              <a:srgbClr val="5B6B7F"/>
            </a:solidFill>
            <a:prstDash val="solid"/>
            <a:tailEnd type="triangle"/>
          </a:ln>
        </p:spPr>
      </p:sp>
      <p:sp>
        <p:nvSpPr>
          <p:cNvPr id="20" name="step 5"/>
          <p:cNvSpPr/>
          <p:nvPr/>
        </p:nvSpPr>
        <p:spPr>
          <a:xfrm>
            <a:off x="6949440" y="1508760"/>
            <a:ext cx="1371600" cy="1143000"/>
          </a:xfrm>
          <a:prstGeom prst="roundRect">
            <a:avLst>
              <a:gd name="adj" fmla="val 8000"/>
            </a:avLst>
          </a:prstGeom>
          <a:solidFill>
            <a:srgbClr val="17798A"/>
          </a:solidFill>
          <a:ln w="12700">
            <a:solidFill>
              <a:srgbClr val="17798A"/>
            </a:solidFill>
            <a:prstDash val="solid"/>
          </a:ln>
        </p:spPr>
      </p:sp>
      <p:sp>
        <p:nvSpPr>
          <p:cNvPr id="21" name="Text 18"/>
          <p:cNvSpPr txBox="1"/>
          <p:nvPr/>
        </p:nvSpPr>
        <p:spPr>
          <a:xfrm>
            <a:off x="7040880" y="1563624"/>
            <a:ext cx="365760" cy="274320"/>
          </a:xfrm>
          <a:prstGeom prst="rect">
            <a:avLst/>
          </a:prstGeom>
          <a:noFill/>
          <a:ln/>
        </p:spPr>
        <p:txBody>
          <a:bodyPr wrap="square" lIns="0" tIns="0" rIns="0" bIns="0" rtlCol="0" anchor="t"/>
          <a:lstStyle/>
          <a:p>
            <a:pPr indent="0" marL="0">
              <a:buNone/>
            </a:pPr>
            <a:r>
              <a:rPr lang="en-US" sz="1200" b="1" dirty="0">
                <a:solidFill>
                  <a:srgbClr val="8FB8C9"/>
                </a:solidFill>
                <a:latin typeface="Calibri" pitchFamily="34" charset="0"/>
                <a:ea typeface="Calibri" pitchFamily="34" charset="-122"/>
                <a:cs typeface="Calibri" pitchFamily="34" charset="-120"/>
              </a:rPr>
              <a:t>5</a:t>
            </a:r>
            <a:endParaRPr lang="en-US" sz="1200" dirty="0"/>
          </a:p>
        </p:txBody>
      </p:sp>
      <p:sp>
        <p:nvSpPr>
          <p:cNvPr id="22" name="Text 19"/>
          <p:cNvSpPr txBox="1"/>
          <p:nvPr/>
        </p:nvSpPr>
        <p:spPr>
          <a:xfrm>
            <a:off x="7022592" y="1783080"/>
            <a:ext cx="1225296" cy="8229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Baseline models</a:t>
            </a:r>
            <a:endParaRPr lang="en-US" sz="1400" dirty="0"/>
          </a:p>
        </p:txBody>
      </p:sp>
      <p:sp>
        <p:nvSpPr>
          <p:cNvPr id="23" name="arrow"/>
          <p:cNvSpPr/>
          <p:nvPr/>
        </p:nvSpPr>
        <p:spPr>
          <a:xfrm>
            <a:off x="8339328" y="2080260"/>
            <a:ext cx="192024" cy="0"/>
          </a:xfrm>
          <a:prstGeom prst="line">
            <a:avLst/>
          </a:prstGeom>
          <a:noFill/>
          <a:ln w="25400">
            <a:solidFill>
              <a:srgbClr val="5B6B7F"/>
            </a:solidFill>
            <a:prstDash val="solid"/>
            <a:tailEnd type="triangle"/>
          </a:ln>
        </p:spPr>
      </p:sp>
      <p:sp>
        <p:nvSpPr>
          <p:cNvPr id="24" name="step 6"/>
          <p:cNvSpPr/>
          <p:nvPr/>
        </p:nvSpPr>
        <p:spPr>
          <a:xfrm>
            <a:off x="8549640" y="1508760"/>
            <a:ext cx="1371600" cy="1143000"/>
          </a:xfrm>
          <a:prstGeom prst="roundRect">
            <a:avLst>
              <a:gd name="adj" fmla="val 8000"/>
            </a:avLst>
          </a:prstGeom>
          <a:solidFill>
            <a:srgbClr val="17798A"/>
          </a:solidFill>
          <a:ln w="12700">
            <a:solidFill>
              <a:srgbClr val="17798A"/>
            </a:solidFill>
            <a:prstDash val="solid"/>
          </a:ln>
        </p:spPr>
      </p:sp>
      <p:sp>
        <p:nvSpPr>
          <p:cNvPr id="25" name="Text 22"/>
          <p:cNvSpPr txBox="1"/>
          <p:nvPr/>
        </p:nvSpPr>
        <p:spPr>
          <a:xfrm>
            <a:off x="8641080" y="1563624"/>
            <a:ext cx="365760" cy="274320"/>
          </a:xfrm>
          <a:prstGeom prst="rect">
            <a:avLst/>
          </a:prstGeom>
          <a:noFill/>
          <a:ln/>
        </p:spPr>
        <p:txBody>
          <a:bodyPr wrap="square" lIns="0" tIns="0" rIns="0" bIns="0" rtlCol="0" anchor="t"/>
          <a:lstStyle/>
          <a:p>
            <a:pPr indent="0" marL="0">
              <a:buNone/>
            </a:pPr>
            <a:r>
              <a:rPr lang="en-US" sz="1200" b="1" dirty="0">
                <a:solidFill>
                  <a:srgbClr val="8FB8C9"/>
                </a:solidFill>
                <a:latin typeface="Calibri" pitchFamily="34" charset="0"/>
                <a:ea typeface="Calibri" pitchFamily="34" charset="-122"/>
                <a:cs typeface="Calibri" pitchFamily="34" charset="-120"/>
              </a:rPr>
              <a:t>6</a:t>
            </a:r>
            <a:endParaRPr lang="en-US" sz="1200" dirty="0"/>
          </a:p>
        </p:txBody>
      </p:sp>
      <p:sp>
        <p:nvSpPr>
          <p:cNvPr id="26" name="Text 23"/>
          <p:cNvSpPr txBox="1"/>
          <p:nvPr/>
        </p:nvSpPr>
        <p:spPr>
          <a:xfrm>
            <a:off x="8622792" y="1783080"/>
            <a:ext cx="1225296" cy="8229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Validation comparison</a:t>
            </a:r>
            <a:endParaRPr lang="en-US" sz="1400" dirty="0"/>
          </a:p>
        </p:txBody>
      </p:sp>
      <p:sp>
        <p:nvSpPr>
          <p:cNvPr id="27" name="arrow"/>
          <p:cNvSpPr/>
          <p:nvPr/>
        </p:nvSpPr>
        <p:spPr>
          <a:xfrm>
            <a:off x="9939528" y="2080260"/>
            <a:ext cx="192024" cy="0"/>
          </a:xfrm>
          <a:prstGeom prst="line">
            <a:avLst/>
          </a:prstGeom>
          <a:noFill/>
          <a:ln w="25400">
            <a:solidFill>
              <a:srgbClr val="5B6B7F"/>
            </a:solidFill>
            <a:prstDash val="solid"/>
            <a:tailEnd type="triangle"/>
          </a:ln>
        </p:spPr>
      </p:sp>
      <p:sp>
        <p:nvSpPr>
          <p:cNvPr id="28" name="step 7"/>
          <p:cNvSpPr/>
          <p:nvPr/>
        </p:nvSpPr>
        <p:spPr>
          <a:xfrm>
            <a:off x="10149840" y="1508760"/>
            <a:ext cx="1371600" cy="1143000"/>
          </a:xfrm>
          <a:prstGeom prst="roundRect">
            <a:avLst>
              <a:gd name="adj" fmla="val 8000"/>
            </a:avLst>
          </a:prstGeom>
          <a:solidFill>
            <a:srgbClr val="17798A"/>
          </a:solidFill>
          <a:ln w="12700">
            <a:solidFill>
              <a:srgbClr val="17798A"/>
            </a:solidFill>
            <a:prstDash val="solid"/>
          </a:ln>
        </p:spPr>
      </p:sp>
      <p:sp>
        <p:nvSpPr>
          <p:cNvPr id="29" name="Text 26"/>
          <p:cNvSpPr txBox="1"/>
          <p:nvPr/>
        </p:nvSpPr>
        <p:spPr>
          <a:xfrm>
            <a:off x="10241280" y="1563624"/>
            <a:ext cx="365760" cy="274320"/>
          </a:xfrm>
          <a:prstGeom prst="rect">
            <a:avLst/>
          </a:prstGeom>
          <a:noFill/>
          <a:ln/>
        </p:spPr>
        <p:txBody>
          <a:bodyPr wrap="square" lIns="0" tIns="0" rIns="0" bIns="0" rtlCol="0" anchor="t"/>
          <a:lstStyle/>
          <a:p>
            <a:pPr indent="0" marL="0">
              <a:buNone/>
            </a:pPr>
            <a:r>
              <a:rPr lang="en-US" sz="1200" b="1" dirty="0">
                <a:solidFill>
                  <a:srgbClr val="8FB8C9"/>
                </a:solidFill>
                <a:latin typeface="Calibri" pitchFamily="34" charset="0"/>
                <a:ea typeface="Calibri" pitchFamily="34" charset="-122"/>
                <a:cs typeface="Calibri" pitchFamily="34" charset="-120"/>
              </a:rPr>
              <a:t>7</a:t>
            </a:r>
            <a:endParaRPr lang="en-US" sz="1200" dirty="0"/>
          </a:p>
        </p:txBody>
      </p:sp>
      <p:sp>
        <p:nvSpPr>
          <p:cNvPr id="30" name="Text 27"/>
          <p:cNvSpPr txBox="1"/>
          <p:nvPr/>
        </p:nvSpPr>
        <p:spPr>
          <a:xfrm>
            <a:off x="10222992" y="1783080"/>
            <a:ext cx="1225296" cy="8229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5-fold cross-validation</a:t>
            </a:r>
            <a:endParaRPr lang="en-US" sz="1400" dirty="0"/>
          </a:p>
        </p:txBody>
      </p:sp>
      <p:sp>
        <p:nvSpPr>
          <p:cNvPr id="31" name="step 8"/>
          <p:cNvSpPr/>
          <p:nvPr/>
        </p:nvSpPr>
        <p:spPr>
          <a:xfrm>
            <a:off x="548640" y="3246120"/>
            <a:ext cx="1371600" cy="1143000"/>
          </a:xfrm>
          <a:prstGeom prst="roundRect">
            <a:avLst>
              <a:gd name="adj" fmla="val 8000"/>
            </a:avLst>
          </a:prstGeom>
          <a:solidFill>
            <a:srgbClr val="17798A"/>
          </a:solidFill>
          <a:ln w="12700">
            <a:solidFill>
              <a:srgbClr val="17798A"/>
            </a:solidFill>
            <a:prstDash val="solid"/>
          </a:ln>
        </p:spPr>
      </p:sp>
      <p:sp>
        <p:nvSpPr>
          <p:cNvPr id="32" name="Text 29"/>
          <p:cNvSpPr txBox="1"/>
          <p:nvPr/>
        </p:nvSpPr>
        <p:spPr>
          <a:xfrm>
            <a:off x="640080" y="3300984"/>
            <a:ext cx="365760" cy="274320"/>
          </a:xfrm>
          <a:prstGeom prst="rect">
            <a:avLst/>
          </a:prstGeom>
          <a:noFill/>
          <a:ln/>
        </p:spPr>
        <p:txBody>
          <a:bodyPr wrap="square" lIns="0" tIns="0" rIns="0" bIns="0" rtlCol="0" anchor="t"/>
          <a:lstStyle/>
          <a:p>
            <a:pPr indent="0" marL="0">
              <a:buNone/>
            </a:pPr>
            <a:r>
              <a:rPr lang="en-US" sz="1200" b="1" dirty="0">
                <a:solidFill>
                  <a:srgbClr val="8FB8C9"/>
                </a:solidFill>
                <a:latin typeface="Calibri" pitchFamily="34" charset="0"/>
                <a:ea typeface="Calibri" pitchFamily="34" charset="-122"/>
                <a:cs typeface="Calibri" pitchFamily="34" charset="-120"/>
              </a:rPr>
              <a:t>8</a:t>
            </a:r>
            <a:endParaRPr lang="en-US" sz="1200" dirty="0"/>
          </a:p>
        </p:txBody>
      </p:sp>
      <p:sp>
        <p:nvSpPr>
          <p:cNvPr id="33" name="Text 30"/>
          <p:cNvSpPr txBox="1"/>
          <p:nvPr/>
        </p:nvSpPr>
        <p:spPr>
          <a:xfrm>
            <a:off x="621792" y="3520440"/>
            <a:ext cx="1225296" cy="8229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Calibration</a:t>
            </a:r>
            <a:endParaRPr lang="en-US" sz="1400" dirty="0"/>
          </a:p>
        </p:txBody>
      </p:sp>
      <p:sp>
        <p:nvSpPr>
          <p:cNvPr id="34" name="arrow"/>
          <p:cNvSpPr/>
          <p:nvPr/>
        </p:nvSpPr>
        <p:spPr>
          <a:xfrm>
            <a:off x="1938528" y="3817620"/>
            <a:ext cx="192024" cy="0"/>
          </a:xfrm>
          <a:prstGeom prst="line">
            <a:avLst/>
          </a:prstGeom>
          <a:noFill/>
          <a:ln w="25400">
            <a:solidFill>
              <a:srgbClr val="5B6B7F"/>
            </a:solidFill>
            <a:prstDash val="solid"/>
            <a:tailEnd type="triangle"/>
          </a:ln>
        </p:spPr>
      </p:sp>
      <p:sp>
        <p:nvSpPr>
          <p:cNvPr id="35" name="step 9"/>
          <p:cNvSpPr/>
          <p:nvPr/>
        </p:nvSpPr>
        <p:spPr>
          <a:xfrm>
            <a:off x="2148840" y="3246120"/>
            <a:ext cx="1371600" cy="1143000"/>
          </a:xfrm>
          <a:prstGeom prst="roundRect">
            <a:avLst>
              <a:gd name="adj" fmla="val 8000"/>
            </a:avLst>
          </a:prstGeom>
          <a:solidFill>
            <a:srgbClr val="17798A"/>
          </a:solidFill>
          <a:ln w="12700">
            <a:solidFill>
              <a:srgbClr val="17798A"/>
            </a:solidFill>
            <a:prstDash val="solid"/>
          </a:ln>
        </p:spPr>
      </p:sp>
      <p:sp>
        <p:nvSpPr>
          <p:cNvPr id="36" name="Text 33"/>
          <p:cNvSpPr txBox="1"/>
          <p:nvPr/>
        </p:nvSpPr>
        <p:spPr>
          <a:xfrm>
            <a:off x="2240280" y="3300984"/>
            <a:ext cx="365760" cy="274320"/>
          </a:xfrm>
          <a:prstGeom prst="rect">
            <a:avLst/>
          </a:prstGeom>
          <a:noFill/>
          <a:ln/>
        </p:spPr>
        <p:txBody>
          <a:bodyPr wrap="square" lIns="0" tIns="0" rIns="0" bIns="0" rtlCol="0" anchor="t"/>
          <a:lstStyle/>
          <a:p>
            <a:pPr indent="0" marL="0">
              <a:buNone/>
            </a:pPr>
            <a:r>
              <a:rPr lang="en-US" sz="1200" b="1" dirty="0">
                <a:solidFill>
                  <a:srgbClr val="8FB8C9"/>
                </a:solidFill>
                <a:latin typeface="Calibri" pitchFamily="34" charset="0"/>
                <a:ea typeface="Calibri" pitchFamily="34" charset="-122"/>
                <a:cs typeface="Calibri" pitchFamily="34" charset="-120"/>
              </a:rPr>
              <a:t>9</a:t>
            </a:r>
            <a:endParaRPr lang="en-US" sz="1200" dirty="0"/>
          </a:p>
        </p:txBody>
      </p:sp>
      <p:sp>
        <p:nvSpPr>
          <p:cNvPr id="37" name="Text 34"/>
          <p:cNvSpPr txBox="1"/>
          <p:nvPr/>
        </p:nvSpPr>
        <p:spPr>
          <a:xfrm>
            <a:off x="2221992" y="3520440"/>
            <a:ext cx="1225296" cy="8229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Threshold analysis</a:t>
            </a:r>
            <a:endParaRPr lang="en-US" sz="1400" dirty="0"/>
          </a:p>
        </p:txBody>
      </p:sp>
      <p:sp>
        <p:nvSpPr>
          <p:cNvPr id="38" name="arrow"/>
          <p:cNvSpPr/>
          <p:nvPr/>
        </p:nvSpPr>
        <p:spPr>
          <a:xfrm>
            <a:off x="3538728" y="3817620"/>
            <a:ext cx="192024" cy="0"/>
          </a:xfrm>
          <a:prstGeom prst="line">
            <a:avLst/>
          </a:prstGeom>
          <a:noFill/>
          <a:ln w="25400">
            <a:solidFill>
              <a:srgbClr val="5B6B7F"/>
            </a:solidFill>
            <a:prstDash val="solid"/>
            <a:tailEnd type="triangle"/>
          </a:ln>
        </p:spPr>
      </p:sp>
      <p:sp>
        <p:nvSpPr>
          <p:cNvPr id="39" name="step 10"/>
          <p:cNvSpPr/>
          <p:nvPr/>
        </p:nvSpPr>
        <p:spPr>
          <a:xfrm>
            <a:off x="3749040" y="3246120"/>
            <a:ext cx="1371600" cy="1143000"/>
          </a:xfrm>
          <a:prstGeom prst="roundRect">
            <a:avLst>
              <a:gd name="adj" fmla="val 8000"/>
            </a:avLst>
          </a:prstGeom>
          <a:solidFill>
            <a:srgbClr val="17798A"/>
          </a:solidFill>
          <a:ln w="12700">
            <a:solidFill>
              <a:srgbClr val="17798A"/>
            </a:solidFill>
            <a:prstDash val="solid"/>
          </a:ln>
        </p:spPr>
      </p:sp>
      <p:sp>
        <p:nvSpPr>
          <p:cNvPr id="40" name="Text 37"/>
          <p:cNvSpPr txBox="1"/>
          <p:nvPr/>
        </p:nvSpPr>
        <p:spPr>
          <a:xfrm>
            <a:off x="3840480" y="3300984"/>
            <a:ext cx="365760" cy="274320"/>
          </a:xfrm>
          <a:prstGeom prst="rect">
            <a:avLst/>
          </a:prstGeom>
          <a:noFill/>
          <a:ln/>
        </p:spPr>
        <p:txBody>
          <a:bodyPr wrap="square" lIns="0" tIns="0" rIns="0" bIns="0" rtlCol="0" anchor="t"/>
          <a:lstStyle/>
          <a:p>
            <a:pPr indent="0" marL="0">
              <a:buNone/>
            </a:pPr>
            <a:r>
              <a:rPr lang="en-US" sz="1200" b="1" dirty="0">
                <a:solidFill>
                  <a:srgbClr val="8FB8C9"/>
                </a:solidFill>
                <a:latin typeface="Calibri" pitchFamily="34" charset="0"/>
                <a:ea typeface="Calibri" pitchFamily="34" charset="-122"/>
                <a:cs typeface="Calibri" pitchFamily="34" charset="-120"/>
              </a:rPr>
              <a:t>10</a:t>
            </a:r>
            <a:endParaRPr lang="en-US" sz="1200" dirty="0"/>
          </a:p>
        </p:txBody>
      </p:sp>
      <p:sp>
        <p:nvSpPr>
          <p:cNvPr id="41" name="Text 38"/>
          <p:cNvSpPr txBox="1"/>
          <p:nvPr/>
        </p:nvSpPr>
        <p:spPr>
          <a:xfrm>
            <a:off x="3822192" y="3520440"/>
            <a:ext cx="1225296" cy="8229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Explainability + ablation</a:t>
            </a:r>
            <a:endParaRPr lang="en-US" sz="1400" dirty="0"/>
          </a:p>
        </p:txBody>
      </p:sp>
      <p:sp>
        <p:nvSpPr>
          <p:cNvPr id="42" name="arrow"/>
          <p:cNvSpPr/>
          <p:nvPr/>
        </p:nvSpPr>
        <p:spPr>
          <a:xfrm>
            <a:off x="5138928" y="3817620"/>
            <a:ext cx="192024" cy="0"/>
          </a:xfrm>
          <a:prstGeom prst="line">
            <a:avLst/>
          </a:prstGeom>
          <a:noFill/>
          <a:ln w="25400">
            <a:solidFill>
              <a:srgbClr val="5B6B7F"/>
            </a:solidFill>
            <a:prstDash val="solid"/>
            <a:tailEnd type="triangle"/>
          </a:ln>
        </p:spPr>
      </p:sp>
      <p:sp>
        <p:nvSpPr>
          <p:cNvPr id="43" name="step 11"/>
          <p:cNvSpPr/>
          <p:nvPr/>
        </p:nvSpPr>
        <p:spPr>
          <a:xfrm>
            <a:off x="5349240" y="3246120"/>
            <a:ext cx="1371600" cy="1143000"/>
          </a:xfrm>
          <a:prstGeom prst="roundRect">
            <a:avLst>
              <a:gd name="adj" fmla="val 8000"/>
            </a:avLst>
          </a:prstGeom>
          <a:solidFill>
            <a:srgbClr val="E8A33D"/>
          </a:solidFill>
          <a:ln w="12700">
            <a:solidFill>
              <a:srgbClr val="E8A33D"/>
            </a:solidFill>
            <a:prstDash val="solid"/>
          </a:ln>
        </p:spPr>
      </p:sp>
      <p:sp>
        <p:nvSpPr>
          <p:cNvPr id="44" name="Text 41"/>
          <p:cNvSpPr txBox="1"/>
          <p:nvPr/>
        </p:nvSpPr>
        <p:spPr>
          <a:xfrm>
            <a:off x="5440680" y="3300984"/>
            <a:ext cx="365760" cy="274320"/>
          </a:xfrm>
          <a:prstGeom prst="rect">
            <a:avLst/>
          </a:prstGeom>
          <a:noFill/>
          <a:ln/>
        </p:spPr>
        <p:txBody>
          <a:bodyPr wrap="square" lIns="0" tIns="0" rIns="0" bIns="0" rtlCol="0" anchor="t"/>
          <a:lstStyle/>
          <a:p>
            <a:pPr indent="0" marL="0">
              <a:buNone/>
            </a:pPr>
            <a:r>
              <a:rPr lang="en-US" sz="1200" b="1" dirty="0">
                <a:solidFill>
                  <a:srgbClr val="1A2233"/>
                </a:solidFill>
                <a:latin typeface="Calibri" pitchFamily="34" charset="0"/>
                <a:ea typeface="Calibri" pitchFamily="34" charset="-122"/>
                <a:cs typeface="Calibri" pitchFamily="34" charset="-120"/>
              </a:rPr>
              <a:t>11</a:t>
            </a:r>
            <a:endParaRPr lang="en-US" sz="1200" dirty="0"/>
          </a:p>
        </p:txBody>
      </p:sp>
      <p:sp>
        <p:nvSpPr>
          <p:cNvPr id="45" name="Text 42"/>
          <p:cNvSpPr txBox="1"/>
          <p:nvPr/>
        </p:nvSpPr>
        <p:spPr>
          <a:xfrm>
            <a:off x="5422392" y="3520440"/>
            <a:ext cx="1225296" cy="822960"/>
          </a:xfrm>
          <a:prstGeom prst="rect">
            <a:avLst/>
          </a:prstGeom>
          <a:noFill/>
          <a:ln/>
        </p:spPr>
        <p:txBody>
          <a:bodyPr wrap="square" lIns="0" tIns="0" rIns="0" bIns="0" rtlCol="0" anchor="ctr"/>
          <a:lstStyle/>
          <a:p>
            <a:pPr algn="ctr" indent="0" marL="0">
              <a:buNone/>
            </a:pPr>
            <a:r>
              <a:rPr lang="en-US" sz="1400" b="1" dirty="0">
                <a:solidFill>
                  <a:srgbClr val="1A2233"/>
                </a:solidFill>
                <a:latin typeface="Calibri" pitchFamily="34" charset="0"/>
                <a:ea typeface="Calibri" pitchFamily="34" charset="-122"/>
                <a:cs typeface="Calibri" pitchFamily="34" charset="-120"/>
              </a:rPr>
              <a:t>Frozen final model</a:t>
            </a:r>
            <a:endParaRPr lang="en-US" sz="1400" dirty="0"/>
          </a:p>
        </p:txBody>
      </p:sp>
      <p:sp>
        <p:nvSpPr>
          <p:cNvPr id="46" name="arrow"/>
          <p:cNvSpPr/>
          <p:nvPr/>
        </p:nvSpPr>
        <p:spPr>
          <a:xfrm>
            <a:off x="6739128" y="3817620"/>
            <a:ext cx="192024" cy="0"/>
          </a:xfrm>
          <a:prstGeom prst="line">
            <a:avLst/>
          </a:prstGeom>
          <a:noFill/>
          <a:ln w="25400">
            <a:solidFill>
              <a:srgbClr val="5B6B7F"/>
            </a:solidFill>
            <a:prstDash val="solid"/>
            <a:tailEnd type="triangle"/>
          </a:ln>
        </p:spPr>
      </p:sp>
      <p:sp>
        <p:nvSpPr>
          <p:cNvPr id="47" name="step 12"/>
          <p:cNvSpPr/>
          <p:nvPr/>
        </p:nvSpPr>
        <p:spPr>
          <a:xfrm>
            <a:off x="6949440" y="3246120"/>
            <a:ext cx="1371600" cy="1143000"/>
          </a:xfrm>
          <a:prstGeom prst="roundRect">
            <a:avLst>
              <a:gd name="adj" fmla="val 8000"/>
            </a:avLst>
          </a:prstGeom>
          <a:solidFill>
            <a:srgbClr val="E8A33D"/>
          </a:solidFill>
          <a:ln w="12700">
            <a:solidFill>
              <a:srgbClr val="E8A33D"/>
            </a:solidFill>
            <a:prstDash val="solid"/>
          </a:ln>
        </p:spPr>
      </p:sp>
      <p:sp>
        <p:nvSpPr>
          <p:cNvPr id="48" name="Text 45"/>
          <p:cNvSpPr txBox="1"/>
          <p:nvPr/>
        </p:nvSpPr>
        <p:spPr>
          <a:xfrm>
            <a:off x="7040880" y="3300984"/>
            <a:ext cx="365760" cy="274320"/>
          </a:xfrm>
          <a:prstGeom prst="rect">
            <a:avLst/>
          </a:prstGeom>
          <a:noFill/>
          <a:ln/>
        </p:spPr>
        <p:txBody>
          <a:bodyPr wrap="square" lIns="0" tIns="0" rIns="0" bIns="0" rtlCol="0" anchor="t"/>
          <a:lstStyle/>
          <a:p>
            <a:pPr indent="0" marL="0">
              <a:buNone/>
            </a:pPr>
            <a:r>
              <a:rPr lang="en-US" sz="1200" b="1" dirty="0">
                <a:solidFill>
                  <a:srgbClr val="1A2233"/>
                </a:solidFill>
                <a:latin typeface="Calibri" pitchFamily="34" charset="0"/>
                <a:ea typeface="Calibri" pitchFamily="34" charset="-122"/>
                <a:cs typeface="Calibri" pitchFamily="34" charset="-120"/>
              </a:rPr>
              <a:t>12</a:t>
            </a:r>
            <a:endParaRPr lang="en-US" sz="1200" dirty="0"/>
          </a:p>
        </p:txBody>
      </p:sp>
      <p:sp>
        <p:nvSpPr>
          <p:cNvPr id="49" name="Text 46"/>
          <p:cNvSpPr txBox="1"/>
          <p:nvPr/>
        </p:nvSpPr>
        <p:spPr>
          <a:xfrm>
            <a:off x="7022592" y="3520440"/>
            <a:ext cx="1225296" cy="822960"/>
          </a:xfrm>
          <a:prstGeom prst="rect">
            <a:avLst/>
          </a:prstGeom>
          <a:noFill/>
          <a:ln/>
        </p:spPr>
        <p:txBody>
          <a:bodyPr wrap="square" lIns="0" tIns="0" rIns="0" bIns="0" rtlCol="0" anchor="ctr"/>
          <a:lstStyle/>
          <a:p>
            <a:pPr algn="ctr" indent="0" marL="0">
              <a:buNone/>
            </a:pPr>
            <a:r>
              <a:rPr lang="en-US" sz="1400" b="1" dirty="0">
                <a:solidFill>
                  <a:srgbClr val="1A2233"/>
                </a:solidFill>
                <a:latin typeface="Calibri" pitchFamily="34" charset="0"/>
                <a:ea typeface="Calibri" pitchFamily="34" charset="-122"/>
                <a:cs typeface="Calibri" pitchFamily="34" charset="-120"/>
              </a:rPr>
              <a:t>One-time test evaluation</a:t>
            </a:r>
            <a:endParaRPr lang="en-US" sz="1400" dirty="0"/>
          </a:p>
        </p:txBody>
      </p:sp>
      <p:sp>
        <p:nvSpPr>
          <p:cNvPr id="50" name="arrow"/>
          <p:cNvSpPr/>
          <p:nvPr/>
        </p:nvSpPr>
        <p:spPr>
          <a:xfrm>
            <a:off x="8339328" y="3817620"/>
            <a:ext cx="192024" cy="0"/>
          </a:xfrm>
          <a:prstGeom prst="line">
            <a:avLst/>
          </a:prstGeom>
          <a:noFill/>
          <a:ln w="25400">
            <a:solidFill>
              <a:srgbClr val="5B6B7F"/>
            </a:solidFill>
            <a:prstDash val="solid"/>
            <a:tailEnd type="triangle"/>
          </a:ln>
        </p:spPr>
      </p:sp>
      <p:sp>
        <p:nvSpPr>
          <p:cNvPr id="51" name="step 13"/>
          <p:cNvSpPr/>
          <p:nvPr/>
        </p:nvSpPr>
        <p:spPr>
          <a:xfrm>
            <a:off x="8549640" y="3246120"/>
            <a:ext cx="1371600" cy="1143000"/>
          </a:xfrm>
          <a:prstGeom prst="roundRect">
            <a:avLst>
              <a:gd name="adj" fmla="val 8000"/>
            </a:avLst>
          </a:prstGeom>
          <a:solidFill>
            <a:srgbClr val="5B6B7F"/>
          </a:solidFill>
          <a:ln w="12700">
            <a:solidFill>
              <a:srgbClr val="5B6B7F"/>
            </a:solidFill>
            <a:prstDash val="solid"/>
          </a:ln>
        </p:spPr>
      </p:sp>
      <p:sp>
        <p:nvSpPr>
          <p:cNvPr id="52" name="Text 49"/>
          <p:cNvSpPr txBox="1"/>
          <p:nvPr/>
        </p:nvSpPr>
        <p:spPr>
          <a:xfrm>
            <a:off x="8641080" y="3300984"/>
            <a:ext cx="365760" cy="274320"/>
          </a:xfrm>
          <a:prstGeom prst="rect">
            <a:avLst/>
          </a:prstGeom>
          <a:noFill/>
          <a:ln/>
        </p:spPr>
        <p:txBody>
          <a:bodyPr wrap="square" lIns="0" tIns="0" rIns="0" bIns="0" rtlCol="0" anchor="t"/>
          <a:lstStyle/>
          <a:p>
            <a:pPr indent="0" marL="0">
              <a:buNone/>
            </a:pPr>
            <a:r>
              <a:rPr lang="en-US" sz="1200" b="1" dirty="0">
                <a:solidFill>
                  <a:srgbClr val="8FB8C9"/>
                </a:solidFill>
                <a:latin typeface="Calibri" pitchFamily="34" charset="0"/>
                <a:ea typeface="Calibri" pitchFamily="34" charset="-122"/>
                <a:cs typeface="Calibri" pitchFamily="34" charset="-120"/>
              </a:rPr>
              <a:t>13</a:t>
            </a:r>
            <a:endParaRPr lang="en-US" sz="1200" dirty="0"/>
          </a:p>
        </p:txBody>
      </p:sp>
      <p:sp>
        <p:nvSpPr>
          <p:cNvPr id="53" name="Text 50"/>
          <p:cNvSpPr txBox="1"/>
          <p:nvPr/>
        </p:nvSpPr>
        <p:spPr>
          <a:xfrm>
            <a:off x="8622792" y="3520440"/>
            <a:ext cx="1225296" cy="8229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Interactive application</a:t>
            </a:r>
            <a:endParaRPr lang="en-US" sz="1400" dirty="0"/>
          </a:p>
        </p:txBody>
      </p:sp>
      <p:sp>
        <p:nvSpPr>
          <p:cNvPr id="54" name="Text 51"/>
          <p:cNvSpPr txBox="1"/>
          <p:nvPr/>
        </p:nvSpPr>
        <p:spPr>
          <a:xfrm>
            <a:off x="8229600" y="2834640"/>
            <a:ext cx="3383280" cy="274320"/>
          </a:xfrm>
          <a:prstGeom prst="rect">
            <a:avLst/>
          </a:prstGeom>
          <a:noFill/>
          <a:ln/>
        </p:spPr>
        <p:txBody>
          <a:bodyPr wrap="square" lIns="0" tIns="0" rIns="0" bIns="0" rtlCol="0" anchor="t"/>
          <a:lstStyle/>
          <a:p>
            <a:pPr algn="r" indent="0" marL="0">
              <a:buNone/>
            </a:pPr>
            <a:r>
              <a:rPr lang="en-US" sz="1200" dirty="0">
                <a:solidFill>
                  <a:srgbClr val="5B6B7F"/>
                </a:solidFill>
                <a:latin typeface="Calibri" pitchFamily="34" charset="0"/>
                <a:ea typeface="Calibri" pitchFamily="34" charset="-122"/>
                <a:cs typeface="Calibri" pitchFamily="34" charset="-120"/>
              </a:rPr>
              <a:t>continues on the next row ↓</a:t>
            </a:r>
            <a:endParaRPr lang="en-US" sz="1200" dirty="0"/>
          </a:p>
        </p:txBody>
      </p:sp>
      <p:sp>
        <p:nvSpPr>
          <p:cNvPr id="55" name="legend swatch"/>
          <p:cNvSpPr/>
          <p:nvPr/>
        </p:nvSpPr>
        <p:spPr>
          <a:xfrm>
            <a:off x="548640" y="4846320"/>
            <a:ext cx="274320" cy="274320"/>
          </a:xfrm>
          <a:prstGeom prst="roundRect">
            <a:avLst>
              <a:gd name="adj" fmla="val 16667"/>
            </a:avLst>
          </a:prstGeom>
          <a:solidFill>
            <a:srgbClr val="12355B"/>
          </a:solidFill>
          <a:ln w="12700">
            <a:solidFill>
              <a:srgbClr val="12355B"/>
            </a:solidFill>
            <a:prstDash val="solid"/>
          </a:ln>
        </p:spPr>
      </p:sp>
      <p:sp>
        <p:nvSpPr>
          <p:cNvPr id="56" name="Text 53"/>
          <p:cNvSpPr txBox="1"/>
          <p:nvPr/>
        </p:nvSpPr>
        <p:spPr>
          <a:xfrm>
            <a:off x="914400" y="4818888"/>
            <a:ext cx="3291840" cy="329184"/>
          </a:xfrm>
          <a:prstGeom prst="rect">
            <a:avLst/>
          </a:prstGeom>
          <a:noFill/>
          <a:ln/>
        </p:spPr>
        <p:txBody>
          <a:bodyPr wrap="square" lIns="0" tIns="0" rIns="0" bIns="0" rtlCol="0" anchor="ctr"/>
          <a:lstStyle/>
          <a:p>
            <a:pPr indent="0" marL="0">
              <a:buNone/>
            </a:pPr>
            <a:r>
              <a:rPr lang="en-US" sz="1400" dirty="0">
                <a:solidFill>
                  <a:srgbClr val="1A2233"/>
                </a:solidFill>
                <a:latin typeface="Calibri" pitchFamily="34" charset="0"/>
                <a:ea typeface="Calibri" pitchFamily="34" charset="-122"/>
                <a:cs typeface="Calibri" pitchFamily="34" charset="-120"/>
              </a:rPr>
              <a:t>Data work</a:t>
            </a:r>
            <a:endParaRPr lang="en-US" sz="1400" dirty="0"/>
          </a:p>
        </p:txBody>
      </p:sp>
      <p:sp>
        <p:nvSpPr>
          <p:cNvPr id="57" name="legend swatch"/>
          <p:cNvSpPr/>
          <p:nvPr/>
        </p:nvSpPr>
        <p:spPr>
          <a:xfrm>
            <a:off x="4297680" y="4846320"/>
            <a:ext cx="274320" cy="274320"/>
          </a:xfrm>
          <a:prstGeom prst="roundRect">
            <a:avLst>
              <a:gd name="adj" fmla="val 16667"/>
            </a:avLst>
          </a:prstGeom>
          <a:solidFill>
            <a:srgbClr val="17798A"/>
          </a:solidFill>
          <a:ln w="12700">
            <a:solidFill>
              <a:srgbClr val="17798A"/>
            </a:solidFill>
            <a:prstDash val="solid"/>
          </a:ln>
        </p:spPr>
      </p:sp>
      <p:sp>
        <p:nvSpPr>
          <p:cNvPr id="58" name="Text 55"/>
          <p:cNvSpPr txBox="1"/>
          <p:nvPr/>
        </p:nvSpPr>
        <p:spPr>
          <a:xfrm>
            <a:off x="4663440" y="4818888"/>
            <a:ext cx="3291840" cy="329184"/>
          </a:xfrm>
          <a:prstGeom prst="rect">
            <a:avLst/>
          </a:prstGeom>
          <a:noFill/>
          <a:ln/>
        </p:spPr>
        <p:txBody>
          <a:bodyPr wrap="square" lIns="0" tIns="0" rIns="0" bIns="0" rtlCol="0" anchor="ctr"/>
          <a:lstStyle/>
          <a:p>
            <a:pPr indent="0" marL="0">
              <a:buNone/>
            </a:pPr>
            <a:r>
              <a:rPr lang="en-US" sz="1400" dirty="0">
                <a:solidFill>
                  <a:srgbClr val="1A2233"/>
                </a:solidFill>
                <a:latin typeface="Calibri" pitchFamily="34" charset="0"/>
                <a:ea typeface="Calibri" pitchFamily="34" charset="-122"/>
                <a:cs typeface="Calibri" pitchFamily="34" charset="-120"/>
              </a:rPr>
              <a:t>Development: train / validation only</a:t>
            </a:r>
            <a:endParaRPr lang="en-US" sz="1400" dirty="0"/>
          </a:p>
        </p:txBody>
      </p:sp>
      <p:sp>
        <p:nvSpPr>
          <p:cNvPr id="59" name="legend swatch"/>
          <p:cNvSpPr/>
          <p:nvPr/>
        </p:nvSpPr>
        <p:spPr>
          <a:xfrm>
            <a:off x="8046720" y="4846320"/>
            <a:ext cx="274320" cy="274320"/>
          </a:xfrm>
          <a:prstGeom prst="roundRect">
            <a:avLst>
              <a:gd name="adj" fmla="val 16667"/>
            </a:avLst>
          </a:prstGeom>
          <a:solidFill>
            <a:srgbClr val="E8A33D"/>
          </a:solidFill>
          <a:ln w="12700">
            <a:solidFill>
              <a:srgbClr val="E8A33D"/>
            </a:solidFill>
            <a:prstDash val="solid"/>
          </a:ln>
        </p:spPr>
      </p:sp>
      <p:sp>
        <p:nvSpPr>
          <p:cNvPr id="60" name="Text 57"/>
          <p:cNvSpPr txBox="1"/>
          <p:nvPr/>
        </p:nvSpPr>
        <p:spPr>
          <a:xfrm>
            <a:off x="8412480" y="4818888"/>
            <a:ext cx="3291840" cy="329184"/>
          </a:xfrm>
          <a:prstGeom prst="rect">
            <a:avLst/>
          </a:prstGeom>
          <a:noFill/>
          <a:ln/>
        </p:spPr>
        <p:txBody>
          <a:bodyPr wrap="square" lIns="0" tIns="0" rIns="0" bIns="0" rtlCol="0" anchor="ctr"/>
          <a:lstStyle/>
          <a:p>
            <a:pPr indent="0" marL="0">
              <a:buNone/>
            </a:pPr>
            <a:r>
              <a:rPr lang="en-US" sz="1400" dirty="0">
                <a:solidFill>
                  <a:srgbClr val="1A2233"/>
                </a:solidFill>
                <a:latin typeface="Calibri" pitchFamily="34" charset="0"/>
                <a:ea typeface="Calibri" pitchFamily="34" charset="-122"/>
                <a:cs typeface="Calibri" pitchFamily="34" charset="-120"/>
              </a:rPr>
              <a:t>Frozen, then evaluated once</a:t>
            </a:r>
            <a:endParaRPr lang="en-US" sz="1400" dirty="0"/>
          </a:p>
        </p:txBody>
      </p:sp>
      <p:sp>
        <p:nvSpPr>
          <p:cNvPr id="61" name="emphasis"/>
          <p:cNvSpPr/>
          <p:nvPr/>
        </p:nvSpPr>
        <p:spPr>
          <a:xfrm>
            <a:off x="548640" y="5349240"/>
            <a:ext cx="11064240" cy="777240"/>
          </a:xfrm>
          <a:prstGeom prst="roundRect">
            <a:avLst>
              <a:gd name="adj" fmla="val 11765"/>
            </a:avLst>
          </a:prstGeom>
          <a:solidFill>
            <a:srgbClr val="EEF3F8"/>
          </a:solidFill>
          <a:ln w="12700">
            <a:solidFill>
              <a:srgbClr val="EEF3F8"/>
            </a:solidFill>
            <a:prstDash val="solid"/>
          </a:ln>
        </p:spPr>
      </p:sp>
      <p:sp>
        <p:nvSpPr>
          <p:cNvPr id="62" name="Text 59"/>
          <p:cNvSpPr txBox="1"/>
          <p:nvPr/>
        </p:nvSpPr>
        <p:spPr>
          <a:xfrm>
            <a:off x="777240" y="5349240"/>
            <a:ext cx="10607040" cy="777240"/>
          </a:xfrm>
          <a:prstGeom prst="rect">
            <a:avLst/>
          </a:prstGeom>
          <a:noFill/>
          <a:ln/>
        </p:spPr>
        <p:txBody>
          <a:bodyPr wrap="square" lIns="0" tIns="0" rIns="0" bIns="0" rtlCol="0" anchor="ctr"/>
          <a:lstStyle/>
          <a:p>
            <a:pPr algn="ctr" indent="0" marL="0">
              <a:buNone/>
            </a:pPr>
            <a:r>
              <a:rPr lang="en-US" sz="1800" b="1" dirty="0">
                <a:solidFill>
                  <a:srgbClr val="12355B"/>
                </a:solidFill>
                <a:latin typeface="Calibri" pitchFamily="34" charset="0"/>
                <a:ea typeface="Calibri" pitchFamily="34" charset="-122"/>
                <a:cs typeface="Calibri" pitchFamily="34" charset="-120"/>
              </a:rPr>
              <a:t>Model, thresholds and metrics were fixed in a protocol file before the test set was opened.</a:t>
            </a:r>
            <a:endParaRPr lang="en-US" sz="18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F"/>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lIns="0" tIns="0" rIns="0" bIns="0" rtlCol="0" anchor="ctr"/>
          <a:lstStyle/>
          <a:p>
            <a:pPr algn="l" indent="0" marL="0">
              <a:buNone/>
            </a:pPr>
            <a:r>
              <a:rPr lang="en-US" sz="3200" b="1" dirty="0">
                <a:solidFill>
                  <a:srgbClr val="12355B"/>
                </a:solidFill>
                <a:latin typeface="Cambria" pitchFamily="34" charset="0"/>
                <a:ea typeface="Cambria" pitchFamily="34" charset="-122"/>
                <a:cs typeface="Cambria" pitchFamily="34" charset="-120"/>
              </a:rPr>
              <a:t>Three models were practically tied</a:t>
            </a:r>
            <a:endParaRPr lang="en-US" sz="3200" dirty="0"/>
          </a:p>
        </p:txBody>
      </p:sp>
      <p:graphicFrame>
        <p:nvGraphicFramePr>
          <p:cNvPr id="9" name="model table"/>
          <p:cNvGraphicFramePr>
            <a:graphicFrameLocks noGrp="1"/>
          </p:cNvGraphicFramePr>
          <p:nvPr>
            <p:extLst>
              <p:ext uri="{D42A27DB-BD31-4B8C-83A1-F6EECF244321}">
                <p14:modId xmlns:p14="http://schemas.microsoft.com/office/powerpoint/2010/main" val="1579011935"/>
              </p:ext>
            </p:extLst>
          </p:nvPr>
        </p:nvGraphicFramePr>
        <p:xfrm>
          <a:off x="548640" y="1417320"/>
          <a:ext cx="7223760" cy="914400"/>
        </p:xfrm>
        <a:graphic>
          <a:graphicData uri="http://schemas.openxmlformats.org/drawingml/2006/table">
            <a:tbl>
              <a:tblPr/>
              <a:tblGrid>
                <a:gridCol w="3474720"/>
                <a:gridCol w="1234440"/>
                <a:gridCol w="1234440"/>
                <a:gridCol w="1280160"/>
              </a:tblGrid>
              <a:tr h="566928">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Model (validation, n = 1,487)</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2355B"/>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ROC-AUC</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2355B"/>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Log loss</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2355B"/>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Brier</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2355B"/>
                    </a:solidFill>
                  </a:tcPr>
                </a:tc>
              </a:tr>
              <a:tr h="566928">
                <a:tc>
                  <a:txBody>
                    <a:bodyPr/>
                    <a:lstStyle/>
                    <a:p>
                      <a:pPr algn="l" indent="0" marL="0">
                        <a:buNone/>
                      </a:pPr>
                      <a:r>
                        <a:rPr lang="en-US" sz="1400" b="1" dirty="0">
                          <a:solidFill>
                            <a:srgbClr val="1A2233"/>
                          </a:solidFill>
                          <a:latin typeface="Calibri" pitchFamily="34" charset="0"/>
                          <a:ea typeface="Calibri" pitchFamily="34" charset="-122"/>
                          <a:cs typeface="Calibri" pitchFamily="34" charset="-120"/>
                        </a:rPr>
                        <a:t>Logistic regression B (LR_B)</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EEF3F8"/>
                    </a:solidFill>
                  </a:tcPr>
                </a:tc>
                <a:tc>
                  <a:txBody>
                    <a:bodyPr/>
                    <a:lstStyle/>
                    <a:p>
                      <a:pPr algn="ctr" indent="0" marL="0">
                        <a:buNone/>
                      </a:pPr>
                      <a:r>
                        <a:rPr lang="en-US" sz="1400" b="1" dirty="0">
                          <a:solidFill>
                            <a:srgbClr val="1A2233"/>
                          </a:solidFill>
                          <a:latin typeface="Calibri" pitchFamily="34" charset="0"/>
                          <a:ea typeface="Calibri" pitchFamily="34" charset="-122"/>
                          <a:cs typeface="Calibri" pitchFamily="34" charset="-120"/>
                        </a:rPr>
                        <a:t>0.872</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EEF3F8"/>
                    </a:solidFill>
                  </a:tcPr>
                </a:tc>
                <a:tc>
                  <a:txBody>
                    <a:bodyPr/>
                    <a:lstStyle/>
                    <a:p>
                      <a:pPr algn="ctr" indent="0" marL="0">
                        <a:buNone/>
                      </a:pPr>
                      <a:r>
                        <a:rPr lang="en-US" sz="1400" b="1" dirty="0">
                          <a:solidFill>
                            <a:srgbClr val="1A2233"/>
                          </a:solidFill>
                          <a:latin typeface="Calibri" pitchFamily="34" charset="0"/>
                          <a:ea typeface="Calibri" pitchFamily="34" charset="-122"/>
                          <a:cs typeface="Calibri" pitchFamily="34" charset="-120"/>
                        </a:rPr>
                        <a:t>0.441</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EEF3F8"/>
                    </a:solidFill>
                  </a:tcPr>
                </a:tc>
                <a:tc>
                  <a:txBody>
                    <a:bodyPr/>
                    <a:lstStyle/>
                    <a:p>
                      <a:pPr algn="ctr" indent="0" marL="0">
                        <a:buNone/>
                      </a:pPr>
                      <a:r>
                        <a:rPr lang="en-US" sz="1400" b="1" dirty="0">
                          <a:solidFill>
                            <a:srgbClr val="1A2233"/>
                          </a:solidFill>
                          <a:latin typeface="Calibri" pitchFamily="34" charset="0"/>
                          <a:ea typeface="Calibri" pitchFamily="34" charset="-122"/>
                          <a:cs typeface="Calibri" pitchFamily="34" charset="-120"/>
                        </a:rPr>
                        <a:t>0.141</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EEF3F8"/>
                    </a:solidFill>
                  </a:tcPr>
                </a:tc>
              </a:tr>
              <a:tr h="566928">
                <a:tc>
                  <a:txBody>
                    <a:bodyPr/>
                    <a:lstStyle/>
                    <a:p>
                      <a:pPr algn="l" indent="0" marL="0">
                        <a:buNone/>
                      </a:pPr>
                      <a:r>
                        <a:rPr lang="en-US" sz="1400" dirty="0">
                          <a:solidFill>
                            <a:srgbClr val="1A2233"/>
                          </a:solidFill>
                          <a:latin typeface="Calibri" pitchFamily="34" charset="0"/>
                          <a:ea typeface="Calibri" pitchFamily="34" charset="-122"/>
                          <a:cs typeface="Calibri" pitchFamily="34" charset="-120"/>
                        </a:rPr>
                        <a:t>Gradient boosting B (GB_B)</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EEF3F8"/>
                    </a:solidFill>
                  </a:tcPr>
                </a:tc>
                <a:tc>
                  <a:txBody>
                    <a:bodyPr/>
                    <a:lstStyle/>
                    <a:p>
                      <a:pPr algn="ctr" indent="0" marL="0">
                        <a:buNone/>
                      </a:pPr>
                      <a:r>
                        <a:rPr lang="en-US" sz="1400" dirty="0">
                          <a:solidFill>
                            <a:srgbClr val="1A2233"/>
                          </a:solidFill>
                          <a:latin typeface="Calibri" pitchFamily="34" charset="0"/>
                          <a:ea typeface="Calibri" pitchFamily="34" charset="-122"/>
                          <a:cs typeface="Calibri" pitchFamily="34" charset="-120"/>
                        </a:rPr>
                        <a:t>0.871</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EEF3F8"/>
                    </a:solidFill>
                  </a:tcPr>
                </a:tc>
                <a:tc>
                  <a:txBody>
                    <a:bodyPr/>
                    <a:lstStyle/>
                    <a:p>
                      <a:pPr algn="ctr" indent="0" marL="0">
                        <a:buNone/>
                      </a:pPr>
                      <a:r>
                        <a:rPr lang="en-US" sz="1400" dirty="0">
                          <a:solidFill>
                            <a:srgbClr val="1A2233"/>
                          </a:solidFill>
                          <a:latin typeface="Calibri" pitchFamily="34" charset="0"/>
                          <a:ea typeface="Calibri" pitchFamily="34" charset="-122"/>
                          <a:cs typeface="Calibri" pitchFamily="34" charset="-120"/>
                        </a:rPr>
                        <a:t>0.441</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EEF3F8"/>
                    </a:solidFill>
                  </a:tcPr>
                </a:tc>
                <a:tc>
                  <a:txBody>
                    <a:bodyPr/>
                    <a:lstStyle/>
                    <a:p>
                      <a:pPr algn="ctr" indent="0" marL="0">
                        <a:buNone/>
                      </a:pPr>
                      <a:r>
                        <a:rPr lang="en-US" sz="1400" dirty="0">
                          <a:solidFill>
                            <a:srgbClr val="1A2233"/>
                          </a:solidFill>
                          <a:latin typeface="Calibri" pitchFamily="34" charset="0"/>
                          <a:ea typeface="Calibri" pitchFamily="34" charset="-122"/>
                          <a:cs typeface="Calibri" pitchFamily="34" charset="-120"/>
                        </a:rPr>
                        <a:t>0.142</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EEF3F8"/>
                    </a:solidFill>
                  </a:tcPr>
                </a:tc>
              </a:tr>
              <a:tr h="566928">
                <a:tc>
                  <a:txBody>
                    <a:bodyPr/>
                    <a:lstStyle/>
                    <a:p>
                      <a:pPr algn="l" indent="0" marL="0">
                        <a:buNone/>
                      </a:pPr>
                      <a:r>
                        <a:rPr lang="en-US" sz="1400" dirty="0">
                          <a:solidFill>
                            <a:srgbClr val="1A2233"/>
                          </a:solidFill>
                          <a:latin typeface="Calibri" pitchFamily="34" charset="0"/>
                          <a:ea typeface="Calibri" pitchFamily="34" charset="-122"/>
                          <a:cs typeface="Calibri" pitchFamily="34" charset="-120"/>
                        </a:rPr>
                        <a:t>Random forest B (RF_B)</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EEF3F8"/>
                    </a:solidFill>
                  </a:tcPr>
                </a:tc>
                <a:tc>
                  <a:txBody>
                    <a:bodyPr/>
                    <a:lstStyle/>
                    <a:p>
                      <a:pPr algn="ctr" indent="0" marL="0">
                        <a:buNone/>
                      </a:pPr>
                      <a:r>
                        <a:rPr lang="en-US" sz="1400" dirty="0">
                          <a:solidFill>
                            <a:srgbClr val="1A2233"/>
                          </a:solidFill>
                          <a:latin typeface="Calibri" pitchFamily="34" charset="0"/>
                          <a:ea typeface="Calibri" pitchFamily="34" charset="-122"/>
                          <a:cs typeface="Calibri" pitchFamily="34" charset="-120"/>
                        </a:rPr>
                        <a:t>0.869</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EEF3F8"/>
                    </a:solidFill>
                  </a:tcPr>
                </a:tc>
                <a:tc>
                  <a:txBody>
                    <a:bodyPr/>
                    <a:lstStyle/>
                    <a:p>
                      <a:pPr algn="ctr" indent="0" marL="0">
                        <a:buNone/>
                      </a:pPr>
                      <a:r>
                        <a:rPr lang="en-US" sz="1400" dirty="0">
                          <a:solidFill>
                            <a:srgbClr val="1A2233"/>
                          </a:solidFill>
                          <a:latin typeface="Calibri" pitchFamily="34" charset="0"/>
                          <a:ea typeface="Calibri" pitchFamily="34" charset="-122"/>
                          <a:cs typeface="Calibri" pitchFamily="34" charset="-120"/>
                        </a:rPr>
                        <a:t>0.443</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EEF3F8"/>
                    </a:solidFill>
                  </a:tcPr>
                </a:tc>
                <a:tc>
                  <a:txBody>
                    <a:bodyPr/>
                    <a:lstStyle/>
                    <a:p>
                      <a:pPr algn="ctr" indent="0" marL="0">
                        <a:buNone/>
                      </a:pPr>
                      <a:r>
                        <a:rPr lang="en-US" sz="1400" dirty="0">
                          <a:solidFill>
                            <a:srgbClr val="1A2233"/>
                          </a:solidFill>
                          <a:latin typeface="Calibri" pitchFamily="34" charset="0"/>
                          <a:ea typeface="Calibri" pitchFamily="34" charset="-122"/>
                          <a:cs typeface="Calibri" pitchFamily="34" charset="-120"/>
                        </a:rPr>
                        <a:t>0.143</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EEF3F8"/>
                    </a:solidFill>
                  </a:tcPr>
                </a:tc>
              </a:tr>
              <a:tr h="566928">
                <a:tc>
                  <a:txBody>
                    <a:bodyPr/>
                    <a:lstStyle/>
                    <a:p>
                      <a:pPr algn="l" indent="0" marL="0">
                        <a:buNone/>
                      </a:pPr>
                      <a:r>
                        <a:rPr lang="en-US" sz="1400" dirty="0">
                          <a:solidFill>
                            <a:srgbClr val="1A2233"/>
                          </a:solidFill>
                          <a:latin typeface="Calibri" pitchFamily="34" charset="0"/>
                          <a:ea typeface="Calibri" pitchFamily="34" charset="-122"/>
                          <a:cs typeface="Calibri" pitchFamily="34" charset="-120"/>
                        </a:rPr>
                        <a:t>Decision tree B</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A2233"/>
                          </a:solidFill>
                          <a:latin typeface="Calibri" pitchFamily="34" charset="0"/>
                          <a:ea typeface="Calibri" pitchFamily="34" charset="-122"/>
                          <a:cs typeface="Calibri" pitchFamily="34" charset="-120"/>
                        </a:rPr>
                        <a:t>0.846</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A2233"/>
                          </a:solidFill>
                          <a:latin typeface="Calibri" pitchFamily="34" charset="0"/>
                          <a:ea typeface="Calibri" pitchFamily="34" charset="-122"/>
                          <a:cs typeface="Calibri" pitchFamily="34" charset="-120"/>
                        </a:rPr>
                        <a:t>0.480</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A2233"/>
                          </a:solidFill>
                          <a:latin typeface="Calibri" pitchFamily="34" charset="0"/>
                          <a:ea typeface="Calibri" pitchFamily="34" charset="-122"/>
                          <a:cs typeface="Calibri" pitchFamily="34" charset="-120"/>
                        </a:rPr>
                        <a:t>0.155</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r>
              <a:tr h="566928">
                <a:tc>
                  <a:txBody>
                    <a:bodyPr/>
                    <a:lstStyle/>
                    <a:p>
                      <a:pPr algn="l" indent="0" marL="0">
                        <a:buNone/>
                      </a:pPr>
                      <a:r>
                        <a:rPr lang="en-US" sz="1400" dirty="0">
                          <a:solidFill>
                            <a:srgbClr val="1A2233"/>
                          </a:solidFill>
                          <a:latin typeface="Calibri" pitchFamily="34" charset="0"/>
                          <a:ea typeface="Calibri" pitchFamily="34" charset="-122"/>
                          <a:cs typeface="Calibri" pitchFamily="34" charset="-120"/>
                        </a:rPr>
                        <a:t>Dummy (base rate)</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A2233"/>
                          </a:solidFill>
                          <a:latin typeface="Calibri" pitchFamily="34" charset="0"/>
                          <a:ea typeface="Calibri" pitchFamily="34" charset="-122"/>
                          <a:cs typeface="Calibri" pitchFamily="34" charset="-120"/>
                        </a:rPr>
                        <a:t>0.500</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A2233"/>
                          </a:solidFill>
                          <a:latin typeface="Calibri" pitchFamily="34" charset="0"/>
                          <a:ea typeface="Calibri" pitchFamily="34" charset="-122"/>
                          <a:cs typeface="Calibri" pitchFamily="34" charset="-120"/>
                        </a:rPr>
                        <a:t>0.679</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A2233"/>
                          </a:solidFill>
                          <a:latin typeface="Calibri" pitchFamily="34" charset="0"/>
                          <a:ea typeface="Calibri" pitchFamily="34" charset="-122"/>
                          <a:cs typeface="Calibri" pitchFamily="34" charset="-120"/>
                        </a:rPr>
                        <a:t>0.243</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r>
            </a:tbl>
          </a:graphicData>
        </a:graphic>
      </p:graphicFrame>
      <p:sp>
        <p:nvSpPr>
          <p:cNvPr id="5" name="tie bracket"/>
          <p:cNvSpPr/>
          <p:nvPr/>
        </p:nvSpPr>
        <p:spPr>
          <a:xfrm>
            <a:off x="7909560" y="1984248"/>
            <a:ext cx="256032" cy="1700784"/>
          </a:xfrm>
          <a:prstGeom prst="roundRect">
            <a:avLst>
              <a:gd name="adj" fmla="val 21429"/>
            </a:avLst>
          </a:prstGeom>
          <a:solidFill>
            <a:srgbClr val="17798A"/>
          </a:solidFill>
          <a:ln w="12700">
            <a:solidFill>
              <a:srgbClr val="17798A"/>
            </a:solidFill>
            <a:prstDash val="solid"/>
          </a:ln>
        </p:spPr>
      </p:sp>
      <p:sp>
        <p:nvSpPr>
          <p:cNvPr id="6" name="Text 2"/>
          <p:cNvSpPr txBox="1"/>
          <p:nvPr/>
        </p:nvSpPr>
        <p:spPr>
          <a:xfrm>
            <a:off x="8275320" y="2468880"/>
            <a:ext cx="1737360" cy="640080"/>
          </a:xfrm>
          <a:prstGeom prst="rect">
            <a:avLst/>
          </a:prstGeom>
          <a:noFill/>
          <a:ln/>
        </p:spPr>
        <p:txBody>
          <a:bodyPr wrap="square" lIns="0" tIns="0" rIns="0" bIns="0" rtlCol="0" anchor="ctr"/>
          <a:lstStyle/>
          <a:p>
            <a:pPr indent="0" marL="0">
              <a:buNone/>
            </a:pPr>
            <a:r>
              <a:rPr lang="en-US" sz="1600" b="1" dirty="0">
                <a:solidFill>
                  <a:srgbClr val="17798A"/>
                </a:solidFill>
                <a:latin typeface="Calibri" pitchFamily="34" charset="0"/>
                <a:ea typeface="Calibri" pitchFamily="34" charset="-122"/>
                <a:cs typeface="Calibri" pitchFamily="34" charset="-120"/>
              </a:rPr>
              <a:t>practically tied</a:t>
            </a:r>
            <a:endParaRPr lang="en-US" sz="1600" dirty="0"/>
          </a:p>
        </p:txBody>
      </p:sp>
      <p:sp>
        <p:nvSpPr>
          <p:cNvPr id="7" name="note"/>
          <p:cNvSpPr/>
          <p:nvPr/>
        </p:nvSpPr>
        <p:spPr>
          <a:xfrm>
            <a:off x="548640" y="5029200"/>
            <a:ext cx="7223760" cy="1097280"/>
          </a:xfrm>
          <a:prstGeom prst="roundRect">
            <a:avLst>
              <a:gd name="adj" fmla="val 8333"/>
            </a:avLst>
          </a:prstGeom>
          <a:solidFill>
            <a:srgbClr val="FFFFFF"/>
          </a:solidFill>
          <a:ln w="12700">
            <a:solidFill>
              <a:srgbClr val="C9D3DF"/>
            </a:solidFill>
            <a:prstDash val="solid"/>
          </a:ln>
        </p:spPr>
      </p:sp>
      <p:sp>
        <p:nvSpPr>
          <p:cNvPr id="8" name="Text 4"/>
          <p:cNvSpPr txBox="1"/>
          <p:nvPr/>
        </p:nvSpPr>
        <p:spPr>
          <a:xfrm>
            <a:off x="777240" y="5074920"/>
            <a:ext cx="6766560" cy="1005840"/>
          </a:xfrm>
          <a:prstGeom prst="rect">
            <a:avLst/>
          </a:prstGeom>
          <a:noFill/>
          <a:ln/>
        </p:spPr>
        <p:txBody>
          <a:bodyPr wrap="square" lIns="0" tIns="0" rIns="0" bIns="0" rtlCol="0" anchor="ctr"/>
          <a:lstStyle/>
          <a:p>
            <a:pPr indent="0" marL="0">
              <a:buNone/>
            </a:pPr>
            <a:r>
              <a:rPr lang="en-US" sz="1600" dirty="0">
                <a:solidFill>
                  <a:srgbClr val="1A2233"/>
                </a:solidFill>
                <a:latin typeface="Calibri" pitchFamily="34" charset="0"/>
                <a:ea typeface="Calibri" pitchFamily="34" charset="-122"/>
                <a:cs typeface="Calibri" pitchFamily="34" charset="-120"/>
              </a:rPr>
              <a:t>Differences among the three are far smaller than their bootstrap intervals (e.g. LR_B AUC 95% CI 0.854–0.890).</a:t>
            </a:r>
            <a:endParaRPr lang="en-US" sz="1600" dirty="0"/>
          </a:p>
        </p:txBody>
      </p:sp>
      <p:sp>
        <p:nvSpPr>
          <p:cNvPr id="9" name="retained card"/>
          <p:cNvSpPr/>
          <p:nvPr/>
        </p:nvSpPr>
        <p:spPr>
          <a:xfrm>
            <a:off x="8229600" y="3703320"/>
            <a:ext cx="3383280" cy="2423160"/>
          </a:xfrm>
          <a:prstGeom prst="roundRect">
            <a:avLst>
              <a:gd name="adj" fmla="val 3774"/>
            </a:avLst>
          </a:prstGeom>
          <a:solidFill>
            <a:srgbClr val="12355B"/>
          </a:solidFill>
          <a:ln w="12700">
            <a:solidFill>
              <a:srgbClr val="12355B"/>
            </a:solidFill>
            <a:prstDash val="solid"/>
          </a:ln>
        </p:spPr>
      </p:sp>
      <p:sp>
        <p:nvSpPr>
          <p:cNvPr id="10" name="Text 6"/>
          <p:cNvSpPr txBox="1"/>
          <p:nvPr/>
        </p:nvSpPr>
        <p:spPr>
          <a:xfrm>
            <a:off x="8412480" y="3840480"/>
            <a:ext cx="3063240" cy="2103120"/>
          </a:xfrm>
          <a:prstGeom prst="rect">
            <a:avLst/>
          </a:prstGeom>
          <a:noFill/>
          <a:ln/>
        </p:spPr>
        <p:txBody>
          <a:bodyPr wrap="square" lIns="0" tIns="0" rIns="0" bIns="0" rtlCol="0" anchor="t"/>
          <a:lstStyle/>
          <a:p>
            <a:pPr indent="0" marL="0">
              <a:spcAft>
                <a:spcPts val="600"/>
              </a:spcAft>
              <a:buNone/>
            </a:pPr>
            <a:r>
              <a:rPr lang="en-US" sz="2200" b="1" dirty="0">
                <a:solidFill>
                  <a:srgbClr val="E8A33D"/>
                </a:solidFill>
                <a:latin typeface="Calibri" pitchFamily="34" charset="0"/>
                <a:ea typeface="Calibri" pitchFamily="34" charset="-122"/>
                <a:cs typeface="Calibri" pitchFamily="34" charset="-120"/>
              </a:rPr>
              <a:t>Retained: LR_B</a:t>
            </a:r>
            <a:endParaRPr lang="en-US" sz="1600" dirty="0"/>
          </a:p>
          <a:p>
            <a:pPr marL="342900" indent="-342900">
              <a:spcAft>
                <a:spcPts val="600"/>
              </a:spcAft>
              <a:buSzPct val="100000"/>
              <a:buChar char="•"/>
            </a:pPr>
            <a:r>
              <a:rPr lang="en-US" sz="1600" dirty="0">
                <a:solidFill>
                  <a:srgbClr val="FFFFFF"/>
                </a:solidFill>
                <a:latin typeface="Calibri" pitchFamily="34" charset="0"/>
                <a:ea typeface="Calibri" pitchFamily="34" charset="-122"/>
                <a:cs typeface="Calibri" pitchFamily="34" charset="-120"/>
              </a:rPr>
              <a:t>interpretable coefficients</a:t>
            </a:r>
            <a:endParaRPr lang="en-US" sz="1600" dirty="0"/>
          </a:p>
          <a:p>
            <a:pPr marL="342900" indent="-342900">
              <a:spcAft>
                <a:spcPts val="600"/>
              </a:spcAft>
              <a:buSzPct val="100000"/>
              <a:buChar char="•"/>
            </a:pPr>
            <a:r>
              <a:rPr lang="en-US" sz="1600" dirty="0">
                <a:solidFill>
                  <a:srgbClr val="FFFFFF"/>
                </a:solidFill>
                <a:latin typeface="Calibri" pitchFamily="34" charset="0"/>
                <a:ea typeface="Calibri" pitchFamily="34" charset="-122"/>
                <a:cs typeface="Calibri" pitchFamily="34" charset="-120"/>
              </a:rPr>
              <a:t>strong probability performance</a:t>
            </a:r>
            <a:endParaRPr lang="en-US" sz="1600" dirty="0"/>
          </a:p>
          <a:p>
            <a:pPr marL="342900" indent="-342900">
              <a:spcAft>
                <a:spcPts val="600"/>
              </a:spcAft>
              <a:buSzPct val="100000"/>
              <a:buChar char="•"/>
            </a:pPr>
            <a:r>
              <a:rPr lang="en-US" sz="1600" dirty="0">
                <a:solidFill>
                  <a:srgbClr val="FFFFFF"/>
                </a:solidFill>
                <a:latin typeface="Calibri" pitchFamily="34" charset="0"/>
                <a:ea typeface="Calibri" pitchFamily="34" charset="-122"/>
                <a:cs typeface="Calibri" pitchFamily="34" charset="-120"/>
              </a:rPr>
              <a:t>simplest of the tied models</a:t>
            </a:r>
            <a:endParaRPr lang="en-US" sz="1600" dirty="0"/>
          </a:p>
        </p:txBody>
      </p:sp>
      <p:sp>
        <p:nvSpPr>
          <p:cNvPr id="11" name="Text 7"/>
          <p:cNvSpPr txBox="1"/>
          <p:nvPr/>
        </p:nvSpPr>
        <p:spPr>
          <a:xfrm>
            <a:off x="8229600" y="1417320"/>
            <a:ext cx="3383280" cy="914400"/>
          </a:xfrm>
          <a:prstGeom prst="rect">
            <a:avLst/>
          </a:prstGeom>
          <a:noFill/>
          <a:ln/>
        </p:spPr>
        <p:txBody>
          <a:bodyPr wrap="square" lIns="0" tIns="0" rIns="0" bIns="0" rtlCol="0" anchor="t"/>
          <a:lstStyle/>
          <a:p>
            <a:pPr indent="0" marL="0">
              <a:buNone/>
            </a:pPr>
            <a:r>
              <a:rPr lang="en-US" sz="1400" i="1" dirty="0">
                <a:solidFill>
                  <a:srgbClr val="5B6B7F"/>
                </a:solidFill>
                <a:latin typeface="Calibri" pitchFamily="34" charset="0"/>
                <a:ea typeface="Calibri" pitchFamily="34" charset="-122"/>
                <a:cs typeface="Calibri" pitchFamily="34" charset="-120"/>
              </a:rPr>
              <a:t>For this dataset and protocol; not a claim of general superiority.</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F"/>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lIns="0" tIns="0" rIns="0" bIns="0" rtlCol="0" anchor="ctr"/>
          <a:lstStyle/>
          <a:p>
            <a:pPr algn="l" indent="0" marL="0">
              <a:buNone/>
            </a:pPr>
            <a:r>
              <a:rPr lang="en-US" sz="3200" b="1" dirty="0">
                <a:solidFill>
                  <a:srgbClr val="12355B"/>
                </a:solidFill>
                <a:latin typeface="Cambria" pitchFamily="34" charset="0"/>
                <a:ea typeface="Cambria" pitchFamily="34" charset="-122"/>
                <a:cs typeface="Cambria" pitchFamily="34" charset="-120"/>
              </a:rPr>
              <a:t>Raw probabilities were already well calibrated</a:t>
            </a:r>
            <a:endParaRPr lang="en-US" sz="3200" dirty="0"/>
          </a:p>
        </p:txBody>
      </p:sp>
      <p:sp>
        <p:nvSpPr>
          <p:cNvPr id="4" name="cv card"/>
          <p:cNvSpPr/>
          <p:nvPr/>
        </p:nvSpPr>
        <p:spPr>
          <a:xfrm>
            <a:off x="548640" y="1325880"/>
            <a:ext cx="3566160" cy="3794760"/>
          </a:xfrm>
          <a:prstGeom prst="roundRect">
            <a:avLst>
              <a:gd name="adj" fmla="val 2564"/>
            </a:avLst>
          </a:prstGeom>
          <a:solidFill>
            <a:srgbClr val="EEF3F8"/>
          </a:solidFill>
          <a:ln w="12700">
            <a:solidFill>
              <a:srgbClr val="EEF3F8"/>
            </a:solidFill>
            <a:prstDash val="solid"/>
          </a:ln>
        </p:spPr>
      </p:sp>
      <p:sp>
        <p:nvSpPr>
          <p:cNvPr id="5" name="Text 2"/>
          <p:cNvSpPr txBox="1"/>
          <p:nvPr/>
        </p:nvSpPr>
        <p:spPr>
          <a:xfrm>
            <a:off x="777240" y="1417320"/>
            <a:ext cx="3108960" cy="411480"/>
          </a:xfrm>
          <a:prstGeom prst="rect">
            <a:avLst/>
          </a:prstGeom>
          <a:noFill/>
          <a:ln/>
        </p:spPr>
        <p:txBody>
          <a:bodyPr wrap="square" lIns="0" tIns="0" rIns="0" bIns="0" rtlCol="0" anchor="t"/>
          <a:lstStyle/>
          <a:p>
            <a:pPr indent="0" marL="0">
              <a:buNone/>
            </a:pPr>
            <a:r>
              <a:rPr lang="en-US" sz="2000" b="1" dirty="0">
                <a:solidFill>
                  <a:srgbClr val="12355B"/>
                </a:solidFill>
                <a:latin typeface="Calibri" pitchFamily="34" charset="0"/>
                <a:ea typeface="Calibri" pitchFamily="34" charset="-122"/>
                <a:cs typeface="Calibri" pitchFamily="34" charset="-120"/>
              </a:rPr>
              <a:t>5-fold CV (train)</a:t>
            </a:r>
            <a:endParaRPr lang="en-US" sz="2000" dirty="0"/>
          </a:p>
        </p:txBody>
      </p:sp>
      <p:sp>
        <p:nvSpPr>
          <p:cNvPr id="6" name="Text 3"/>
          <p:cNvSpPr txBox="1"/>
          <p:nvPr/>
        </p:nvSpPr>
        <p:spPr>
          <a:xfrm>
            <a:off x="777240" y="2011680"/>
            <a:ext cx="3108960" cy="274320"/>
          </a:xfrm>
          <a:prstGeom prst="rect">
            <a:avLst/>
          </a:prstGeom>
          <a:noFill/>
          <a:ln/>
        </p:spPr>
        <p:txBody>
          <a:bodyPr wrap="square" lIns="0" tIns="0" rIns="0" bIns="0" rtlCol="0" anchor="t"/>
          <a:lstStyle/>
          <a:p>
            <a:pPr indent="0" marL="0">
              <a:buNone/>
            </a:pPr>
            <a:r>
              <a:rPr lang="en-US" sz="1400" dirty="0">
                <a:solidFill>
                  <a:srgbClr val="5B6B7F"/>
                </a:solidFill>
                <a:latin typeface="Calibri" pitchFamily="34" charset="0"/>
                <a:ea typeface="Calibri" pitchFamily="34" charset="-122"/>
                <a:cs typeface="Calibri" pitchFamily="34" charset="-120"/>
              </a:rPr>
              <a:t>ROC-AUC</a:t>
            </a:r>
            <a:endParaRPr lang="en-US" sz="1400" dirty="0"/>
          </a:p>
        </p:txBody>
      </p:sp>
      <p:sp>
        <p:nvSpPr>
          <p:cNvPr id="7" name="Text 4"/>
          <p:cNvSpPr txBox="1"/>
          <p:nvPr/>
        </p:nvSpPr>
        <p:spPr>
          <a:xfrm>
            <a:off x="777240" y="2286000"/>
            <a:ext cx="3108960" cy="548640"/>
          </a:xfrm>
          <a:prstGeom prst="rect">
            <a:avLst/>
          </a:prstGeom>
          <a:noFill/>
          <a:ln/>
        </p:spPr>
        <p:txBody>
          <a:bodyPr wrap="square" lIns="0" tIns="0" rIns="0" bIns="0" rtlCol="0" anchor="t"/>
          <a:lstStyle/>
          <a:p>
            <a:pPr indent="0" marL="0">
              <a:buNone/>
            </a:pPr>
            <a:r>
              <a:rPr lang="en-US" sz="2800" b="1" dirty="0">
                <a:solidFill>
                  <a:srgbClr val="12355B"/>
                </a:solidFill>
                <a:latin typeface="Cambria" pitchFamily="34" charset="0"/>
                <a:ea typeface="Cambria" pitchFamily="34" charset="-122"/>
                <a:cs typeface="Cambria" pitchFamily="34" charset="-120"/>
              </a:rPr>
              <a:t>0.879 ± 0.010</a:t>
            </a:r>
            <a:endParaRPr lang="en-US" sz="2800" dirty="0"/>
          </a:p>
        </p:txBody>
      </p:sp>
      <p:sp>
        <p:nvSpPr>
          <p:cNvPr id="8" name="Text 5"/>
          <p:cNvSpPr txBox="1"/>
          <p:nvPr/>
        </p:nvSpPr>
        <p:spPr>
          <a:xfrm>
            <a:off x="777240" y="3017520"/>
            <a:ext cx="3108960" cy="274320"/>
          </a:xfrm>
          <a:prstGeom prst="rect">
            <a:avLst/>
          </a:prstGeom>
          <a:noFill/>
          <a:ln/>
        </p:spPr>
        <p:txBody>
          <a:bodyPr wrap="square" lIns="0" tIns="0" rIns="0" bIns="0" rtlCol="0" anchor="t"/>
          <a:lstStyle/>
          <a:p>
            <a:pPr indent="0" marL="0">
              <a:buNone/>
            </a:pPr>
            <a:r>
              <a:rPr lang="en-US" sz="1400" dirty="0">
                <a:solidFill>
                  <a:srgbClr val="5B6B7F"/>
                </a:solidFill>
                <a:latin typeface="Calibri" pitchFamily="34" charset="0"/>
                <a:ea typeface="Calibri" pitchFamily="34" charset="-122"/>
                <a:cs typeface="Calibri" pitchFamily="34" charset="-120"/>
              </a:rPr>
              <a:t>Log loss</a:t>
            </a:r>
            <a:endParaRPr lang="en-US" sz="1400" dirty="0"/>
          </a:p>
        </p:txBody>
      </p:sp>
      <p:sp>
        <p:nvSpPr>
          <p:cNvPr id="9" name="Text 6"/>
          <p:cNvSpPr txBox="1"/>
          <p:nvPr/>
        </p:nvSpPr>
        <p:spPr>
          <a:xfrm>
            <a:off x="777240" y="3291840"/>
            <a:ext cx="3108960" cy="548640"/>
          </a:xfrm>
          <a:prstGeom prst="rect">
            <a:avLst/>
          </a:prstGeom>
          <a:noFill/>
          <a:ln/>
        </p:spPr>
        <p:txBody>
          <a:bodyPr wrap="square" lIns="0" tIns="0" rIns="0" bIns="0" rtlCol="0" anchor="t"/>
          <a:lstStyle/>
          <a:p>
            <a:pPr indent="0" marL="0">
              <a:buNone/>
            </a:pPr>
            <a:r>
              <a:rPr lang="en-US" sz="2800" b="1" dirty="0">
                <a:solidFill>
                  <a:srgbClr val="12355B"/>
                </a:solidFill>
                <a:latin typeface="Cambria" pitchFamily="34" charset="0"/>
                <a:ea typeface="Cambria" pitchFamily="34" charset="-122"/>
                <a:cs typeface="Cambria" pitchFamily="34" charset="-120"/>
              </a:rPr>
              <a:t>0.431 ± 0.016</a:t>
            </a:r>
            <a:endParaRPr lang="en-US" sz="2800" dirty="0"/>
          </a:p>
        </p:txBody>
      </p:sp>
      <p:sp>
        <p:nvSpPr>
          <p:cNvPr id="10" name="Text 7"/>
          <p:cNvSpPr txBox="1"/>
          <p:nvPr/>
        </p:nvSpPr>
        <p:spPr>
          <a:xfrm>
            <a:off x="777240" y="4023360"/>
            <a:ext cx="3108960" cy="274320"/>
          </a:xfrm>
          <a:prstGeom prst="rect">
            <a:avLst/>
          </a:prstGeom>
          <a:noFill/>
          <a:ln/>
        </p:spPr>
        <p:txBody>
          <a:bodyPr wrap="square" lIns="0" tIns="0" rIns="0" bIns="0" rtlCol="0" anchor="t"/>
          <a:lstStyle/>
          <a:p>
            <a:pPr indent="0" marL="0">
              <a:buNone/>
            </a:pPr>
            <a:r>
              <a:rPr lang="en-US" sz="1400" dirty="0">
                <a:solidFill>
                  <a:srgbClr val="5B6B7F"/>
                </a:solidFill>
                <a:latin typeface="Calibri" pitchFamily="34" charset="0"/>
                <a:ea typeface="Calibri" pitchFamily="34" charset="-122"/>
                <a:cs typeface="Calibri" pitchFamily="34" charset="-120"/>
              </a:rPr>
              <a:t>Brier</a:t>
            </a:r>
            <a:endParaRPr lang="en-US" sz="1400" dirty="0"/>
          </a:p>
        </p:txBody>
      </p:sp>
      <p:sp>
        <p:nvSpPr>
          <p:cNvPr id="11" name="Text 8"/>
          <p:cNvSpPr txBox="1"/>
          <p:nvPr/>
        </p:nvSpPr>
        <p:spPr>
          <a:xfrm>
            <a:off x="777240" y="4297680"/>
            <a:ext cx="3108960" cy="548640"/>
          </a:xfrm>
          <a:prstGeom prst="rect">
            <a:avLst/>
          </a:prstGeom>
          <a:noFill/>
          <a:ln/>
        </p:spPr>
        <p:txBody>
          <a:bodyPr wrap="square" lIns="0" tIns="0" rIns="0" bIns="0" rtlCol="0" anchor="t"/>
          <a:lstStyle/>
          <a:p>
            <a:pPr indent="0" marL="0">
              <a:buNone/>
            </a:pPr>
            <a:r>
              <a:rPr lang="en-US" sz="2800" b="1" dirty="0">
                <a:solidFill>
                  <a:srgbClr val="12355B"/>
                </a:solidFill>
                <a:latin typeface="Cambria" pitchFamily="34" charset="0"/>
                <a:ea typeface="Cambria" pitchFamily="34" charset="-122"/>
                <a:cs typeface="Cambria" pitchFamily="34" charset="-120"/>
              </a:rPr>
              <a:t>0.139 ± 0.006</a:t>
            </a:r>
            <a:endParaRPr lang="en-US" sz="2800" dirty="0"/>
          </a:p>
        </p:txBody>
      </p:sp>
      <p:sp>
        <p:nvSpPr>
          <p:cNvPr id="12" name="calibration card"/>
          <p:cNvSpPr/>
          <p:nvPr/>
        </p:nvSpPr>
        <p:spPr>
          <a:xfrm>
            <a:off x="4297680" y="1325880"/>
            <a:ext cx="3566160" cy="3794760"/>
          </a:xfrm>
          <a:prstGeom prst="roundRect">
            <a:avLst>
              <a:gd name="adj" fmla="val 2564"/>
            </a:avLst>
          </a:prstGeom>
          <a:solidFill>
            <a:srgbClr val="EEF3F8"/>
          </a:solidFill>
          <a:ln w="12700">
            <a:solidFill>
              <a:srgbClr val="EEF3F8"/>
            </a:solidFill>
            <a:prstDash val="solid"/>
          </a:ln>
        </p:spPr>
      </p:sp>
      <p:sp>
        <p:nvSpPr>
          <p:cNvPr id="13" name="Text 10"/>
          <p:cNvSpPr txBox="1"/>
          <p:nvPr/>
        </p:nvSpPr>
        <p:spPr>
          <a:xfrm>
            <a:off x="4526280" y="1417320"/>
            <a:ext cx="3108960" cy="411480"/>
          </a:xfrm>
          <a:prstGeom prst="rect">
            <a:avLst/>
          </a:prstGeom>
          <a:noFill/>
          <a:ln/>
        </p:spPr>
        <p:txBody>
          <a:bodyPr wrap="square" lIns="0" tIns="0" rIns="0" bIns="0" rtlCol="0" anchor="t"/>
          <a:lstStyle/>
          <a:p>
            <a:pPr indent="0" marL="0">
              <a:buNone/>
            </a:pPr>
            <a:r>
              <a:rPr lang="en-US" sz="2000" b="1" dirty="0">
                <a:solidFill>
                  <a:srgbClr val="12355B"/>
                </a:solidFill>
                <a:latin typeface="Calibri" pitchFamily="34" charset="0"/>
                <a:ea typeface="Calibri" pitchFamily="34" charset="-122"/>
                <a:cs typeface="Calibri" pitchFamily="34" charset="-120"/>
              </a:rPr>
              <a:t>Calibration (LR_B)</a:t>
            </a:r>
            <a:endParaRPr lang="en-US" sz="2000" dirty="0"/>
          </a:p>
        </p:txBody>
      </p:sp>
      <p:sp>
        <p:nvSpPr>
          <p:cNvPr id="14" name="Text 11"/>
          <p:cNvSpPr txBox="1"/>
          <p:nvPr/>
        </p:nvSpPr>
        <p:spPr>
          <a:xfrm>
            <a:off x="4526280" y="2011680"/>
            <a:ext cx="3108960" cy="274320"/>
          </a:xfrm>
          <a:prstGeom prst="rect">
            <a:avLst/>
          </a:prstGeom>
          <a:noFill/>
          <a:ln/>
        </p:spPr>
        <p:txBody>
          <a:bodyPr wrap="square" lIns="0" tIns="0" rIns="0" bIns="0" rtlCol="0" anchor="t"/>
          <a:lstStyle/>
          <a:p>
            <a:pPr indent="0" marL="0">
              <a:buNone/>
            </a:pPr>
            <a:r>
              <a:rPr lang="en-US" sz="1400" dirty="0">
                <a:solidFill>
                  <a:srgbClr val="5B6B7F"/>
                </a:solidFill>
                <a:latin typeface="Calibri" pitchFamily="34" charset="0"/>
                <a:ea typeface="Calibri" pitchFamily="34" charset="-122"/>
                <a:cs typeface="Calibri" pitchFamily="34" charset="-120"/>
              </a:rPr>
              <a:t>Calibration slope (ideal 1)</a:t>
            </a:r>
            <a:endParaRPr lang="en-US" sz="1400" dirty="0"/>
          </a:p>
        </p:txBody>
      </p:sp>
      <p:sp>
        <p:nvSpPr>
          <p:cNvPr id="15" name="Text 12"/>
          <p:cNvSpPr txBox="1"/>
          <p:nvPr/>
        </p:nvSpPr>
        <p:spPr>
          <a:xfrm>
            <a:off x="4526280" y="2286000"/>
            <a:ext cx="3108960" cy="640080"/>
          </a:xfrm>
          <a:prstGeom prst="rect">
            <a:avLst/>
          </a:prstGeom>
          <a:noFill/>
          <a:ln/>
        </p:spPr>
        <p:txBody>
          <a:bodyPr wrap="square" lIns="0" tIns="0" rIns="0" bIns="0" rtlCol="0" anchor="t"/>
          <a:lstStyle/>
          <a:p>
            <a:pPr indent="0" marL="0">
              <a:buNone/>
            </a:pPr>
            <a:r>
              <a:rPr lang="en-US" sz="3600" b="1" dirty="0">
                <a:solidFill>
                  <a:srgbClr val="17798A"/>
                </a:solidFill>
                <a:latin typeface="Cambria" pitchFamily="34" charset="0"/>
                <a:ea typeface="Cambria" pitchFamily="34" charset="-122"/>
                <a:cs typeface="Cambria" pitchFamily="34" charset="-120"/>
              </a:rPr>
              <a:t>≈ 0.99</a:t>
            </a:r>
            <a:endParaRPr lang="en-US" sz="3600" dirty="0"/>
          </a:p>
        </p:txBody>
      </p:sp>
      <p:sp>
        <p:nvSpPr>
          <p:cNvPr id="16" name="Text 13"/>
          <p:cNvSpPr txBox="1"/>
          <p:nvPr/>
        </p:nvSpPr>
        <p:spPr>
          <a:xfrm>
            <a:off x="4526280" y="3246120"/>
            <a:ext cx="3108960" cy="274320"/>
          </a:xfrm>
          <a:prstGeom prst="rect">
            <a:avLst/>
          </a:prstGeom>
          <a:noFill/>
          <a:ln/>
        </p:spPr>
        <p:txBody>
          <a:bodyPr wrap="square" lIns="0" tIns="0" rIns="0" bIns="0" rtlCol="0" anchor="t"/>
          <a:lstStyle/>
          <a:p>
            <a:pPr indent="0" marL="0">
              <a:buNone/>
            </a:pPr>
            <a:r>
              <a:rPr lang="en-US" sz="1400" dirty="0">
                <a:solidFill>
                  <a:srgbClr val="5B6B7F"/>
                </a:solidFill>
                <a:latin typeface="Calibri" pitchFamily="34" charset="0"/>
                <a:ea typeface="Calibri" pitchFamily="34" charset="-122"/>
                <a:cs typeface="Calibri" pitchFamily="34" charset="-120"/>
              </a:rPr>
              <a:t>Expected calibration error</a:t>
            </a:r>
            <a:endParaRPr lang="en-US" sz="1400" dirty="0"/>
          </a:p>
        </p:txBody>
      </p:sp>
      <p:sp>
        <p:nvSpPr>
          <p:cNvPr id="17" name="Text 14"/>
          <p:cNvSpPr txBox="1"/>
          <p:nvPr/>
        </p:nvSpPr>
        <p:spPr>
          <a:xfrm>
            <a:off x="4526280" y="3520440"/>
            <a:ext cx="3108960" cy="640080"/>
          </a:xfrm>
          <a:prstGeom prst="rect">
            <a:avLst/>
          </a:prstGeom>
          <a:noFill/>
          <a:ln/>
        </p:spPr>
        <p:txBody>
          <a:bodyPr wrap="square" lIns="0" tIns="0" rIns="0" bIns="0" rtlCol="0" anchor="t"/>
          <a:lstStyle/>
          <a:p>
            <a:pPr indent="0" marL="0">
              <a:buNone/>
            </a:pPr>
            <a:r>
              <a:rPr lang="en-US" sz="3600" b="1" dirty="0">
                <a:solidFill>
                  <a:srgbClr val="17798A"/>
                </a:solidFill>
                <a:latin typeface="Cambria" pitchFamily="34" charset="0"/>
                <a:ea typeface="Cambria" pitchFamily="34" charset="-122"/>
                <a:cs typeface="Cambria" pitchFamily="34" charset="-120"/>
              </a:rPr>
              <a:t>≈ 0.021</a:t>
            </a:r>
            <a:endParaRPr lang="en-US" sz="3600" dirty="0"/>
          </a:p>
        </p:txBody>
      </p:sp>
      <p:sp>
        <p:nvSpPr>
          <p:cNvPr id="18" name="Text 15"/>
          <p:cNvSpPr txBox="1"/>
          <p:nvPr/>
        </p:nvSpPr>
        <p:spPr>
          <a:xfrm>
            <a:off x="4526280" y="4526280"/>
            <a:ext cx="3108960" cy="457200"/>
          </a:xfrm>
          <a:prstGeom prst="rect">
            <a:avLst/>
          </a:prstGeom>
          <a:noFill/>
          <a:ln/>
        </p:spPr>
        <p:txBody>
          <a:bodyPr wrap="square" lIns="0" tIns="0" rIns="0" bIns="0" rtlCol="0" anchor="t"/>
          <a:lstStyle/>
          <a:p>
            <a:pPr indent="0" marL="0">
              <a:buNone/>
            </a:pPr>
            <a:r>
              <a:rPr lang="en-US" sz="1200" dirty="0">
                <a:solidFill>
                  <a:srgbClr val="5B6B7F"/>
                </a:solidFill>
                <a:latin typeface="Calibri" pitchFamily="34" charset="0"/>
                <a:ea typeface="Calibri" pitchFamily="34" charset="-122"/>
                <a:cs typeface="Calibri" pitchFamily="34" charset="-120"/>
              </a:rPr>
              <a:t>Out-of-fold predictions, n = 6,938</a:t>
            </a:r>
            <a:endParaRPr lang="en-US" sz="1200" dirty="0"/>
          </a:p>
        </p:txBody>
      </p:sp>
      <p:sp>
        <p:nvSpPr>
          <p:cNvPr id="19" name="recalibration card"/>
          <p:cNvSpPr/>
          <p:nvPr/>
        </p:nvSpPr>
        <p:spPr>
          <a:xfrm>
            <a:off x="8046720" y="1325880"/>
            <a:ext cx="3566160" cy="3794760"/>
          </a:xfrm>
          <a:prstGeom prst="roundRect">
            <a:avLst>
              <a:gd name="adj" fmla="val 2564"/>
            </a:avLst>
          </a:prstGeom>
          <a:solidFill>
            <a:srgbClr val="EEF3F8"/>
          </a:solidFill>
          <a:ln w="12700">
            <a:solidFill>
              <a:srgbClr val="EEF3F8"/>
            </a:solidFill>
            <a:prstDash val="solid"/>
          </a:ln>
        </p:spPr>
      </p:sp>
      <p:sp>
        <p:nvSpPr>
          <p:cNvPr id="20" name="Text 17"/>
          <p:cNvSpPr txBox="1"/>
          <p:nvPr/>
        </p:nvSpPr>
        <p:spPr>
          <a:xfrm>
            <a:off x="8275320" y="1417320"/>
            <a:ext cx="3108960" cy="411480"/>
          </a:xfrm>
          <a:prstGeom prst="rect">
            <a:avLst/>
          </a:prstGeom>
          <a:noFill/>
          <a:ln/>
        </p:spPr>
        <p:txBody>
          <a:bodyPr wrap="square" lIns="0" tIns="0" rIns="0" bIns="0" rtlCol="0" anchor="t"/>
          <a:lstStyle/>
          <a:p>
            <a:pPr indent="0" marL="0">
              <a:buNone/>
            </a:pPr>
            <a:r>
              <a:rPr lang="en-US" sz="2000" b="1" dirty="0">
                <a:solidFill>
                  <a:srgbClr val="12355B"/>
                </a:solidFill>
                <a:latin typeface="Calibri" pitchFamily="34" charset="0"/>
                <a:ea typeface="Calibri" pitchFamily="34" charset="-122"/>
                <a:cs typeface="Calibri" pitchFamily="34" charset="-120"/>
              </a:rPr>
              <a:t>Recalibration</a:t>
            </a:r>
            <a:endParaRPr lang="en-US" sz="2000" dirty="0"/>
          </a:p>
        </p:txBody>
      </p:sp>
      <p:sp>
        <p:nvSpPr>
          <p:cNvPr id="21" name="Text 18"/>
          <p:cNvSpPr txBox="1"/>
          <p:nvPr/>
        </p:nvSpPr>
        <p:spPr>
          <a:xfrm>
            <a:off x="8275320" y="2011680"/>
            <a:ext cx="3108960" cy="292608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1A2233"/>
                </a:solidFill>
                <a:latin typeface="Calibri" pitchFamily="34" charset="0"/>
                <a:ea typeface="Calibri" pitchFamily="34" charset="-122"/>
                <a:cs typeface="Calibri" pitchFamily="34" charset="-120"/>
              </a:rPr>
              <a:t>Sigmoid and isotonic compared</a:t>
            </a:r>
            <a:endParaRPr lang="en-US" sz="1600" dirty="0"/>
          </a:p>
          <a:p>
            <a:pPr marL="342900" indent="-342900">
              <a:spcAft>
                <a:spcPts val="1000"/>
              </a:spcAft>
              <a:buSzPct val="100000"/>
              <a:buChar char="•"/>
            </a:pPr>
            <a:r>
              <a:rPr lang="en-US" sz="1600" dirty="0">
                <a:solidFill>
                  <a:srgbClr val="1A2233"/>
                </a:solidFill>
                <a:latin typeface="Calibri" pitchFamily="34" charset="0"/>
                <a:ea typeface="Calibri" pitchFamily="34" charset="-122"/>
                <a:cs typeface="Calibri" pitchFamily="34" charset="-120"/>
              </a:rPr>
              <a:t>Predefined rule: log-loss gain ≥ 0.005 with CI entirely below zero</a:t>
            </a:r>
            <a:endParaRPr lang="en-US" sz="1600" dirty="0"/>
          </a:p>
          <a:p>
            <a:pPr marL="342900" indent="-342900">
              <a:spcAft>
                <a:spcPts val="1000"/>
              </a:spcAft>
              <a:buSzPct val="100000"/>
              <a:buChar char="•"/>
            </a:pPr>
            <a:r>
              <a:rPr lang="en-US" sz="1600" b="1" dirty="0">
                <a:solidFill>
                  <a:srgbClr val="17798A"/>
                </a:solidFill>
                <a:latin typeface="Calibri" pitchFamily="34" charset="0"/>
                <a:ea typeface="Calibri" pitchFamily="34" charset="-122"/>
                <a:cs typeface="Calibri" pitchFamily="34" charset="-120"/>
              </a:rPr>
              <a:t>No method met it</a:t>
            </a:r>
            <a:endParaRPr lang="en-US" sz="1600" dirty="0"/>
          </a:p>
        </p:txBody>
      </p:sp>
      <p:sp>
        <p:nvSpPr>
          <p:cNvPr id="22" name="message"/>
          <p:cNvSpPr/>
          <p:nvPr/>
        </p:nvSpPr>
        <p:spPr>
          <a:xfrm>
            <a:off x="548640" y="5349240"/>
            <a:ext cx="11064240" cy="777240"/>
          </a:xfrm>
          <a:prstGeom prst="roundRect">
            <a:avLst>
              <a:gd name="adj" fmla="val 11765"/>
            </a:avLst>
          </a:prstGeom>
          <a:solidFill>
            <a:srgbClr val="12355B"/>
          </a:solidFill>
          <a:ln w="12700">
            <a:solidFill>
              <a:srgbClr val="12355B"/>
            </a:solidFill>
            <a:prstDash val="solid"/>
          </a:ln>
        </p:spPr>
      </p:sp>
      <p:sp>
        <p:nvSpPr>
          <p:cNvPr id="23" name="Text 20"/>
          <p:cNvSpPr txBox="1"/>
          <p:nvPr/>
        </p:nvSpPr>
        <p:spPr>
          <a:xfrm>
            <a:off x="777240" y="5349240"/>
            <a:ext cx="10607040" cy="7772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Raw LR_B probabilities were sufficiently well calibrated; no recalibration was retained.</a:t>
            </a:r>
            <a:endParaRPr lang="en-US" sz="2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F"/>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lIns="0" tIns="0" rIns="0" bIns="0" rtlCol="0" anchor="ctr"/>
          <a:lstStyle/>
          <a:p>
            <a:pPr algn="l" indent="0" marL="0">
              <a:buNone/>
            </a:pPr>
            <a:r>
              <a:rPr lang="en-US" sz="3200" b="1" dirty="0">
                <a:solidFill>
                  <a:srgbClr val="12355B"/>
                </a:solidFill>
                <a:latin typeface="Cambria" pitchFamily="34" charset="0"/>
                <a:ea typeface="Cambria" pitchFamily="34" charset="-122"/>
                <a:cs typeface="Cambria" pitchFamily="34" charset="-120"/>
              </a:rPr>
              <a:t>The threshold is a trade-off, not a model property</a:t>
            </a:r>
            <a:endParaRPr lang="en-US" sz="3200" dirty="0"/>
          </a:p>
        </p:txBody>
      </p:sp>
      <p:sp>
        <p:nvSpPr>
          <p:cNvPr id="4" name="flow box"/>
          <p:cNvSpPr/>
          <p:nvPr/>
        </p:nvSpPr>
        <p:spPr>
          <a:xfrm>
            <a:off x="548640" y="1371600"/>
            <a:ext cx="3017520" cy="914400"/>
          </a:xfrm>
          <a:prstGeom prst="roundRect">
            <a:avLst>
              <a:gd name="adj" fmla="val 10000"/>
            </a:avLst>
          </a:prstGeom>
          <a:solidFill>
            <a:srgbClr val="12355B"/>
          </a:solidFill>
          <a:ln w="12700">
            <a:solidFill>
              <a:srgbClr val="12355B"/>
            </a:solidFill>
            <a:prstDash val="solid"/>
          </a:ln>
        </p:spPr>
      </p:sp>
      <p:sp>
        <p:nvSpPr>
          <p:cNvPr id="5" name="Text 2"/>
          <p:cNvSpPr txBox="1"/>
          <p:nvPr/>
        </p:nvSpPr>
        <p:spPr>
          <a:xfrm>
            <a:off x="640080" y="1371600"/>
            <a:ext cx="2834640" cy="9144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Estimated probability  p</a:t>
            </a:r>
            <a:endParaRPr lang="en-US" sz="1800" dirty="0"/>
          </a:p>
        </p:txBody>
      </p:sp>
      <p:sp>
        <p:nvSpPr>
          <p:cNvPr id="6" name="arrow"/>
          <p:cNvSpPr/>
          <p:nvPr/>
        </p:nvSpPr>
        <p:spPr>
          <a:xfrm>
            <a:off x="3611880" y="1828800"/>
            <a:ext cx="365760" cy="0"/>
          </a:xfrm>
          <a:prstGeom prst="line">
            <a:avLst/>
          </a:prstGeom>
          <a:noFill/>
          <a:ln w="25400">
            <a:solidFill>
              <a:srgbClr val="5B6B7F"/>
            </a:solidFill>
            <a:prstDash val="solid"/>
            <a:tailEnd type="triangle"/>
          </a:ln>
        </p:spPr>
      </p:sp>
      <p:sp>
        <p:nvSpPr>
          <p:cNvPr id="7" name="flow box"/>
          <p:cNvSpPr/>
          <p:nvPr/>
        </p:nvSpPr>
        <p:spPr>
          <a:xfrm>
            <a:off x="4023360" y="1371600"/>
            <a:ext cx="3474720" cy="914400"/>
          </a:xfrm>
          <a:prstGeom prst="roundRect">
            <a:avLst>
              <a:gd name="adj" fmla="val 10000"/>
            </a:avLst>
          </a:prstGeom>
          <a:solidFill>
            <a:srgbClr val="E8A33D"/>
          </a:solidFill>
          <a:ln w="12700">
            <a:solidFill>
              <a:srgbClr val="E8A33D"/>
            </a:solidFill>
            <a:prstDash val="solid"/>
          </a:ln>
        </p:spPr>
      </p:sp>
      <p:sp>
        <p:nvSpPr>
          <p:cNvPr id="8" name="Text 5"/>
          <p:cNvSpPr txBox="1"/>
          <p:nvPr/>
        </p:nvSpPr>
        <p:spPr>
          <a:xfrm>
            <a:off x="4114800" y="1371600"/>
            <a:ext cx="3291840" cy="914400"/>
          </a:xfrm>
          <a:prstGeom prst="rect">
            <a:avLst/>
          </a:prstGeom>
          <a:noFill/>
          <a:ln/>
        </p:spPr>
        <p:txBody>
          <a:bodyPr wrap="square" lIns="0" tIns="0" rIns="0" bIns="0" rtlCol="0" anchor="ctr"/>
          <a:lstStyle/>
          <a:p>
            <a:pPr algn="ctr" indent="0" marL="0">
              <a:buNone/>
            </a:pPr>
            <a:r>
              <a:rPr lang="en-US" sz="1800" b="1" dirty="0">
                <a:solidFill>
                  <a:srgbClr val="1A2233"/>
                </a:solidFill>
                <a:latin typeface="Calibri" pitchFamily="34" charset="0"/>
                <a:ea typeface="Calibri" pitchFamily="34" charset="-122"/>
                <a:cs typeface="Calibri" pitchFamily="34" charset="-120"/>
              </a:rPr>
              <a:t>Threshold  τ  (a policy choice)</a:t>
            </a:r>
            <a:endParaRPr lang="en-US" sz="1800" dirty="0"/>
          </a:p>
        </p:txBody>
      </p:sp>
      <p:sp>
        <p:nvSpPr>
          <p:cNvPr id="9" name="arrow"/>
          <p:cNvSpPr/>
          <p:nvPr/>
        </p:nvSpPr>
        <p:spPr>
          <a:xfrm>
            <a:off x="7543800" y="1828800"/>
            <a:ext cx="365760" cy="0"/>
          </a:xfrm>
          <a:prstGeom prst="line">
            <a:avLst/>
          </a:prstGeom>
          <a:noFill/>
          <a:ln w="25400">
            <a:solidFill>
              <a:srgbClr val="5B6B7F"/>
            </a:solidFill>
            <a:prstDash val="solid"/>
            <a:tailEnd type="triangle"/>
          </a:ln>
        </p:spPr>
      </p:sp>
      <p:sp>
        <p:nvSpPr>
          <p:cNvPr id="10" name="flow box"/>
          <p:cNvSpPr/>
          <p:nvPr/>
        </p:nvSpPr>
        <p:spPr>
          <a:xfrm>
            <a:off x="7955280" y="1371600"/>
            <a:ext cx="3657600" cy="914400"/>
          </a:xfrm>
          <a:prstGeom prst="roundRect">
            <a:avLst>
              <a:gd name="adj" fmla="val 10000"/>
            </a:avLst>
          </a:prstGeom>
          <a:solidFill>
            <a:srgbClr val="17798A"/>
          </a:solidFill>
          <a:ln w="12700">
            <a:solidFill>
              <a:srgbClr val="17798A"/>
            </a:solidFill>
            <a:prstDash val="solid"/>
          </a:ln>
        </p:spPr>
      </p:sp>
      <p:sp>
        <p:nvSpPr>
          <p:cNvPr id="11" name="Text 8"/>
          <p:cNvSpPr txBox="1"/>
          <p:nvPr/>
        </p:nvSpPr>
        <p:spPr>
          <a:xfrm>
            <a:off x="8046720" y="1371600"/>
            <a:ext cx="3474720" cy="9144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Classification: Placed if p ≥ τ</a:t>
            </a:r>
            <a:endParaRPr lang="en-US" sz="1800" dirty="0"/>
          </a:p>
        </p:txBody>
      </p:sp>
      <p:graphicFrame>
        <p:nvGraphicFramePr>
          <p:cNvPr id="11" name="threshold table"/>
          <p:cNvGraphicFramePr>
            <a:graphicFrameLocks noGrp="1"/>
          </p:cNvGraphicFramePr>
          <p:nvPr>
            <p:extLst>
              <p:ext uri="{D42A27DB-BD31-4B8C-83A1-F6EECF244321}">
                <p14:modId xmlns:p14="http://schemas.microsoft.com/office/powerpoint/2010/main" val="1579011935"/>
              </p:ext>
            </p:extLst>
          </p:nvPr>
        </p:nvGraphicFramePr>
        <p:xfrm>
          <a:off x="548640" y="2697480"/>
          <a:ext cx="6949440" cy="914400"/>
        </p:xfrm>
        <a:graphic>
          <a:graphicData uri="http://schemas.openxmlformats.org/drawingml/2006/table">
            <a:tbl>
              <a:tblPr/>
              <a:tblGrid>
                <a:gridCol w="3383280"/>
                <a:gridCol w="1188720"/>
                <a:gridCol w="1188720"/>
                <a:gridCol w="1188720"/>
              </a:tblGrid>
              <a:tr h="566928">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Validation (n = 1,487)</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2355B"/>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Precision</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2355B"/>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Recall</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2355B"/>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F1</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2355B"/>
                    </a:solidFill>
                  </a:tcPr>
                </a:tc>
              </a:tr>
              <a:tr h="566928">
                <a:tc>
                  <a:txBody>
                    <a:bodyPr/>
                    <a:lstStyle/>
                    <a:p>
                      <a:pPr algn="l" indent="0" marL="0">
                        <a:buNone/>
                      </a:pPr>
                      <a:r>
                        <a:rPr lang="en-US" sz="1400" b="1" dirty="0">
                          <a:solidFill>
                            <a:srgbClr val="1A2233"/>
                          </a:solidFill>
                          <a:latin typeface="Calibri" pitchFamily="34" charset="0"/>
                          <a:ea typeface="Calibri" pitchFamily="34" charset="-122"/>
                          <a:cs typeface="Calibri" pitchFamily="34" charset="-120"/>
                        </a:rPr>
                        <a:t>0.35  selected operating threshold</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EEF3F8"/>
                    </a:solidFill>
                  </a:tcPr>
                </a:tc>
                <a:tc>
                  <a:txBody>
                    <a:bodyPr/>
                    <a:lstStyle/>
                    <a:p>
                      <a:pPr algn="ctr" indent="0" marL="0">
                        <a:buNone/>
                      </a:pPr>
                      <a:r>
                        <a:rPr lang="en-US" sz="1400" b="1" dirty="0">
                          <a:solidFill>
                            <a:srgbClr val="1A2233"/>
                          </a:solidFill>
                          <a:latin typeface="Calibri" pitchFamily="34" charset="0"/>
                          <a:ea typeface="Calibri" pitchFamily="34" charset="-122"/>
                          <a:cs typeface="Calibri" pitchFamily="34" charset="-120"/>
                        </a:rPr>
                        <a:t>0.705</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EEF3F8"/>
                    </a:solidFill>
                  </a:tcPr>
                </a:tc>
                <a:tc>
                  <a:txBody>
                    <a:bodyPr/>
                    <a:lstStyle/>
                    <a:p>
                      <a:pPr algn="ctr" indent="0" marL="0">
                        <a:buNone/>
                      </a:pPr>
                      <a:r>
                        <a:rPr lang="en-US" sz="1400" b="1" dirty="0">
                          <a:solidFill>
                            <a:srgbClr val="1A2233"/>
                          </a:solidFill>
                          <a:latin typeface="Calibri" pitchFamily="34" charset="0"/>
                          <a:ea typeface="Calibri" pitchFamily="34" charset="-122"/>
                          <a:cs typeface="Calibri" pitchFamily="34" charset="-120"/>
                        </a:rPr>
                        <a:t>0.838</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EEF3F8"/>
                    </a:solidFill>
                  </a:tcPr>
                </a:tc>
                <a:tc>
                  <a:txBody>
                    <a:bodyPr/>
                    <a:lstStyle/>
                    <a:p>
                      <a:pPr algn="ctr" indent="0" marL="0">
                        <a:buNone/>
                      </a:pPr>
                      <a:r>
                        <a:rPr lang="en-US" sz="1400" b="1" dirty="0">
                          <a:solidFill>
                            <a:srgbClr val="1A2233"/>
                          </a:solidFill>
                          <a:latin typeface="Calibri" pitchFamily="34" charset="0"/>
                          <a:ea typeface="Calibri" pitchFamily="34" charset="-122"/>
                          <a:cs typeface="Calibri" pitchFamily="34" charset="-120"/>
                        </a:rPr>
                        <a:t>0.766</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EEF3F8"/>
                    </a:solidFill>
                  </a:tcPr>
                </a:tc>
              </a:tr>
              <a:tr h="566928">
                <a:tc>
                  <a:txBody>
                    <a:bodyPr/>
                    <a:lstStyle/>
                    <a:p>
                      <a:pPr algn="l" indent="0" marL="0">
                        <a:buNone/>
                      </a:pPr>
                      <a:r>
                        <a:rPr lang="en-US" sz="1400" dirty="0">
                          <a:solidFill>
                            <a:srgbClr val="1A2233"/>
                          </a:solidFill>
                          <a:latin typeface="Calibri" pitchFamily="34" charset="0"/>
                          <a:ea typeface="Calibri" pitchFamily="34" charset="-122"/>
                          <a:cs typeface="Calibri" pitchFamily="34" charset="-120"/>
                        </a:rPr>
                        <a:t>0.50  reference</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A2233"/>
                          </a:solidFill>
                          <a:latin typeface="Calibri" pitchFamily="34" charset="0"/>
                          <a:ea typeface="Calibri" pitchFamily="34" charset="-122"/>
                          <a:cs typeface="Calibri" pitchFamily="34" charset="-120"/>
                        </a:rPr>
                        <a:t>0.772</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A2233"/>
                          </a:solidFill>
                          <a:latin typeface="Calibri" pitchFamily="34" charset="0"/>
                          <a:ea typeface="Calibri" pitchFamily="34" charset="-122"/>
                          <a:cs typeface="Calibri" pitchFamily="34" charset="-120"/>
                        </a:rPr>
                        <a:t>0.741</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A2233"/>
                          </a:solidFill>
                          <a:latin typeface="Calibri" pitchFamily="34" charset="0"/>
                          <a:ea typeface="Calibri" pitchFamily="34" charset="-122"/>
                          <a:cs typeface="Calibri" pitchFamily="34" charset="-120"/>
                        </a:rPr>
                        <a:t>0.756</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r>
            </a:tbl>
          </a:graphicData>
        </a:graphic>
      </p:graphicFrame>
      <p:sp>
        <p:nvSpPr>
          <p:cNvPr id="13" name="0.35 card"/>
          <p:cNvSpPr/>
          <p:nvPr/>
        </p:nvSpPr>
        <p:spPr>
          <a:xfrm>
            <a:off x="548640" y="4572000"/>
            <a:ext cx="3383280" cy="1463040"/>
          </a:xfrm>
          <a:prstGeom prst="roundRect">
            <a:avLst>
              <a:gd name="adj" fmla="val 6250"/>
            </a:avLst>
          </a:prstGeom>
          <a:solidFill>
            <a:srgbClr val="EEF3F8"/>
          </a:solidFill>
          <a:ln w="12700">
            <a:solidFill>
              <a:srgbClr val="EEF3F8"/>
            </a:solidFill>
            <a:prstDash val="solid"/>
          </a:ln>
        </p:spPr>
      </p:sp>
      <p:sp>
        <p:nvSpPr>
          <p:cNvPr id="14" name="Text 10"/>
          <p:cNvSpPr txBox="1"/>
          <p:nvPr/>
        </p:nvSpPr>
        <p:spPr>
          <a:xfrm>
            <a:off x="731520" y="4663440"/>
            <a:ext cx="3017520" cy="1280160"/>
          </a:xfrm>
          <a:prstGeom prst="rect">
            <a:avLst/>
          </a:prstGeom>
          <a:noFill/>
          <a:ln/>
        </p:spPr>
        <p:txBody>
          <a:bodyPr wrap="square" lIns="0" tIns="0" rIns="0" bIns="0" rtlCol="0" anchor="ctr"/>
          <a:lstStyle/>
          <a:p>
            <a:pPr indent="0" marL="0">
              <a:buNone/>
            </a:pPr>
            <a:r>
              <a:rPr lang="en-US" sz="2000" b="1" dirty="0">
                <a:solidFill>
                  <a:srgbClr val="17798A"/>
                </a:solidFill>
                <a:latin typeface="Calibri" pitchFamily="34" charset="0"/>
                <a:ea typeface="Calibri" pitchFamily="34" charset="-122"/>
                <a:cs typeface="Calibri" pitchFamily="34" charset="-120"/>
              </a:rPr>
              <a:t>0.35</a:t>
            </a:r>
            <a:endParaRPr lang="en-US" sz="1600" dirty="0"/>
          </a:p>
          <a:p>
            <a:pPr indent="0" marL="0">
              <a:buNone/>
            </a:pPr>
            <a:r>
              <a:rPr lang="en-US" sz="1600" dirty="0">
                <a:solidFill>
                  <a:srgbClr val="1A2233"/>
                </a:solidFill>
                <a:latin typeface="Calibri" pitchFamily="34" charset="0"/>
                <a:ea typeface="Calibri" pitchFamily="34" charset="-122"/>
                <a:cs typeface="Calibri" pitchFamily="34" charset="-120"/>
              </a:rPr>
              <a:t>higher recall, lower precision</a:t>
            </a:r>
            <a:endParaRPr lang="en-US" sz="1600" dirty="0"/>
          </a:p>
        </p:txBody>
      </p:sp>
      <p:sp>
        <p:nvSpPr>
          <p:cNvPr id="15" name="0.50 card"/>
          <p:cNvSpPr/>
          <p:nvPr/>
        </p:nvSpPr>
        <p:spPr>
          <a:xfrm>
            <a:off x="4114800" y="4572000"/>
            <a:ext cx="3383280" cy="1463040"/>
          </a:xfrm>
          <a:prstGeom prst="roundRect">
            <a:avLst>
              <a:gd name="adj" fmla="val 6250"/>
            </a:avLst>
          </a:prstGeom>
          <a:solidFill>
            <a:srgbClr val="EEF3F8"/>
          </a:solidFill>
          <a:ln w="12700">
            <a:solidFill>
              <a:srgbClr val="EEF3F8"/>
            </a:solidFill>
            <a:prstDash val="solid"/>
          </a:ln>
        </p:spPr>
      </p:sp>
      <p:sp>
        <p:nvSpPr>
          <p:cNvPr id="16" name="Text 12"/>
          <p:cNvSpPr txBox="1"/>
          <p:nvPr/>
        </p:nvSpPr>
        <p:spPr>
          <a:xfrm>
            <a:off x="4297680" y="4663440"/>
            <a:ext cx="3017520" cy="1280160"/>
          </a:xfrm>
          <a:prstGeom prst="rect">
            <a:avLst/>
          </a:prstGeom>
          <a:noFill/>
          <a:ln/>
        </p:spPr>
        <p:txBody>
          <a:bodyPr wrap="square" lIns="0" tIns="0" rIns="0" bIns="0" rtlCol="0" anchor="ctr"/>
          <a:lstStyle/>
          <a:p>
            <a:pPr indent="0" marL="0">
              <a:buNone/>
            </a:pPr>
            <a:r>
              <a:rPr lang="en-US" sz="2000" b="1" dirty="0">
                <a:solidFill>
                  <a:srgbClr val="12355B"/>
                </a:solidFill>
                <a:latin typeface="Calibri" pitchFamily="34" charset="0"/>
                <a:ea typeface="Calibri" pitchFamily="34" charset="-122"/>
                <a:cs typeface="Calibri" pitchFamily="34" charset="-120"/>
              </a:rPr>
              <a:t>0.50</a:t>
            </a:r>
            <a:endParaRPr lang="en-US" sz="1600" dirty="0"/>
          </a:p>
          <a:p>
            <a:pPr indent="0" marL="0">
              <a:buNone/>
            </a:pPr>
            <a:r>
              <a:rPr lang="en-US" sz="1600" dirty="0">
                <a:solidFill>
                  <a:srgbClr val="1A2233"/>
                </a:solidFill>
                <a:latin typeface="Calibri" pitchFamily="34" charset="0"/>
                <a:ea typeface="Calibri" pitchFamily="34" charset="-122"/>
                <a:cs typeface="Calibri" pitchFamily="34" charset="-120"/>
              </a:rPr>
              <a:t>higher precision and specificity</a:t>
            </a:r>
            <a:endParaRPr lang="en-US" sz="1600" dirty="0"/>
          </a:p>
        </p:txBody>
      </p:sp>
      <p:sp>
        <p:nvSpPr>
          <p:cNvPr id="17" name="message"/>
          <p:cNvSpPr/>
          <p:nvPr/>
        </p:nvSpPr>
        <p:spPr>
          <a:xfrm>
            <a:off x="7863840" y="2697480"/>
            <a:ext cx="3749040" cy="3337560"/>
          </a:xfrm>
          <a:prstGeom prst="roundRect">
            <a:avLst>
              <a:gd name="adj" fmla="val 2740"/>
            </a:avLst>
          </a:prstGeom>
          <a:solidFill>
            <a:srgbClr val="12355B"/>
          </a:solidFill>
          <a:ln w="12700">
            <a:solidFill>
              <a:srgbClr val="12355B"/>
            </a:solidFill>
            <a:prstDash val="solid"/>
          </a:ln>
        </p:spPr>
      </p:sp>
      <p:sp>
        <p:nvSpPr>
          <p:cNvPr id="18" name="Text 14"/>
          <p:cNvSpPr txBox="1"/>
          <p:nvPr/>
        </p:nvSpPr>
        <p:spPr>
          <a:xfrm>
            <a:off x="8092440" y="2834640"/>
            <a:ext cx="3291840" cy="3063240"/>
          </a:xfrm>
          <a:prstGeom prst="rect">
            <a:avLst/>
          </a:prstGeom>
          <a:noFill/>
          <a:ln/>
        </p:spPr>
        <p:txBody>
          <a:bodyPr wrap="square" lIns="0" tIns="0" rIns="0" bIns="0" rtlCol="0" anchor="ctr"/>
          <a:lstStyle/>
          <a:p>
            <a:pPr indent="0" marL="0">
              <a:spcAft>
                <a:spcPts val="1000"/>
              </a:spcAft>
              <a:buNone/>
            </a:pPr>
            <a:r>
              <a:rPr lang="en-US" sz="2000" b="1" dirty="0">
                <a:solidFill>
                  <a:srgbClr val="FFFFFF"/>
                </a:solidFill>
                <a:latin typeface="Calibri" pitchFamily="34" charset="0"/>
                <a:ea typeface="Calibri" pitchFamily="34" charset="-122"/>
                <a:cs typeface="Calibri" pitchFamily="34" charset="-120"/>
              </a:rPr>
              <a:t>Threshold choice depends on error costs.</a:t>
            </a:r>
            <a:endParaRPr lang="en-US" sz="2000" dirty="0"/>
          </a:p>
          <a:p>
            <a:pPr indent="0" marL="0">
              <a:spcAft>
                <a:spcPts val="1000"/>
              </a:spcAft>
              <a:buNone/>
            </a:pPr>
            <a:r>
              <a:rPr lang="en-US" sz="1500" dirty="0">
                <a:solidFill>
                  <a:srgbClr val="8FB8C9"/>
                </a:solidFill>
                <a:latin typeface="Calibri" pitchFamily="34" charset="0"/>
                <a:ea typeface="Calibri" pitchFamily="34" charset="-122"/>
                <a:cs typeface="Calibri" pitchFamily="34" charset="-120"/>
              </a:rPr>
              <a:t>Validation F1 is within 0.01 of its maximum from 0.30 to 0.55; 0.50 is practically tied with 0.35.</a:t>
            </a:r>
            <a:endParaRPr lang="en-US" sz="2000" dirty="0"/>
          </a:p>
          <a:p>
            <a:pPr indent="0" marL="0">
              <a:spcAft>
                <a:spcPts val="1000"/>
              </a:spcAft>
              <a:buNone/>
            </a:pPr>
            <a:r>
              <a:rPr lang="en-US" sz="1500" b="1" dirty="0">
                <a:solidFill>
                  <a:srgbClr val="E8A33D"/>
                </a:solidFill>
                <a:latin typeface="Calibri" pitchFamily="34" charset="0"/>
                <a:ea typeface="Calibri" pitchFamily="34" charset="-122"/>
                <a:cs typeface="Calibri" pitchFamily="34" charset="-120"/>
              </a:rPr>
              <a:t>Not claimed to be universally optimal.</a:t>
            </a:r>
            <a:endParaRPr lang="en-US" sz="2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F"/>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lIns="0" tIns="0" rIns="0" bIns="0" rtlCol="0" anchor="ctr"/>
          <a:lstStyle/>
          <a:p>
            <a:pPr algn="l" indent="0" marL="0">
              <a:buNone/>
            </a:pPr>
            <a:r>
              <a:rPr lang="en-US" sz="3200" b="1" dirty="0">
                <a:solidFill>
                  <a:srgbClr val="12355B"/>
                </a:solidFill>
                <a:latin typeface="Cambria" pitchFamily="34" charset="0"/>
                <a:ea typeface="Cambria" pitchFamily="34" charset="-122"/>
                <a:cs typeface="Cambria" pitchFamily="34" charset="-120"/>
              </a:rPr>
              <a:t>What the model relies on to predict</a:t>
            </a:r>
            <a:endParaRPr lang="en-US" sz="3200" dirty="0"/>
          </a:p>
        </p:txBody>
      </p:sp>
      <p:sp>
        <p:nvSpPr>
          <p:cNvPr id="4" name="formula card"/>
          <p:cNvSpPr/>
          <p:nvPr/>
        </p:nvSpPr>
        <p:spPr>
          <a:xfrm>
            <a:off x="548640" y="1325880"/>
            <a:ext cx="5120640" cy="2103120"/>
          </a:xfrm>
          <a:prstGeom prst="roundRect">
            <a:avLst>
              <a:gd name="adj" fmla="val 4348"/>
            </a:avLst>
          </a:prstGeom>
          <a:solidFill>
            <a:srgbClr val="12355B"/>
          </a:solidFill>
          <a:ln w="12700">
            <a:solidFill>
              <a:srgbClr val="12355B"/>
            </a:solidFill>
            <a:prstDash val="solid"/>
          </a:ln>
        </p:spPr>
      </p:sp>
      <p:sp>
        <p:nvSpPr>
          <p:cNvPr id="5" name="Text 2"/>
          <p:cNvSpPr txBox="1"/>
          <p:nvPr/>
        </p:nvSpPr>
        <p:spPr>
          <a:xfrm>
            <a:off x="731520" y="1463040"/>
            <a:ext cx="475488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logit(p) = intercept + Σ contributions</a:t>
            </a:r>
            <a:endParaRPr lang="en-US" sz="2200" dirty="0"/>
          </a:p>
        </p:txBody>
      </p:sp>
      <p:sp>
        <p:nvSpPr>
          <p:cNvPr id="6" name="Text 3"/>
          <p:cNvSpPr txBox="1"/>
          <p:nvPr/>
        </p:nvSpPr>
        <p:spPr>
          <a:xfrm>
            <a:off x="777240" y="2331720"/>
            <a:ext cx="4663440" cy="1005840"/>
          </a:xfrm>
          <a:prstGeom prst="rect">
            <a:avLst/>
          </a:prstGeom>
          <a:noFill/>
          <a:ln/>
        </p:spPr>
        <p:txBody>
          <a:bodyPr wrap="square" lIns="0" tIns="0" rIns="0" bIns="0" rtlCol="0" anchor="t"/>
          <a:lstStyle/>
          <a:p>
            <a:pPr algn="ctr" indent="0" marL="0">
              <a:buNone/>
            </a:pPr>
            <a:r>
              <a:rPr lang="en-US" sz="1500" dirty="0">
                <a:solidFill>
                  <a:srgbClr val="8FB8C9"/>
                </a:solidFill>
                <a:latin typeface="Calibri" pitchFamily="34" charset="0"/>
                <a:ea typeface="Calibri" pitchFamily="34" charset="-122"/>
                <a:cs typeface="Calibri" pitchFamily="34" charset="-120"/>
              </a:rPr>
              <a:t>contribution = coefficient × transformed value, relative to a baseline student. Exact and additive.</a:t>
            </a:r>
            <a:endParaRPr lang="en-US" sz="1500" dirty="0"/>
          </a:p>
        </p:txBody>
      </p:sp>
      <p:sp>
        <p:nvSpPr>
          <p:cNvPr id="7" name="odds ratios"/>
          <p:cNvSpPr/>
          <p:nvPr/>
        </p:nvSpPr>
        <p:spPr>
          <a:xfrm>
            <a:off x="548640" y="3611880"/>
            <a:ext cx="5120640" cy="1600200"/>
          </a:xfrm>
          <a:prstGeom prst="roundRect">
            <a:avLst>
              <a:gd name="adj" fmla="val 5714"/>
            </a:avLst>
          </a:prstGeom>
          <a:solidFill>
            <a:srgbClr val="EEF3F8"/>
          </a:solidFill>
          <a:ln w="12700">
            <a:solidFill>
              <a:srgbClr val="EEF3F8"/>
            </a:solidFill>
            <a:prstDash val="solid"/>
          </a:ln>
        </p:spPr>
      </p:sp>
      <p:sp>
        <p:nvSpPr>
          <p:cNvPr id="8" name="Text 5"/>
          <p:cNvSpPr txBox="1"/>
          <p:nvPr/>
        </p:nvSpPr>
        <p:spPr>
          <a:xfrm>
            <a:off x="777240" y="3703320"/>
            <a:ext cx="4754880" cy="1417320"/>
          </a:xfrm>
          <a:prstGeom prst="rect">
            <a:avLst/>
          </a:prstGeom>
          <a:noFill/>
          <a:ln/>
        </p:spPr>
        <p:txBody>
          <a:bodyPr wrap="square" lIns="0" tIns="0" rIns="0" bIns="0" rtlCol="0" anchor="t"/>
          <a:lstStyle/>
          <a:p>
            <a:pPr indent="0" marL="0">
              <a:spcAft>
                <a:spcPts val="300"/>
              </a:spcAft>
              <a:buNone/>
            </a:pPr>
            <a:r>
              <a:rPr lang="en-US" sz="1600" b="1" dirty="0">
                <a:solidFill>
                  <a:srgbClr val="12355B"/>
                </a:solidFill>
                <a:latin typeface="Calibri" pitchFamily="34" charset="0"/>
                <a:ea typeface="Calibri" pitchFamily="34" charset="-122"/>
                <a:cs typeface="Calibri" pitchFamily="34" charset="-120"/>
              </a:rPr>
              <a:t>Model-level associations (odds ratios)</a:t>
            </a:r>
            <a:endParaRPr lang="en-US" sz="1500" dirty="0"/>
          </a:p>
          <a:p>
            <a:pPr marL="342900" indent="-342900">
              <a:spcAft>
                <a:spcPts val="300"/>
              </a:spcAft>
              <a:buSzPct val="100000"/>
              <a:buChar char="•"/>
            </a:pPr>
            <a:r>
              <a:rPr lang="en-US" sz="1500" dirty="0">
                <a:solidFill>
                  <a:srgbClr val="1A2233"/>
                </a:solidFill>
                <a:latin typeface="Calibri" pitchFamily="34" charset="0"/>
                <a:ea typeface="Calibri" pitchFamily="34" charset="-122"/>
                <a:cs typeface="Calibri" pitchFamily="34" charset="-120"/>
              </a:rPr>
              <a:t>Placement training ≈ 2.75</a:t>
            </a:r>
            <a:endParaRPr lang="en-US" sz="1500" dirty="0"/>
          </a:p>
          <a:p>
            <a:pPr marL="342900" indent="-342900">
              <a:spcAft>
                <a:spcPts val="300"/>
              </a:spcAft>
              <a:buSzPct val="100000"/>
              <a:buChar char="•"/>
            </a:pPr>
            <a:r>
              <a:rPr lang="en-US" sz="1500" dirty="0">
                <a:solidFill>
                  <a:srgbClr val="1A2233"/>
                </a:solidFill>
                <a:latin typeface="Calibri" pitchFamily="34" charset="0"/>
                <a:ea typeface="Calibri" pitchFamily="34" charset="-122"/>
                <a:cs typeface="Calibri" pitchFamily="34" charset="-120"/>
              </a:rPr>
              <a:t>Extracurricular ≈ 1.95</a:t>
            </a:r>
            <a:endParaRPr lang="en-US" sz="1500" dirty="0"/>
          </a:p>
          <a:p>
            <a:pPr marL="342900" indent="-342900">
              <a:spcAft>
                <a:spcPts val="300"/>
              </a:spcAft>
              <a:buSzPct val="100000"/>
              <a:buChar char="•"/>
            </a:pPr>
            <a:r>
              <a:rPr lang="en-US" sz="1500" dirty="0">
                <a:solidFill>
                  <a:srgbClr val="1A2233"/>
                </a:solidFill>
                <a:latin typeface="Calibri" pitchFamily="34" charset="0"/>
                <a:ea typeface="Calibri" pitchFamily="34" charset="-122"/>
                <a:cs typeface="Calibri" pitchFamily="34" charset="-120"/>
              </a:rPr>
              <a:t>Aptitude ≈ 1.65 per SD</a:t>
            </a:r>
            <a:endParaRPr lang="en-US" sz="1500" dirty="0"/>
          </a:p>
        </p:txBody>
      </p:sp>
      <p:graphicFrame>
        <p:nvGraphicFramePr>
          <p:cNvPr id="9" name="Chart 0" descr=""/>
          <p:cNvGraphicFramePr/>
          <p:nvPr/>
        </p:nvGraphicFramePr>
        <p:xfrm>
          <a:off x="5943600" y="1280160"/>
          <a:ext cx="5669280" cy="4114800"/>
        </p:xfrm>
        <a:graphic xmlns:a="http://schemas.openxmlformats.org/drawingml/2006/main">
          <a:graphicData uri="http://schemas.openxmlformats.org/drawingml/2006/chart">
            <c:chart xmlns:c="http://schemas.openxmlformats.org/drawingml/2006/chart" r:id="rId1"/>
          </a:graphicData>
        </a:graphic>
      </p:graphicFrame>
      <p:sp>
        <p:nvSpPr>
          <p:cNvPr id="10" name="caveat"/>
          <p:cNvSpPr/>
          <p:nvPr/>
        </p:nvSpPr>
        <p:spPr>
          <a:xfrm>
            <a:off x="548640" y="5440680"/>
            <a:ext cx="11064240" cy="685800"/>
          </a:xfrm>
          <a:prstGeom prst="roundRect">
            <a:avLst>
              <a:gd name="adj" fmla="val 13333"/>
            </a:avLst>
          </a:prstGeom>
          <a:solidFill>
            <a:srgbClr val="FFFFFF"/>
          </a:solidFill>
          <a:ln w="12700">
            <a:solidFill>
              <a:srgbClr val="E8A33D"/>
            </a:solidFill>
            <a:prstDash val="solid"/>
          </a:ln>
        </p:spPr>
      </p:sp>
      <p:sp>
        <p:nvSpPr>
          <p:cNvPr id="11" name="Text 7"/>
          <p:cNvSpPr txBox="1"/>
          <p:nvPr/>
        </p:nvSpPr>
        <p:spPr>
          <a:xfrm>
            <a:off x="777240" y="5440680"/>
            <a:ext cx="10607040" cy="685800"/>
          </a:xfrm>
          <a:prstGeom prst="rect">
            <a:avLst/>
          </a:prstGeom>
          <a:noFill/>
          <a:ln/>
        </p:spPr>
        <p:txBody>
          <a:bodyPr wrap="square" lIns="0" tIns="0" rIns="0" bIns="0" rtlCol="0" anchor="ctr"/>
          <a:lstStyle/>
          <a:p>
            <a:pPr algn="ctr" indent="0" marL="0">
              <a:buNone/>
            </a:pPr>
            <a:r>
              <a:rPr lang="en-US" sz="1800" b="1" dirty="0">
                <a:solidFill>
                  <a:srgbClr val="1A2233"/>
                </a:solidFill>
                <a:latin typeface="Calibri" pitchFamily="34" charset="0"/>
                <a:ea typeface="Calibri" pitchFamily="34" charset="-122"/>
                <a:cs typeface="Calibri" pitchFamily="34" charset="-120"/>
              </a:rPr>
              <a:t>Predictive contributions of a fitted model, not causal effects.</a:t>
            </a:r>
            <a:endParaRPr lang="en-US" sz="18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F"/>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lIns="0" tIns="0" rIns="0" bIns="0" rtlCol="0" anchor="ctr"/>
          <a:lstStyle/>
          <a:p>
            <a:pPr algn="l" indent="0" marL="0">
              <a:buNone/>
            </a:pPr>
            <a:r>
              <a:rPr lang="en-US" sz="3200" b="1" dirty="0">
                <a:solidFill>
                  <a:srgbClr val="12355B"/>
                </a:solidFill>
                <a:latin typeface="Cambria" pitchFamily="34" charset="0"/>
                <a:ea typeface="Cambria" pitchFamily="34" charset="-122"/>
                <a:cs typeface="Cambria" pitchFamily="34" charset="-120"/>
              </a:rPr>
              <a:t>Each group adds information; errors sit in overlaps</a:t>
            </a:r>
            <a:endParaRPr lang="en-US" sz="3200" dirty="0"/>
          </a:p>
        </p:txBody>
      </p:sp>
      <p:graphicFrame>
        <p:nvGraphicFramePr>
          <p:cNvPr id="4" name="Chart 0" descr=""/>
          <p:cNvGraphicFramePr/>
          <p:nvPr/>
        </p:nvGraphicFramePr>
        <p:xfrm>
          <a:off x="548640" y="1280160"/>
          <a:ext cx="6400800" cy="420624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548640" y="5577840"/>
            <a:ext cx="6400800" cy="502920"/>
          </a:xfrm>
          <a:prstGeom prst="rect">
            <a:avLst/>
          </a:prstGeom>
          <a:noFill/>
          <a:ln/>
        </p:spPr>
        <p:txBody>
          <a:bodyPr wrap="square" lIns="0" tIns="0" rIns="0" bIns="0" rtlCol="0" anchor="t"/>
          <a:lstStyle/>
          <a:p>
            <a:pPr indent="0" marL="0">
              <a:buNone/>
            </a:pPr>
            <a:r>
              <a:rPr lang="en-US" sz="1200" dirty="0">
                <a:solidFill>
                  <a:srgbClr val="5B6B7F"/>
                </a:solidFill>
                <a:latin typeface="Calibri" pitchFamily="34" charset="0"/>
                <a:ea typeface="Calibri" pitchFamily="34" charset="-122"/>
                <a:cs typeface="Calibri" pitchFamily="34" charset="-120"/>
              </a:rPr>
              <a:t>Groups overlap, so increments depend on the order and are not independent effects.</a:t>
            </a:r>
            <a:endParaRPr lang="en-US" sz="1200" dirty="0"/>
          </a:p>
        </p:txBody>
      </p:sp>
      <p:sp>
        <p:nvSpPr>
          <p:cNvPr id="6" name="Text 2"/>
          <p:cNvSpPr txBox="1"/>
          <p:nvPr/>
        </p:nvSpPr>
        <p:spPr>
          <a:xfrm>
            <a:off x="7223760" y="1280160"/>
            <a:ext cx="4389120" cy="365760"/>
          </a:xfrm>
          <a:prstGeom prst="rect">
            <a:avLst/>
          </a:prstGeom>
          <a:noFill/>
          <a:ln/>
        </p:spPr>
        <p:txBody>
          <a:bodyPr wrap="square" lIns="0" tIns="0" rIns="0" bIns="0" rtlCol="0" anchor="t"/>
          <a:lstStyle/>
          <a:p>
            <a:pPr indent="0" marL="0">
              <a:buNone/>
            </a:pPr>
            <a:r>
              <a:rPr lang="en-US" sz="1800" b="1" dirty="0">
                <a:solidFill>
                  <a:srgbClr val="12355B"/>
                </a:solidFill>
                <a:latin typeface="Calibri" pitchFamily="34" charset="0"/>
                <a:ea typeface="Calibri" pitchFamily="34" charset="-122"/>
                <a:cs typeface="Calibri" pitchFamily="34" charset="-120"/>
              </a:rPr>
              <a:t>Errors at threshold 0.50 (validation)</a:t>
            </a:r>
            <a:endParaRPr lang="en-US" sz="1800" dirty="0"/>
          </a:p>
        </p:txBody>
      </p:sp>
      <p:sp>
        <p:nvSpPr>
          <p:cNvPr id="7" name="stat card"/>
          <p:cNvSpPr/>
          <p:nvPr/>
        </p:nvSpPr>
        <p:spPr>
          <a:xfrm>
            <a:off x="7223760" y="1737360"/>
            <a:ext cx="2103120" cy="1417320"/>
          </a:xfrm>
          <a:prstGeom prst="roundRect">
            <a:avLst>
              <a:gd name="adj" fmla="val 6452"/>
            </a:avLst>
          </a:prstGeom>
          <a:solidFill>
            <a:srgbClr val="EEF3F8"/>
          </a:solidFill>
          <a:ln w="12700">
            <a:solidFill>
              <a:srgbClr val="EEF3F8"/>
            </a:solidFill>
            <a:prstDash val="solid"/>
          </a:ln>
        </p:spPr>
      </p:sp>
      <p:sp>
        <p:nvSpPr>
          <p:cNvPr id="8" name="Text 4"/>
          <p:cNvSpPr txBox="1"/>
          <p:nvPr/>
        </p:nvSpPr>
        <p:spPr>
          <a:xfrm>
            <a:off x="7360920" y="1847088"/>
            <a:ext cx="1828800" cy="779526"/>
          </a:xfrm>
          <a:prstGeom prst="rect">
            <a:avLst/>
          </a:prstGeom>
          <a:noFill/>
          <a:ln/>
        </p:spPr>
        <p:txBody>
          <a:bodyPr wrap="square" lIns="0" tIns="0" rIns="0" bIns="0" rtlCol="0" anchor="ctr"/>
          <a:lstStyle/>
          <a:p>
            <a:pPr algn="ctr" indent="0" marL="0">
              <a:buNone/>
            </a:pPr>
            <a:r>
              <a:rPr lang="en-US" sz="2800" b="1" dirty="0">
                <a:solidFill>
                  <a:srgbClr val="12355B"/>
                </a:solidFill>
                <a:latin typeface="Cambria" pitchFamily="34" charset="0"/>
                <a:ea typeface="Cambria" pitchFamily="34" charset="-122"/>
                <a:cs typeface="Cambria" pitchFamily="34" charset="-120"/>
              </a:rPr>
              <a:t>≈ 19.8%</a:t>
            </a:r>
            <a:endParaRPr lang="en-US" sz="2800" dirty="0"/>
          </a:p>
        </p:txBody>
      </p:sp>
      <p:sp>
        <p:nvSpPr>
          <p:cNvPr id="9" name="Text 5"/>
          <p:cNvSpPr txBox="1"/>
          <p:nvPr/>
        </p:nvSpPr>
        <p:spPr>
          <a:xfrm>
            <a:off x="7360920" y="2559406"/>
            <a:ext cx="1828800" cy="538582"/>
          </a:xfrm>
          <a:prstGeom prst="rect">
            <a:avLst/>
          </a:prstGeom>
          <a:noFill/>
          <a:ln/>
        </p:spPr>
        <p:txBody>
          <a:bodyPr wrap="square" lIns="0" tIns="0" rIns="0" bIns="0" rtlCol="0" anchor="t"/>
          <a:lstStyle/>
          <a:p>
            <a:pPr algn="ctr" indent="0" marL="0">
              <a:buNone/>
            </a:pPr>
            <a:r>
              <a:rPr lang="en-US" sz="1300" dirty="0">
                <a:solidFill>
                  <a:srgbClr val="5B6B7F"/>
                </a:solidFill>
                <a:latin typeface="Calibri" pitchFamily="34" charset="0"/>
                <a:ea typeface="Calibri" pitchFamily="34" charset="-122"/>
                <a:cs typeface="Calibri" pitchFamily="34" charset="-120"/>
              </a:rPr>
              <a:t>of students misclassified</a:t>
            </a:r>
            <a:endParaRPr lang="en-US" sz="1300" dirty="0"/>
          </a:p>
        </p:txBody>
      </p:sp>
      <p:sp>
        <p:nvSpPr>
          <p:cNvPr id="10" name="stat card"/>
          <p:cNvSpPr/>
          <p:nvPr/>
        </p:nvSpPr>
        <p:spPr>
          <a:xfrm>
            <a:off x="9509760" y="1737360"/>
            <a:ext cx="2103120" cy="1417320"/>
          </a:xfrm>
          <a:prstGeom prst="roundRect">
            <a:avLst>
              <a:gd name="adj" fmla="val 6452"/>
            </a:avLst>
          </a:prstGeom>
          <a:solidFill>
            <a:srgbClr val="EEF3F8"/>
          </a:solidFill>
          <a:ln w="12700">
            <a:solidFill>
              <a:srgbClr val="EEF3F8"/>
            </a:solidFill>
            <a:prstDash val="solid"/>
          </a:ln>
        </p:spPr>
      </p:sp>
      <p:sp>
        <p:nvSpPr>
          <p:cNvPr id="11" name="Text 7"/>
          <p:cNvSpPr txBox="1"/>
          <p:nvPr/>
        </p:nvSpPr>
        <p:spPr>
          <a:xfrm>
            <a:off x="9646920" y="1847088"/>
            <a:ext cx="1828800" cy="779526"/>
          </a:xfrm>
          <a:prstGeom prst="rect">
            <a:avLst/>
          </a:prstGeom>
          <a:noFill/>
          <a:ln/>
        </p:spPr>
        <p:txBody>
          <a:bodyPr wrap="square" lIns="0" tIns="0" rIns="0" bIns="0" rtlCol="0" anchor="ctr"/>
          <a:lstStyle/>
          <a:p>
            <a:pPr algn="ctr" indent="0" marL="0">
              <a:buNone/>
            </a:pPr>
            <a:r>
              <a:rPr lang="en-US" sz="2800" b="1" dirty="0">
                <a:solidFill>
                  <a:srgbClr val="17798A"/>
                </a:solidFill>
                <a:latin typeface="Cambria" pitchFamily="34" charset="0"/>
                <a:ea typeface="Cambria" pitchFamily="34" charset="-122"/>
                <a:cs typeface="Cambria" pitchFamily="34" charset="-120"/>
              </a:rPr>
              <a:t>≈ 70%</a:t>
            </a:r>
            <a:endParaRPr lang="en-US" sz="2800" dirty="0"/>
          </a:p>
        </p:txBody>
      </p:sp>
      <p:sp>
        <p:nvSpPr>
          <p:cNvPr id="12" name="Text 8"/>
          <p:cNvSpPr txBox="1"/>
          <p:nvPr/>
        </p:nvSpPr>
        <p:spPr>
          <a:xfrm>
            <a:off x="9646920" y="2559406"/>
            <a:ext cx="1828800" cy="538582"/>
          </a:xfrm>
          <a:prstGeom prst="rect">
            <a:avLst/>
          </a:prstGeom>
          <a:noFill/>
          <a:ln/>
        </p:spPr>
        <p:txBody>
          <a:bodyPr wrap="square" lIns="0" tIns="0" rIns="0" bIns="0" rtlCol="0" anchor="t"/>
          <a:lstStyle/>
          <a:p>
            <a:pPr algn="ctr" indent="0" marL="0">
              <a:buNone/>
            </a:pPr>
            <a:r>
              <a:rPr lang="en-US" sz="1300" dirty="0">
                <a:solidFill>
                  <a:srgbClr val="5B6B7F"/>
                </a:solidFill>
                <a:latin typeface="Calibri" pitchFamily="34" charset="0"/>
                <a:ea typeface="Calibri" pitchFamily="34" charset="-122"/>
                <a:cs typeface="Calibri" pitchFamily="34" charset="-120"/>
              </a:rPr>
              <a:t>of errors have p between 0.2 and 0.8</a:t>
            </a:r>
            <a:endParaRPr lang="en-US" sz="1300" dirty="0"/>
          </a:p>
        </p:txBody>
      </p:sp>
      <p:sp>
        <p:nvSpPr>
          <p:cNvPr id="13" name="stat card"/>
          <p:cNvSpPr/>
          <p:nvPr/>
        </p:nvSpPr>
        <p:spPr>
          <a:xfrm>
            <a:off x="7223760" y="3337560"/>
            <a:ext cx="2103120" cy="1417320"/>
          </a:xfrm>
          <a:prstGeom prst="roundRect">
            <a:avLst>
              <a:gd name="adj" fmla="val 6452"/>
            </a:avLst>
          </a:prstGeom>
          <a:solidFill>
            <a:srgbClr val="EEF3F8"/>
          </a:solidFill>
          <a:ln w="12700">
            <a:solidFill>
              <a:srgbClr val="EEF3F8"/>
            </a:solidFill>
            <a:prstDash val="solid"/>
          </a:ln>
        </p:spPr>
      </p:sp>
      <p:sp>
        <p:nvSpPr>
          <p:cNvPr id="14" name="Text 10"/>
          <p:cNvSpPr txBox="1"/>
          <p:nvPr/>
        </p:nvSpPr>
        <p:spPr>
          <a:xfrm>
            <a:off x="7360920" y="3447288"/>
            <a:ext cx="1828800" cy="779526"/>
          </a:xfrm>
          <a:prstGeom prst="rect">
            <a:avLst/>
          </a:prstGeom>
          <a:noFill/>
          <a:ln/>
        </p:spPr>
        <p:txBody>
          <a:bodyPr wrap="square" lIns="0" tIns="0" rIns="0" bIns="0" rtlCol="0" anchor="ctr"/>
          <a:lstStyle/>
          <a:p>
            <a:pPr algn="ctr" indent="0" marL="0">
              <a:buNone/>
            </a:pPr>
            <a:r>
              <a:rPr lang="en-US" sz="3200" b="1" dirty="0">
                <a:solidFill>
                  <a:srgbClr val="B5483A"/>
                </a:solidFill>
                <a:latin typeface="Cambria" pitchFamily="34" charset="0"/>
                <a:ea typeface="Cambria" pitchFamily="34" charset="-122"/>
                <a:cs typeface="Cambria" pitchFamily="34" charset="-120"/>
              </a:rPr>
              <a:t>88</a:t>
            </a:r>
            <a:endParaRPr lang="en-US" sz="3200" dirty="0"/>
          </a:p>
        </p:txBody>
      </p:sp>
      <p:sp>
        <p:nvSpPr>
          <p:cNvPr id="15" name="Text 11"/>
          <p:cNvSpPr txBox="1"/>
          <p:nvPr/>
        </p:nvSpPr>
        <p:spPr>
          <a:xfrm>
            <a:off x="7360920" y="4159606"/>
            <a:ext cx="1828800" cy="538582"/>
          </a:xfrm>
          <a:prstGeom prst="rect">
            <a:avLst/>
          </a:prstGeom>
          <a:noFill/>
          <a:ln/>
        </p:spPr>
        <p:txBody>
          <a:bodyPr wrap="square" lIns="0" tIns="0" rIns="0" bIns="0" rtlCol="0" anchor="t"/>
          <a:lstStyle/>
          <a:p>
            <a:pPr algn="ctr" indent="0" marL="0">
              <a:buNone/>
            </a:pPr>
            <a:r>
              <a:rPr lang="en-US" sz="1300" dirty="0">
                <a:solidFill>
                  <a:srgbClr val="5B6B7F"/>
                </a:solidFill>
                <a:latin typeface="Calibri" pitchFamily="34" charset="0"/>
                <a:ea typeface="Calibri" pitchFamily="34" charset="-122"/>
                <a:cs typeface="Calibri" pitchFamily="34" charset="-120"/>
              </a:rPr>
              <a:t>high-confidence errors (28 FP, 60 FN)</a:t>
            </a:r>
            <a:endParaRPr lang="en-US" sz="1300" dirty="0"/>
          </a:p>
        </p:txBody>
      </p:sp>
      <p:sp>
        <p:nvSpPr>
          <p:cNvPr id="16" name="message"/>
          <p:cNvSpPr/>
          <p:nvPr/>
        </p:nvSpPr>
        <p:spPr>
          <a:xfrm>
            <a:off x="9509760" y="3337560"/>
            <a:ext cx="2103120" cy="1417320"/>
          </a:xfrm>
          <a:prstGeom prst="roundRect">
            <a:avLst>
              <a:gd name="adj" fmla="val 6452"/>
            </a:avLst>
          </a:prstGeom>
          <a:solidFill>
            <a:srgbClr val="12355B"/>
          </a:solidFill>
          <a:ln w="12700">
            <a:solidFill>
              <a:srgbClr val="12355B"/>
            </a:solidFill>
            <a:prstDash val="solid"/>
          </a:ln>
        </p:spPr>
      </p:sp>
      <p:sp>
        <p:nvSpPr>
          <p:cNvPr id="17" name="Text 13"/>
          <p:cNvSpPr txBox="1"/>
          <p:nvPr/>
        </p:nvSpPr>
        <p:spPr>
          <a:xfrm>
            <a:off x="9601200" y="3337560"/>
            <a:ext cx="1920240" cy="14173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Most uncertain where profiles overlap</a:t>
            </a:r>
            <a:endParaRPr lang="en-US" sz="1500" dirty="0"/>
          </a:p>
        </p:txBody>
      </p:sp>
      <p:sp>
        <p:nvSpPr>
          <p:cNvPr id="18" name="Text 14"/>
          <p:cNvSpPr txBox="1"/>
          <p:nvPr/>
        </p:nvSpPr>
        <p:spPr>
          <a:xfrm>
            <a:off x="7223760" y="4937760"/>
            <a:ext cx="4389120" cy="731520"/>
          </a:xfrm>
          <a:prstGeom prst="rect">
            <a:avLst/>
          </a:prstGeom>
          <a:noFill/>
          <a:ln/>
        </p:spPr>
        <p:txBody>
          <a:bodyPr wrap="square" lIns="0" tIns="0" rIns="0" bIns="0" rtlCol="0" anchor="t"/>
          <a:lstStyle/>
          <a:p>
            <a:pPr indent="0" marL="0">
              <a:buNone/>
            </a:pPr>
            <a:r>
              <a:rPr lang="en-US" sz="1400" dirty="0">
                <a:solidFill>
                  <a:srgbClr val="5B6B7F"/>
                </a:solidFill>
                <a:latin typeface="Calibri" pitchFamily="34" charset="0"/>
                <a:ea typeface="Calibri" pitchFamily="34" charset="-122"/>
                <a:cs typeface="Calibri" pitchFamily="34" charset="-120"/>
              </a:rPr>
              <a:t>Evidence of overlap in the recorded features, not proof of mislabelled data.</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F"/>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lIns="0" tIns="0" rIns="0" bIns="0" rtlCol="0" anchor="ctr"/>
          <a:lstStyle/>
          <a:p>
            <a:pPr algn="l" indent="0" marL="0">
              <a:buNone/>
            </a:pPr>
            <a:r>
              <a:rPr lang="en-US" sz="3200" b="1" dirty="0">
                <a:solidFill>
                  <a:srgbClr val="12355B"/>
                </a:solidFill>
                <a:latin typeface="Cambria" pitchFamily="34" charset="0"/>
                <a:ea typeface="Cambria" pitchFamily="34" charset="-122"/>
                <a:cs typeface="Cambria" pitchFamily="34" charset="-120"/>
              </a:rPr>
              <a:t>One final held-out evaluation</a:t>
            </a:r>
            <a:endParaRPr lang="en-US" sz="3200" dirty="0"/>
          </a:p>
        </p:txBody>
      </p:sp>
      <p:sp>
        <p:nvSpPr>
          <p:cNvPr id="4" name="stat card"/>
          <p:cNvSpPr/>
          <p:nvPr/>
        </p:nvSpPr>
        <p:spPr>
          <a:xfrm>
            <a:off x="548640" y="1280160"/>
            <a:ext cx="3566160" cy="1554480"/>
          </a:xfrm>
          <a:prstGeom prst="roundRect">
            <a:avLst>
              <a:gd name="adj" fmla="val 5882"/>
            </a:avLst>
          </a:prstGeom>
          <a:solidFill>
            <a:srgbClr val="EEF3F8"/>
          </a:solidFill>
          <a:ln w="12700">
            <a:solidFill>
              <a:srgbClr val="EEF3F8"/>
            </a:solidFill>
            <a:prstDash val="solid"/>
          </a:ln>
        </p:spPr>
      </p:sp>
      <p:sp>
        <p:nvSpPr>
          <p:cNvPr id="5" name="Text 2"/>
          <p:cNvSpPr txBox="1"/>
          <p:nvPr/>
        </p:nvSpPr>
        <p:spPr>
          <a:xfrm>
            <a:off x="685800" y="1389888"/>
            <a:ext cx="3291840" cy="854964"/>
          </a:xfrm>
          <a:prstGeom prst="rect">
            <a:avLst/>
          </a:prstGeom>
          <a:noFill/>
          <a:ln/>
        </p:spPr>
        <p:txBody>
          <a:bodyPr wrap="square" lIns="0" tIns="0" rIns="0" bIns="0" rtlCol="0" anchor="ctr"/>
          <a:lstStyle/>
          <a:p>
            <a:pPr algn="ctr" indent="0" marL="0">
              <a:buNone/>
            </a:pPr>
            <a:r>
              <a:rPr lang="en-US" sz="4800" b="1" dirty="0">
                <a:solidFill>
                  <a:srgbClr val="17798A"/>
                </a:solidFill>
                <a:latin typeface="Cambria" pitchFamily="34" charset="0"/>
                <a:ea typeface="Cambria" pitchFamily="34" charset="-122"/>
                <a:cs typeface="Cambria" pitchFamily="34" charset="-120"/>
              </a:rPr>
              <a:t>0.886</a:t>
            </a:r>
            <a:endParaRPr lang="en-US" sz="4800" dirty="0"/>
          </a:p>
        </p:txBody>
      </p:sp>
      <p:sp>
        <p:nvSpPr>
          <p:cNvPr id="6" name="Text 3"/>
          <p:cNvSpPr txBox="1"/>
          <p:nvPr/>
        </p:nvSpPr>
        <p:spPr>
          <a:xfrm>
            <a:off x="685800" y="2181758"/>
            <a:ext cx="3291840" cy="590702"/>
          </a:xfrm>
          <a:prstGeom prst="rect">
            <a:avLst/>
          </a:prstGeom>
          <a:noFill/>
          <a:ln/>
        </p:spPr>
        <p:txBody>
          <a:bodyPr wrap="square" lIns="0" tIns="0" rIns="0" bIns="0" rtlCol="0" anchor="t"/>
          <a:lstStyle/>
          <a:p>
            <a:pPr algn="ctr" indent="0" marL="0">
              <a:buNone/>
            </a:pPr>
            <a:r>
              <a:rPr lang="en-US" sz="1400" dirty="0">
                <a:solidFill>
                  <a:srgbClr val="5B6B7F"/>
                </a:solidFill>
                <a:latin typeface="Calibri" pitchFamily="34" charset="0"/>
                <a:ea typeface="Calibri" pitchFamily="34" charset="-122"/>
                <a:cs typeface="Calibri" pitchFamily="34" charset="-120"/>
              </a:rPr>
              <a:t>ROC-AUC  (95% CI 0.868–0.902)</a:t>
            </a:r>
            <a:endParaRPr lang="en-US" sz="1400" dirty="0"/>
          </a:p>
        </p:txBody>
      </p:sp>
      <p:sp>
        <p:nvSpPr>
          <p:cNvPr id="7" name="stat card"/>
          <p:cNvSpPr/>
          <p:nvPr/>
        </p:nvSpPr>
        <p:spPr>
          <a:xfrm>
            <a:off x="4297680" y="1280160"/>
            <a:ext cx="3566160" cy="1554480"/>
          </a:xfrm>
          <a:prstGeom prst="roundRect">
            <a:avLst>
              <a:gd name="adj" fmla="val 5882"/>
            </a:avLst>
          </a:prstGeom>
          <a:solidFill>
            <a:srgbClr val="EEF3F8"/>
          </a:solidFill>
          <a:ln w="12700">
            <a:solidFill>
              <a:srgbClr val="EEF3F8"/>
            </a:solidFill>
            <a:prstDash val="solid"/>
          </a:ln>
        </p:spPr>
      </p:sp>
      <p:sp>
        <p:nvSpPr>
          <p:cNvPr id="8" name="Text 5"/>
          <p:cNvSpPr txBox="1"/>
          <p:nvPr/>
        </p:nvSpPr>
        <p:spPr>
          <a:xfrm>
            <a:off x="4434840" y="1389888"/>
            <a:ext cx="3291840" cy="854964"/>
          </a:xfrm>
          <a:prstGeom prst="rect">
            <a:avLst/>
          </a:prstGeom>
          <a:noFill/>
          <a:ln/>
        </p:spPr>
        <p:txBody>
          <a:bodyPr wrap="square" lIns="0" tIns="0" rIns="0" bIns="0" rtlCol="0" anchor="ctr"/>
          <a:lstStyle/>
          <a:p>
            <a:pPr algn="ctr" indent="0" marL="0">
              <a:buNone/>
            </a:pPr>
            <a:r>
              <a:rPr lang="en-US" sz="4800" b="1" dirty="0">
                <a:solidFill>
                  <a:srgbClr val="12355B"/>
                </a:solidFill>
                <a:latin typeface="Cambria" pitchFamily="34" charset="0"/>
                <a:ea typeface="Cambria" pitchFamily="34" charset="-122"/>
                <a:cs typeface="Cambria" pitchFamily="34" charset="-120"/>
              </a:rPr>
              <a:t>0.420</a:t>
            </a:r>
            <a:endParaRPr lang="en-US" sz="4800" dirty="0"/>
          </a:p>
        </p:txBody>
      </p:sp>
      <p:sp>
        <p:nvSpPr>
          <p:cNvPr id="9" name="Text 6"/>
          <p:cNvSpPr txBox="1"/>
          <p:nvPr/>
        </p:nvSpPr>
        <p:spPr>
          <a:xfrm>
            <a:off x="4434840" y="2181758"/>
            <a:ext cx="3291840" cy="590702"/>
          </a:xfrm>
          <a:prstGeom prst="rect">
            <a:avLst/>
          </a:prstGeom>
          <a:noFill/>
          <a:ln/>
        </p:spPr>
        <p:txBody>
          <a:bodyPr wrap="square" lIns="0" tIns="0" rIns="0" bIns="0" rtlCol="0" anchor="t"/>
          <a:lstStyle/>
          <a:p>
            <a:pPr algn="ctr" indent="0" marL="0">
              <a:buNone/>
            </a:pPr>
            <a:r>
              <a:rPr lang="en-US" sz="1400" dirty="0">
                <a:solidFill>
                  <a:srgbClr val="5B6B7F"/>
                </a:solidFill>
                <a:latin typeface="Calibri" pitchFamily="34" charset="0"/>
                <a:ea typeface="Calibri" pitchFamily="34" charset="-122"/>
                <a:cs typeface="Calibri" pitchFamily="34" charset="-120"/>
              </a:rPr>
              <a:t>Log loss  (0.394–0.449)</a:t>
            </a:r>
            <a:endParaRPr lang="en-US" sz="1400" dirty="0"/>
          </a:p>
        </p:txBody>
      </p:sp>
      <p:sp>
        <p:nvSpPr>
          <p:cNvPr id="10" name="stat card"/>
          <p:cNvSpPr/>
          <p:nvPr/>
        </p:nvSpPr>
        <p:spPr>
          <a:xfrm>
            <a:off x="8046720" y="1280160"/>
            <a:ext cx="3566160" cy="1554480"/>
          </a:xfrm>
          <a:prstGeom prst="roundRect">
            <a:avLst>
              <a:gd name="adj" fmla="val 5882"/>
            </a:avLst>
          </a:prstGeom>
          <a:solidFill>
            <a:srgbClr val="EEF3F8"/>
          </a:solidFill>
          <a:ln w="12700">
            <a:solidFill>
              <a:srgbClr val="EEF3F8"/>
            </a:solidFill>
            <a:prstDash val="solid"/>
          </a:ln>
        </p:spPr>
      </p:sp>
      <p:sp>
        <p:nvSpPr>
          <p:cNvPr id="11" name="Text 8"/>
          <p:cNvSpPr txBox="1"/>
          <p:nvPr/>
        </p:nvSpPr>
        <p:spPr>
          <a:xfrm>
            <a:off x="8183880" y="1389888"/>
            <a:ext cx="3291840" cy="854964"/>
          </a:xfrm>
          <a:prstGeom prst="rect">
            <a:avLst/>
          </a:prstGeom>
          <a:noFill/>
          <a:ln/>
        </p:spPr>
        <p:txBody>
          <a:bodyPr wrap="square" lIns="0" tIns="0" rIns="0" bIns="0" rtlCol="0" anchor="ctr"/>
          <a:lstStyle/>
          <a:p>
            <a:pPr algn="ctr" indent="0" marL="0">
              <a:buNone/>
            </a:pPr>
            <a:r>
              <a:rPr lang="en-US" sz="4800" b="1" dirty="0">
                <a:solidFill>
                  <a:srgbClr val="12355B"/>
                </a:solidFill>
                <a:latin typeface="Cambria" pitchFamily="34" charset="0"/>
                <a:ea typeface="Cambria" pitchFamily="34" charset="-122"/>
                <a:cs typeface="Cambria" pitchFamily="34" charset="-120"/>
              </a:rPr>
              <a:t>0.134</a:t>
            </a:r>
            <a:endParaRPr lang="en-US" sz="4800" dirty="0"/>
          </a:p>
        </p:txBody>
      </p:sp>
      <p:sp>
        <p:nvSpPr>
          <p:cNvPr id="12" name="Text 9"/>
          <p:cNvSpPr txBox="1"/>
          <p:nvPr/>
        </p:nvSpPr>
        <p:spPr>
          <a:xfrm>
            <a:off x="8183880" y="2181758"/>
            <a:ext cx="3291840" cy="590702"/>
          </a:xfrm>
          <a:prstGeom prst="rect">
            <a:avLst/>
          </a:prstGeom>
          <a:noFill/>
          <a:ln/>
        </p:spPr>
        <p:txBody>
          <a:bodyPr wrap="square" lIns="0" tIns="0" rIns="0" bIns="0" rtlCol="0" anchor="t"/>
          <a:lstStyle/>
          <a:p>
            <a:pPr algn="ctr" indent="0" marL="0">
              <a:buNone/>
            </a:pPr>
            <a:r>
              <a:rPr lang="en-US" sz="1400" dirty="0">
                <a:solidFill>
                  <a:srgbClr val="5B6B7F"/>
                </a:solidFill>
                <a:latin typeface="Calibri" pitchFamily="34" charset="0"/>
                <a:ea typeface="Calibri" pitchFamily="34" charset="-122"/>
                <a:cs typeface="Calibri" pitchFamily="34" charset="-120"/>
              </a:rPr>
              <a:t>Brier score  (0.124–0.145)</a:t>
            </a:r>
            <a:endParaRPr lang="en-US" sz="1400" dirty="0"/>
          </a:p>
        </p:txBody>
      </p:sp>
      <p:graphicFrame>
        <p:nvGraphicFramePr>
          <p:cNvPr id="14" name="test table"/>
          <p:cNvGraphicFramePr>
            <a:graphicFrameLocks noGrp="1"/>
          </p:cNvGraphicFramePr>
          <p:nvPr>
            <p:extLst>
              <p:ext uri="{D42A27DB-BD31-4B8C-83A1-F6EECF244321}">
                <p14:modId xmlns:p14="http://schemas.microsoft.com/office/powerpoint/2010/main" val="1579011935"/>
              </p:ext>
            </p:extLst>
          </p:nvPr>
        </p:nvGraphicFramePr>
        <p:xfrm>
          <a:off x="548640" y="3108960"/>
          <a:ext cx="7315200" cy="914400"/>
        </p:xfrm>
        <a:graphic>
          <a:graphicData uri="http://schemas.openxmlformats.org/drawingml/2006/table">
            <a:tbl>
              <a:tblPr/>
              <a:tblGrid>
                <a:gridCol w="2926080"/>
                <a:gridCol w="1097280"/>
                <a:gridCol w="1097280"/>
                <a:gridCol w="1097280"/>
                <a:gridCol w="1097280"/>
              </a:tblGrid>
              <a:tr h="566928">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Test, n = 1,487</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2355B"/>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Accuracy</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2355B"/>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Precision</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2355B"/>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Recall</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2355B"/>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F1</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2355B"/>
                    </a:solidFill>
                  </a:tcPr>
                </a:tc>
              </a:tr>
              <a:tr h="566928">
                <a:tc>
                  <a:txBody>
                    <a:bodyPr/>
                    <a:lstStyle/>
                    <a:p>
                      <a:pPr algn="l" indent="0" marL="0">
                        <a:buNone/>
                      </a:pPr>
                      <a:r>
                        <a:rPr lang="en-US" sz="1400" dirty="0">
                          <a:solidFill>
                            <a:srgbClr val="1A2233"/>
                          </a:solidFill>
                          <a:latin typeface="Calibri" pitchFamily="34" charset="0"/>
                          <a:ea typeface="Calibri" pitchFamily="34" charset="-122"/>
                          <a:cs typeface="Calibri" pitchFamily="34" charset="-120"/>
                        </a:rPr>
                        <a:t>Threshold 0.50 (reference)</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A2233"/>
                          </a:solidFill>
                          <a:latin typeface="Calibri" pitchFamily="34" charset="0"/>
                          <a:ea typeface="Calibri" pitchFamily="34" charset="-122"/>
                          <a:cs typeface="Calibri" pitchFamily="34" charset="-120"/>
                        </a:rPr>
                        <a:t>0.812</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A2233"/>
                          </a:solidFill>
                          <a:latin typeface="Calibri" pitchFamily="34" charset="0"/>
                          <a:ea typeface="Calibri" pitchFamily="34" charset="-122"/>
                          <a:cs typeface="Calibri" pitchFamily="34" charset="-120"/>
                        </a:rPr>
                        <a:t>0.779</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A2233"/>
                          </a:solidFill>
                          <a:latin typeface="Calibri" pitchFamily="34" charset="0"/>
                          <a:ea typeface="Calibri" pitchFamily="34" charset="-122"/>
                          <a:cs typeface="Calibri" pitchFamily="34" charset="-120"/>
                        </a:rPr>
                        <a:t>0.765</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A2233"/>
                          </a:solidFill>
                          <a:latin typeface="Calibri" pitchFamily="34" charset="0"/>
                          <a:ea typeface="Calibri" pitchFamily="34" charset="-122"/>
                          <a:cs typeface="Calibri" pitchFamily="34" charset="-120"/>
                        </a:rPr>
                        <a:t>0.772</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FFFFF"/>
                    </a:solidFill>
                  </a:tcPr>
                </a:tc>
              </a:tr>
              <a:tr h="566928">
                <a:tc>
                  <a:txBody>
                    <a:bodyPr/>
                    <a:lstStyle/>
                    <a:p>
                      <a:pPr algn="l" indent="0" marL="0">
                        <a:buNone/>
                      </a:pPr>
                      <a:r>
                        <a:rPr lang="en-US" sz="1400" b="1" dirty="0">
                          <a:solidFill>
                            <a:srgbClr val="1A2233"/>
                          </a:solidFill>
                          <a:latin typeface="Calibri" pitchFamily="34" charset="0"/>
                          <a:ea typeface="Calibri" pitchFamily="34" charset="-122"/>
                          <a:cs typeface="Calibri" pitchFamily="34" charset="-120"/>
                        </a:rPr>
                        <a:t>Threshold 0.35 (selected)</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EEF3F8"/>
                    </a:solidFill>
                  </a:tcPr>
                </a:tc>
                <a:tc>
                  <a:txBody>
                    <a:bodyPr/>
                    <a:lstStyle/>
                    <a:p>
                      <a:pPr algn="ctr" indent="0" marL="0">
                        <a:buNone/>
                      </a:pPr>
                      <a:r>
                        <a:rPr lang="en-US" sz="1400" b="1" dirty="0">
                          <a:solidFill>
                            <a:srgbClr val="1A2233"/>
                          </a:solidFill>
                          <a:latin typeface="Calibri" pitchFamily="34" charset="0"/>
                          <a:ea typeface="Calibri" pitchFamily="34" charset="-122"/>
                          <a:cs typeface="Calibri" pitchFamily="34" charset="-120"/>
                        </a:rPr>
                        <a:t>0.802</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EEF3F8"/>
                    </a:solidFill>
                  </a:tcPr>
                </a:tc>
                <a:tc>
                  <a:txBody>
                    <a:bodyPr/>
                    <a:lstStyle/>
                    <a:p>
                      <a:pPr algn="ctr" indent="0" marL="0">
                        <a:buNone/>
                      </a:pPr>
                      <a:r>
                        <a:rPr lang="en-US" sz="1400" b="1" dirty="0">
                          <a:solidFill>
                            <a:srgbClr val="1A2233"/>
                          </a:solidFill>
                          <a:latin typeface="Calibri" pitchFamily="34" charset="0"/>
                          <a:ea typeface="Calibri" pitchFamily="34" charset="-122"/>
                          <a:cs typeface="Calibri" pitchFamily="34" charset="-120"/>
                        </a:rPr>
                        <a:t>0.722</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EEF3F8"/>
                    </a:solidFill>
                  </a:tcPr>
                </a:tc>
                <a:tc>
                  <a:txBody>
                    <a:bodyPr/>
                    <a:lstStyle/>
                    <a:p>
                      <a:pPr algn="ctr" indent="0" marL="0">
                        <a:buNone/>
                      </a:pPr>
                      <a:r>
                        <a:rPr lang="en-US" sz="1400" b="1" dirty="0">
                          <a:solidFill>
                            <a:srgbClr val="1A2233"/>
                          </a:solidFill>
                          <a:latin typeface="Calibri" pitchFamily="34" charset="0"/>
                          <a:ea typeface="Calibri" pitchFamily="34" charset="-122"/>
                          <a:cs typeface="Calibri" pitchFamily="34" charset="-120"/>
                        </a:rPr>
                        <a:t>0.851</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EEF3F8"/>
                    </a:solidFill>
                  </a:tcPr>
                </a:tc>
                <a:tc>
                  <a:txBody>
                    <a:bodyPr/>
                    <a:lstStyle/>
                    <a:p>
                      <a:pPr algn="ctr" indent="0" marL="0">
                        <a:buNone/>
                      </a:pPr>
                      <a:r>
                        <a:rPr lang="en-US" sz="1400" b="1" dirty="0">
                          <a:solidFill>
                            <a:srgbClr val="1A2233"/>
                          </a:solidFill>
                          <a:latin typeface="Calibri" pitchFamily="34" charset="0"/>
                          <a:ea typeface="Calibri" pitchFamily="34" charset="-122"/>
                          <a:cs typeface="Calibri" pitchFamily="34" charset="-120"/>
                        </a:rPr>
                        <a:t>0.781</a:t>
                      </a:r>
                      <a:endParaRPr lang="en-US" sz="1400" dirty="0">
                        <a:latin typeface="Calibri" charset="0"/>
                        <a:ea typeface="Calibri" charset="0"/>
                        <a:cs typeface="Calibri" charset="0"/>
                      </a:endParaRPr>
                    </a:p>
                  </a:txBody>
                  <a:tcPr marL="91440" marR="91440" marT="45720" marB="45720"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EEF3F8"/>
                    </a:solidFill>
                  </a:tcPr>
                </a:tc>
              </a:tr>
            </a:tbl>
          </a:graphicData>
        </a:graphic>
      </p:graphicFrame>
      <p:sp>
        <p:nvSpPr>
          <p:cNvPr id="14" name="Text 10"/>
          <p:cNvSpPr txBox="1"/>
          <p:nvPr/>
        </p:nvSpPr>
        <p:spPr>
          <a:xfrm>
            <a:off x="548640" y="4892040"/>
            <a:ext cx="7315200" cy="640080"/>
          </a:xfrm>
          <a:prstGeom prst="rect">
            <a:avLst/>
          </a:prstGeom>
          <a:noFill/>
          <a:ln/>
        </p:spPr>
        <p:txBody>
          <a:bodyPr wrap="square" lIns="0" tIns="0" rIns="0" bIns="0" rtlCol="0" anchor="t"/>
          <a:lstStyle/>
          <a:p>
            <a:pPr indent="0" marL="0">
              <a:buNone/>
            </a:pPr>
            <a:r>
              <a:rPr lang="en-US" sz="1400" dirty="0">
                <a:solidFill>
                  <a:srgbClr val="1A2233"/>
                </a:solidFill>
                <a:latin typeface="Calibri" pitchFamily="34" charset="0"/>
                <a:ea typeface="Calibri" pitchFamily="34" charset="-122"/>
                <a:cs typeface="Calibri" pitchFamily="34" charset="-120"/>
              </a:rPr>
              <a:t>0.35 vs 0.50: 53 fewer false negatives, 69 more false positives. No significance test for the F1 difference.</a:t>
            </a:r>
            <a:endParaRPr lang="en-US" sz="1400" dirty="0"/>
          </a:p>
        </p:txBody>
      </p:sp>
      <p:sp>
        <p:nvSpPr>
          <p:cNvPr id="15" name="stat card"/>
          <p:cNvSpPr/>
          <p:nvPr/>
        </p:nvSpPr>
        <p:spPr>
          <a:xfrm>
            <a:off x="8138160" y="3108960"/>
            <a:ext cx="1691640" cy="1737360"/>
          </a:xfrm>
          <a:prstGeom prst="roundRect">
            <a:avLst>
              <a:gd name="adj" fmla="val 5405"/>
            </a:avLst>
          </a:prstGeom>
          <a:solidFill>
            <a:srgbClr val="EEF3F8"/>
          </a:solidFill>
          <a:ln w="12700">
            <a:solidFill>
              <a:srgbClr val="EEF3F8"/>
            </a:solidFill>
            <a:prstDash val="solid"/>
          </a:ln>
        </p:spPr>
      </p:sp>
      <p:sp>
        <p:nvSpPr>
          <p:cNvPr id="16" name="Text 12"/>
          <p:cNvSpPr txBox="1"/>
          <p:nvPr/>
        </p:nvSpPr>
        <p:spPr>
          <a:xfrm>
            <a:off x="8275320" y="3218688"/>
            <a:ext cx="1417320" cy="955548"/>
          </a:xfrm>
          <a:prstGeom prst="rect">
            <a:avLst/>
          </a:prstGeom>
          <a:noFill/>
          <a:ln/>
        </p:spPr>
        <p:txBody>
          <a:bodyPr wrap="square" lIns="0" tIns="0" rIns="0" bIns="0" rtlCol="0" anchor="ctr"/>
          <a:lstStyle/>
          <a:p>
            <a:pPr algn="ctr" indent="0" marL="0">
              <a:buNone/>
            </a:pPr>
            <a:r>
              <a:rPr lang="en-US" sz="3200" b="1" dirty="0">
                <a:solidFill>
                  <a:srgbClr val="17798A"/>
                </a:solidFill>
                <a:latin typeface="Cambria" pitchFamily="34" charset="0"/>
                <a:ea typeface="Cambria" pitchFamily="34" charset="-122"/>
                <a:cs typeface="Cambria" pitchFamily="34" charset="-120"/>
              </a:rPr>
              <a:t>1.05</a:t>
            </a:r>
            <a:endParaRPr lang="en-US" sz="3200" dirty="0"/>
          </a:p>
        </p:txBody>
      </p:sp>
      <p:sp>
        <p:nvSpPr>
          <p:cNvPr id="17" name="Text 13"/>
          <p:cNvSpPr txBox="1"/>
          <p:nvPr/>
        </p:nvSpPr>
        <p:spPr>
          <a:xfrm>
            <a:off x="8275320" y="4116629"/>
            <a:ext cx="1417320" cy="660197"/>
          </a:xfrm>
          <a:prstGeom prst="rect">
            <a:avLst/>
          </a:prstGeom>
          <a:noFill/>
          <a:ln/>
        </p:spPr>
        <p:txBody>
          <a:bodyPr wrap="square" lIns="0" tIns="0" rIns="0" bIns="0" rtlCol="0" anchor="t"/>
          <a:lstStyle/>
          <a:p>
            <a:pPr algn="ctr" indent="0" marL="0">
              <a:buNone/>
            </a:pPr>
            <a:r>
              <a:rPr lang="en-US" sz="1300" dirty="0">
                <a:solidFill>
                  <a:srgbClr val="5B6B7F"/>
                </a:solidFill>
                <a:latin typeface="Calibri" pitchFamily="34" charset="0"/>
                <a:ea typeface="Calibri" pitchFamily="34" charset="-122"/>
                <a:cs typeface="Calibri" pitchFamily="34" charset="-120"/>
              </a:rPr>
              <a:t>calibration slope</a:t>
            </a:r>
            <a:endParaRPr lang="en-US" sz="1300" dirty="0"/>
          </a:p>
        </p:txBody>
      </p:sp>
      <p:sp>
        <p:nvSpPr>
          <p:cNvPr id="18" name="stat card"/>
          <p:cNvSpPr/>
          <p:nvPr/>
        </p:nvSpPr>
        <p:spPr>
          <a:xfrm>
            <a:off x="9921240" y="3108960"/>
            <a:ext cx="1691640" cy="1737360"/>
          </a:xfrm>
          <a:prstGeom prst="roundRect">
            <a:avLst>
              <a:gd name="adj" fmla="val 5405"/>
            </a:avLst>
          </a:prstGeom>
          <a:solidFill>
            <a:srgbClr val="EEF3F8"/>
          </a:solidFill>
          <a:ln w="12700">
            <a:solidFill>
              <a:srgbClr val="EEF3F8"/>
            </a:solidFill>
            <a:prstDash val="solid"/>
          </a:ln>
        </p:spPr>
      </p:sp>
      <p:sp>
        <p:nvSpPr>
          <p:cNvPr id="19" name="Text 15"/>
          <p:cNvSpPr txBox="1"/>
          <p:nvPr/>
        </p:nvSpPr>
        <p:spPr>
          <a:xfrm>
            <a:off x="10058400" y="3218688"/>
            <a:ext cx="1417320" cy="955548"/>
          </a:xfrm>
          <a:prstGeom prst="rect">
            <a:avLst/>
          </a:prstGeom>
          <a:noFill/>
          <a:ln/>
        </p:spPr>
        <p:txBody>
          <a:bodyPr wrap="square" lIns="0" tIns="0" rIns="0" bIns="0" rtlCol="0" anchor="ctr"/>
          <a:lstStyle/>
          <a:p>
            <a:pPr algn="ctr" indent="0" marL="0">
              <a:buNone/>
            </a:pPr>
            <a:r>
              <a:rPr lang="en-US" sz="3200" b="1" dirty="0">
                <a:solidFill>
                  <a:srgbClr val="17798A"/>
                </a:solidFill>
                <a:latin typeface="Cambria" pitchFamily="34" charset="0"/>
                <a:ea typeface="Cambria" pitchFamily="34" charset="-122"/>
                <a:cs typeface="Cambria" pitchFamily="34" charset="-120"/>
              </a:rPr>
              <a:t>0.016</a:t>
            </a:r>
            <a:endParaRPr lang="en-US" sz="3200" dirty="0"/>
          </a:p>
        </p:txBody>
      </p:sp>
      <p:sp>
        <p:nvSpPr>
          <p:cNvPr id="20" name="Text 16"/>
          <p:cNvSpPr txBox="1"/>
          <p:nvPr/>
        </p:nvSpPr>
        <p:spPr>
          <a:xfrm>
            <a:off x="10058400" y="4116629"/>
            <a:ext cx="1417320" cy="660197"/>
          </a:xfrm>
          <a:prstGeom prst="rect">
            <a:avLst/>
          </a:prstGeom>
          <a:noFill/>
          <a:ln/>
        </p:spPr>
        <p:txBody>
          <a:bodyPr wrap="square" lIns="0" tIns="0" rIns="0" bIns="0" rtlCol="0" anchor="t"/>
          <a:lstStyle/>
          <a:p>
            <a:pPr algn="ctr" indent="0" marL="0">
              <a:buNone/>
            </a:pPr>
            <a:r>
              <a:rPr lang="en-US" sz="1300" dirty="0">
                <a:solidFill>
                  <a:srgbClr val="5B6B7F"/>
                </a:solidFill>
                <a:latin typeface="Calibri" pitchFamily="34" charset="0"/>
                <a:ea typeface="Calibri" pitchFamily="34" charset="-122"/>
                <a:cs typeface="Calibri" pitchFamily="34" charset="-120"/>
              </a:rPr>
              <a:t>ECE</a:t>
            </a:r>
            <a:endParaRPr lang="en-US" sz="1300" dirty="0"/>
          </a:p>
        </p:txBody>
      </p:sp>
      <p:sp>
        <p:nvSpPr>
          <p:cNvPr id="21" name="auc note"/>
          <p:cNvSpPr/>
          <p:nvPr/>
        </p:nvSpPr>
        <p:spPr>
          <a:xfrm>
            <a:off x="8138160" y="4983480"/>
            <a:ext cx="3474720" cy="548640"/>
          </a:xfrm>
          <a:prstGeom prst="roundRect">
            <a:avLst>
              <a:gd name="adj" fmla="val 16667"/>
            </a:avLst>
          </a:prstGeom>
          <a:solidFill>
            <a:srgbClr val="E8A33D"/>
          </a:solidFill>
          <a:ln w="12700">
            <a:solidFill>
              <a:srgbClr val="E8A33D"/>
            </a:solidFill>
            <a:prstDash val="solid"/>
          </a:ln>
        </p:spPr>
      </p:sp>
      <p:sp>
        <p:nvSpPr>
          <p:cNvPr id="22" name="Text 18"/>
          <p:cNvSpPr txBox="1"/>
          <p:nvPr/>
        </p:nvSpPr>
        <p:spPr>
          <a:xfrm>
            <a:off x="8138160" y="4983480"/>
            <a:ext cx="3474720" cy="548640"/>
          </a:xfrm>
          <a:prstGeom prst="rect">
            <a:avLst/>
          </a:prstGeom>
          <a:noFill/>
          <a:ln/>
        </p:spPr>
        <p:txBody>
          <a:bodyPr wrap="square" lIns="0" tIns="0" rIns="0" bIns="0" rtlCol="0" anchor="ctr"/>
          <a:lstStyle/>
          <a:p>
            <a:pPr algn="ctr" indent="0" marL="0">
              <a:buNone/>
            </a:pPr>
            <a:r>
              <a:rPr lang="en-US" sz="1400" b="1" dirty="0">
                <a:solidFill>
                  <a:srgbClr val="1A2233"/>
                </a:solidFill>
                <a:latin typeface="Calibri" pitchFamily="34" charset="0"/>
                <a:ea typeface="Calibri" pitchFamily="34" charset="-122"/>
                <a:cs typeface="Calibri" pitchFamily="34" charset="-120"/>
              </a:rPr>
              <a:t>0.886 is ROC-AUC, not accuracy</a:t>
            </a:r>
            <a:endParaRPr lang="en-US" sz="1400" dirty="0"/>
          </a:p>
        </p:txBody>
      </p:sp>
      <p:sp>
        <p:nvSpPr>
          <p:cNvPr id="23" name="Text 19"/>
          <p:cNvSpPr txBox="1"/>
          <p:nvPr/>
        </p:nvSpPr>
        <p:spPr>
          <a:xfrm>
            <a:off x="548640" y="5669280"/>
            <a:ext cx="11064240" cy="594360"/>
          </a:xfrm>
          <a:prstGeom prst="rect">
            <a:avLst/>
          </a:prstGeom>
          <a:noFill/>
          <a:ln/>
        </p:spPr>
        <p:txBody>
          <a:bodyPr wrap="square" lIns="0" tIns="0" rIns="0" bIns="0" rtlCol="0" anchor="t"/>
          <a:lstStyle/>
          <a:p>
            <a:pPr indent="0" marL="0">
              <a:buNone/>
            </a:pPr>
            <a:r>
              <a:rPr lang="en-US" sz="1200" dirty="0">
                <a:solidFill>
                  <a:srgbClr val="5B6B7F"/>
                </a:solidFill>
                <a:latin typeface="Calibri" pitchFamily="34" charset="0"/>
                <a:ea typeface="Calibri" pitchFamily="34" charset="-122"/>
                <a:cs typeface="Calibri" pitchFamily="34" charset="-120"/>
              </a:rPr>
              <a:t>Frozen specification refit on train + validation (8,425), evaluated once. 95% bootstrap CIs. Test rows were also used in early descriptive analyses, never to fit, select, tune, calibrate or set thresholds.</a:t>
            </a:r>
            <a:endParaRPr lang="en-US" sz="1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F"/>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lIns="0" tIns="0" rIns="0" bIns="0" rtlCol="0" anchor="ctr"/>
          <a:lstStyle/>
          <a:p>
            <a:pPr algn="l" indent="0" marL="0">
              <a:buNone/>
            </a:pPr>
            <a:r>
              <a:rPr lang="en-US" sz="3200" b="1" dirty="0">
                <a:solidFill>
                  <a:srgbClr val="12355B"/>
                </a:solidFill>
                <a:latin typeface="Cambria" pitchFamily="34" charset="0"/>
                <a:ea typeface="Cambria" pitchFamily="34" charset="-122"/>
                <a:cs typeface="Cambria" pitchFamily="34" charset="-120"/>
              </a:rPr>
              <a:t>The frozen model as an interactive application</a:t>
            </a:r>
            <a:endParaRPr lang="en-US" sz="3200" dirty="0"/>
          </a:p>
        </p:txBody>
      </p:sp>
      <p:sp>
        <p:nvSpPr>
          <p:cNvPr id="4" name="inputs"/>
          <p:cNvSpPr/>
          <p:nvPr/>
        </p:nvSpPr>
        <p:spPr>
          <a:xfrm>
            <a:off x="548640" y="1371600"/>
            <a:ext cx="2834640" cy="3931920"/>
          </a:xfrm>
          <a:prstGeom prst="roundRect">
            <a:avLst>
              <a:gd name="adj" fmla="val 3226"/>
            </a:avLst>
          </a:prstGeom>
          <a:solidFill>
            <a:srgbClr val="EEF3F8"/>
          </a:solidFill>
          <a:ln w="12700">
            <a:solidFill>
              <a:srgbClr val="EEF3F8"/>
            </a:solidFill>
            <a:prstDash val="solid"/>
          </a:ln>
        </p:spPr>
        <p:txBody>
          <a:bodyPr/>
          <a:p/>
        </p:txBody>
      </p:sp>
      <p:sp>
        <p:nvSpPr>
          <p:cNvPr id="5" name="Text 2"/>
          <p:cNvSpPr txBox="1"/>
          <p:nvPr/>
        </p:nvSpPr>
        <p:spPr>
          <a:xfrm>
            <a:off x="731520" y="1463040"/>
            <a:ext cx="2468880" cy="365760"/>
          </a:xfrm>
          <a:prstGeom prst="rect">
            <a:avLst/>
          </a:prstGeom>
          <a:noFill/>
          <a:ln/>
        </p:spPr>
        <p:txBody>
          <a:bodyPr wrap="square" lIns="0" tIns="0" rIns="0" bIns="0" rtlCol="0" anchor="t"/>
          <a:lstStyle/>
          <a:p>
            <a:pPr indent="0" marL="0">
              <a:buNone/>
            </a:pPr>
            <a:r>
              <a:rPr lang="en-US" sz="1800" b="1" dirty="0">
                <a:solidFill>
                  <a:srgbClr val="12355B"/>
                </a:solidFill>
                <a:latin typeface="Calibri" pitchFamily="34" charset="0"/>
                <a:ea typeface="Calibri" pitchFamily="34" charset="-122"/>
                <a:cs typeface="Calibri" pitchFamily="34" charset="-120"/>
              </a:rPr>
              <a:t>10 student inputs</a:t>
            </a:r>
            <a:endParaRPr lang="en-US" sz="1800" dirty="0"/>
          </a:p>
        </p:txBody>
      </p:sp>
      <p:sp>
        <p:nvSpPr>
          <p:cNvPr id="6" name="Text 3"/>
          <p:cNvSpPr txBox="1"/>
          <p:nvPr/>
        </p:nvSpPr>
        <p:spPr>
          <a:xfrm>
            <a:off x="777240" y="1920240"/>
            <a:ext cx="2468880" cy="329184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rgbClr val="1A2233"/>
                </a:solidFill>
                <a:latin typeface="Calibri" pitchFamily="34" charset="0"/>
                <a:ea typeface="Calibri" pitchFamily="34" charset="-122"/>
                <a:cs typeface="Calibri" pitchFamily="34" charset="-120"/>
              </a:rPr>
              <a:t>CGPA</a:t>
            </a:r>
            <a:endParaRPr lang="en-US" sz="1400" dirty="0"/>
          </a:p>
          <a:p>
            <a:pPr marL="342900" indent="-342900">
              <a:spcAft>
                <a:spcPts val="300"/>
              </a:spcAft>
              <a:buSzPct val="100000"/>
              <a:buChar char="•"/>
            </a:pPr>
            <a:r>
              <a:rPr lang="en-US" sz="1400" dirty="0">
                <a:solidFill>
                  <a:srgbClr val="1A2233"/>
                </a:solidFill>
                <a:latin typeface="Calibri" pitchFamily="34" charset="0"/>
                <a:ea typeface="Calibri" pitchFamily="34" charset="-122"/>
                <a:cs typeface="Calibri" pitchFamily="34" charset="-120"/>
              </a:rPr>
              <a:t>SSC / HSC marks</a:t>
            </a:r>
            <a:endParaRPr lang="en-US" sz="1400" dirty="0"/>
          </a:p>
          <a:p>
            <a:pPr marL="342900" indent="-342900">
              <a:spcAft>
                <a:spcPts val="300"/>
              </a:spcAft>
              <a:buSzPct val="100000"/>
              <a:buChar char="•"/>
            </a:pPr>
            <a:r>
              <a:rPr lang="en-US" sz="1400" dirty="0">
                <a:solidFill>
                  <a:srgbClr val="1A2233"/>
                </a:solidFill>
                <a:latin typeface="Calibri" pitchFamily="34" charset="0"/>
                <a:ea typeface="Calibri" pitchFamily="34" charset="-122"/>
                <a:cs typeface="Calibri" pitchFamily="34" charset="-120"/>
              </a:rPr>
              <a:t>Aptitude score</a:t>
            </a:r>
            <a:endParaRPr lang="en-US" sz="1400" dirty="0"/>
          </a:p>
          <a:p>
            <a:pPr marL="342900" indent="-342900">
              <a:spcAft>
                <a:spcPts val="300"/>
              </a:spcAft>
              <a:buSzPct val="100000"/>
              <a:buChar char="•"/>
            </a:pPr>
            <a:r>
              <a:rPr lang="en-US" sz="1400" dirty="0">
                <a:solidFill>
                  <a:srgbClr val="1A2233"/>
                </a:solidFill>
                <a:latin typeface="Calibri" pitchFamily="34" charset="0"/>
                <a:ea typeface="Calibri" pitchFamily="34" charset="-122"/>
                <a:cs typeface="Calibri" pitchFamily="34" charset="-120"/>
              </a:rPr>
              <a:t>Soft skills rating</a:t>
            </a:r>
            <a:endParaRPr lang="en-US" sz="1400" dirty="0"/>
          </a:p>
          <a:p>
            <a:pPr marL="342900" indent="-342900">
              <a:spcAft>
                <a:spcPts val="300"/>
              </a:spcAft>
              <a:buSzPct val="100000"/>
              <a:buChar char="•"/>
            </a:pPr>
            <a:r>
              <a:rPr lang="en-US" sz="1400" dirty="0">
                <a:solidFill>
                  <a:srgbClr val="1A2233"/>
                </a:solidFill>
                <a:latin typeface="Calibri" pitchFamily="34" charset="0"/>
                <a:ea typeface="Calibri" pitchFamily="34" charset="-122"/>
                <a:cs typeface="Calibri" pitchFamily="34" charset="-120"/>
              </a:rPr>
              <a:t>Internships</a:t>
            </a:r>
            <a:endParaRPr lang="en-US" sz="1400" dirty="0"/>
          </a:p>
          <a:p>
            <a:pPr marL="342900" indent="-342900">
              <a:spcAft>
                <a:spcPts val="300"/>
              </a:spcAft>
              <a:buSzPct val="100000"/>
              <a:buChar char="•"/>
            </a:pPr>
            <a:r>
              <a:rPr lang="en-US" sz="1400" dirty="0">
                <a:solidFill>
                  <a:srgbClr val="1A2233"/>
                </a:solidFill>
                <a:latin typeface="Calibri" pitchFamily="34" charset="0"/>
                <a:ea typeface="Calibri" pitchFamily="34" charset="-122"/>
                <a:cs typeface="Calibri" pitchFamily="34" charset="-120"/>
              </a:rPr>
              <a:t>Projects</a:t>
            </a:r>
            <a:endParaRPr lang="en-US" sz="1400" dirty="0"/>
          </a:p>
          <a:p>
            <a:pPr marL="342900" indent="-342900">
              <a:spcAft>
                <a:spcPts val="300"/>
              </a:spcAft>
              <a:buSzPct val="100000"/>
              <a:buChar char="•"/>
            </a:pPr>
            <a:r>
              <a:rPr lang="en-US" sz="1400" dirty="0">
                <a:solidFill>
                  <a:srgbClr val="1A2233"/>
                </a:solidFill>
                <a:latin typeface="Calibri" pitchFamily="34" charset="0"/>
                <a:ea typeface="Calibri" pitchFamily="34" charset="-122"/>
                <a:cs typeface="Calibri" pitchFamily="34" charset="-120"/>
              </a:rPr>
              <a:t>Workshops / Certs</a:t>
            </a:r>
            <a:endParaRPr lang="en-US" sz="1400" dirty="0"/>
          </a:p>
          <a:p>
            <a:pPr marL="342900" indent="-342900">
              <a:spcAft>
                <a:spcPts val="300"/>
              </a:spcAft>
              <a:buSzPct val="100000"/>
              <a:buChar char="•"/>
            </a:pPr>
            <a:r>
              <a:rPr lang="en-US" sz="1400" dirty="0">
                <a:solidFill>
                  <a:srgbClr val="1A2233"/>
                </a:solidFill>
                <a:latin typeface="Calibri" pitchFamily="34" charset="0"/>
                <a:ea typeface="Calibri" pitchFamily="34" charset="-122"/>
                <a:cs typeface="Calibri" pitchFamily="34" charset="-120"/>
              </a:rPr>
              <a:t>Extracurricular (Y/N)</a:t>
            </a:r>
            <a:endParaRPr lang="en-US" sz="1400" dirty="0"/>
          </a:p>
          <a:p>
            <a:pPr marL="342900" indent="-342900">
              <a:spcAft>
                <a:spcPts val="300"/>
              </a:spcAft>
              <a:buSzPct val="100000"/>
              <a:buChar char="•"/>
            </a:pPr>
            <a:r>
              <a:rPr lang="en-US" sz="1400" dirty="0">
                <a:solidFill>
                  <a:srgbClr val="1A2233"/>
                </a:solidFill>
                <a:latin typeface="Calibri" pitchFamily="34" charset="0"/>
                <a:ea typeface="Calibri" pitchFamily="34" charset="-122"/>
                <a:cs typeface="Calibri" pitchFamily="34" charset="-120"/>
              </a:rPr>
              <a:t>Placement training (Y/N)</a:t>
            </a:r>
            <a:endParaRPr lang="en-US" sz="1400" dirty="0"/>
          </a:p>
        </p:txBody>
      </p:sp>
      <p:sp>
        <p:nvSpPr>
          <p:cNvPr id="7" name="arrow"/>
          <p:cNvSpPr/>
          <p:nvPr/>
        </p:nvSpPr>
        <p:spPr>
          <a:xfrm>
            <a:off x="3429000" y="3337560"/>
            <a:ext cx="731520" cy="0"/>
          </a:xfrm>
          <a:prstGeom prst="line">
            <a:avLst/>
          </a:prstGeom>
          <a:noFill/>
          <a:ln w="25400">
            <a:solidFill>
              <a:srgbClr val="5B6B7F"/>
            </a:solidFill>
            <a:prstDash val="solid"/>
            <a:tailEnd type="triangle"/>
          </a:ln>
        </p:spPr>
        <p:txBody>
          <a:bodyPr/>
          <a:p/>
        </p:txBody>
      </p:sp>
      <p:sp>
        <p:nvSpPr>
          <p:cNvPr id="8" name="model"/>
          <p:cNvSpPr/>
          <p:nvPr/>
        </p:nvSpPr>
        <p:spPr>
          <a:xfrm>
            <a:off x="4206240" y="2148840"/>
            <a:ext cx="2926080" cy="2377440"/>
          </a:xfrm>
          <a:prstGeom prst="roundRect">
            <a:avLst>
              <a:gd name="adj" fmla="val 3846"/>
            </a:avLst>
          </a:prstGeom>
          <a:solidFill>
            <a:srgbClr val="12355B"/>
          </a:solidFill>
          <a:ln w="12700">
            <a:solidFill>
              <a:srgbClr val="12355B"/>
            </a:solidFill>
            <a:prstDash val="solid"/>
          </a:ln>
        </p:spPr>
        <p:txBody>
          <a:bodyPr/>
          <a:p/>
        </p:txBody>
      </p:sp>
      <p:sp>
        <p:nvSpPr>
          <p:cNvPr id="9" name="Text 6"/>
          <p:cNvSpPr txBox="1"/>
          <p:nvPr/>
        </p:nvSpPr>
        <p:spPr>
          <a:xfrm>
            <a:off x="4343400" y="2240280"/>
            <a:ext cx="2651760" cy="2194560"/>
          </a:xfrm>
          <a:prstGeom prst="rect">
            <a:avLst/>
          </a:prstGeom>
          <a:noFill/>
          <a:ln/>
        </p:spPr>
        <p:txBody>
          <a:bodyPr wrap="square" lIns="0" tIns="0" rIns="0" bIns="0" rtlCol="0" anchor="ctr"/>
          <a:lstStyle/>
          <a:p>
            <a:pPr algn="ctr" indent="0" marL="0">
              <a:spcAft>
                <a:spcPts val="600"/>
              </a:spcAft>
              <a:buNone/>
            </a:pPr>
            <a:r>
              <a:rPr lang="en-US" sz="2400" b="1" dirty="0">
                <a:solidFill>
                  <a:srgbClr val="FFFFFF"/>
                </a:solidFill>
                <a:latin typeface="Calibri" pitchFamily="34" charset="0"/>
                <a:ea typeface="Calibri" pitchFamily="34" charset="-122"/>
                <a:cs typeface="Calibri" pitchFamily="34" charset="-120"/>
              </a:rPr>
              <a:t>Frozen LR_B</a:t>
            </a:r>
            <a:endParaRPr lang="en-US" sz="2400" dirty="0"/>
          </a:p>
          <a:p>
            <a:pPr algn="ctr" indent="0" marL="0">
              <a:spcAft>
                <a:spcPts val="600"/>
              </a:spcAft>
              <a:buNone/>
            </a:pPr>
            <a:r>
              <a:rPr lang="en-US" sz="1400" dirty="0">
                <a:solidFill>
                  <a:srgbClr val="8FB8C9"/>
                </a:solidFill>
                <a:latin typeface="Calibri" pitchFamily="34" charset="0"/>
                <a:ea typeface="Calibri" pitchFamily="34" charset="-122"/>
                <a:cs typeface="Calibri" pitchFamily="34" charset="-120"/>
              </a:rPr>
              <a:t>Phase 7 model, refit on train + validation</a:t>
            </a:r>
            <a:endParaRPr lang="en-US" sz="2400" dirty="0"/>
          </a:p>
          <a:p>
            <a:pPr algn="ctr" indent="0" marL="0">
              <a:spcAft>
                <a:spcPts val="600"/>
              </a:spcAft>
              <a:buNone/>
            </a:pPr>
            <a:r>
              <a:rPr lang="en-US" sz="1400" dirty="0">
                <a:solidFill>
                  <a:srgbClr val="8FB8C9"/>
                </a:solidFill>
                <a:latin typeface="Calibri" pitchFamily="34" charset="0"/>
                <a:ea typeface="Calibri" pitchFamily="34" charset="-122"/>
                <a:cs typeface="Calibri" pitchFamily="34" charset="-120"/>
              </a:rPr>
              <a:t>nothing retrained, tuned or recalibrated</a:t>
            </a:r>
            <a:endParaRPr lang="en-US" sz="2400" dirty="0"/>
          </a:p>
        </p:txBody>
      </p:sp>
      <p:sp>
        <p:nvSpPr>
          <p:cNvPr id="10" name="arrow"/>
          <p:cNvSpPr/>
          <p:nvPr/>
        </p:nvSpPr>
        <p:spPr>
          <a:xfrm>
            <a:off x="7178040" y="3337560"/>
            <a:ext cx="731520" cy="0"/>
          </a:xfrm>
          <a:prstGeom prst="line">
            <a:avLst/>
          </a:prstGeom>
          <a:noFill/>
          <a:ln w="25400">
            <a:solidFill>
              <a:srgbClr val="5B6B7F"/>
            </a:solidFill>
            <a:prstDash val="solid"/>
            <a:tailEnd type="triangle"/>
          </a:ln>
        </p:spPr>
        <p:txBody>
          <a:bodyPr/>
          <a:p/>
        </p:txBody>
      </p:sp>
      <p:sp>
        <p:nvSpPr>
          <p:cNvPr id="11" name="output 1"/>
          <p:cNvSpPr/>
          <p:nvPr/>
        </p:nvSpPr>
        <p:spPr>
          <a:xfrm>
            <a:off x="7955280" y="1371600"/>
            <a:ext cx="3657600" cy="1188720"/>
          </a:xfrm>
          <a:prstGeom prst="roundRect">
            <a:avLst>
              <a:gd name="adj" fmla="val 7692"/>
            </a:avLst>
          </a:prstGeom>
          <a:solidFill>
            <a:srgbClr val="FFFFFF"/>
          </a:solidFill>
          <a:ln w="12700">
            <a:solidFill>
              <a:srgbClr val="17798A"/>
            </a:solidFill>
            <a:prstDash val="solid"/>
          </a:ln>
          <a:effectLst>
            <a:outerShdw sx="100000" sy="100000" kx="0" ky="0" algn="bl" rotWithShape="0" blurRad="76200" dist="25400" dir="5400000">
              <a:srgbClr val="000000">
                <a:alpha val="12000"/>
              </a:srgbClr>
            </a:outerShdw>
          </a:effectLst>
        </p:spPr>
        <p:txBody>
          <a:bodyPr/>
          <a:p/>
        </p:txBody>
      </p:sp>
      <p:sp>
        <p:nvSpPr>
          <p:cNvPr id="12" name="Text 9"/>
          <p:cNvSpPr txBox="1"/>
          <p:nvPr/>
        </p:nvSpPr>
        <p:spPr>
          <a:xfrm>
            <a:off x="8138160" y="1463040"/>
            <a:ext cx="3291840" cy="411480"/>
          </a:xfrm>
          <a:prstGeom prst="rect">
            <a:avLst/>
          </a:prstGeom>
          <a:noFill/>
          <a:ln/>
        </p:spPr>
        <p:txBody>
          <a:bodyPr wrap="square" lIns="0" tIns="0" rIns="0" bIns="0" rtlCol="0" anchor="t"/>
          <a:lstStyle/>
          <a:p>
            <a:pPr indent="0" marL="0">
              <a:buNone/>
            </a:pPr>
            <a:r>
              <a:rPr lang="en-US" sz="2000" b="1" dirty="0">
                <a:solidFill>
                  <a:srgbClr val="17798A"/>
                </a:solidFill>
                <a:latin typeface="Calibri" pitchFamily="34" charset="0"/>
                <a:ea typeface="Calibri" pitchFamily="34" charset="-122"/>
                <a:cs typeface="Calibri" pitchFamily="34" charset="-120"/>
              </a:rPr>
              <a:t>Probability</a:t>
            </a:r>
            <a:endParaRPr lang="en-US" sz="2000" dirty="0"/>
          </a:p>
        </p:txBody>
      </p:sp>
      <p:sp>
        <p:nvSpPr>
          <p:cNvPr id="13" name="Text 10"/>
          <p:cNvSpPr txBox="1"/>
          <p:nvPr/>
        </p:nvSpPr>
        <p:spPr>
          <a:xfrm>
            <a:off x="8138160" y="1920240"/>
            <a:ext cx="3291840" cy="502920"/>
          </a:xfrm>
          <a:prstGeom prst="rect">
            <a:avLst/>
          </a:prstGeom>
          <a:noFill/>
          <a:ln/>
        </p:spPr>
        <p:txBody>
          <a:bodyPr wrap="square" lIns="0" tIns="0" rIns="0" bIns="0" rtlCol="0" anchor="t"/>
          <a:lstStyle/>
          <a:p>
            <a:pPr indent="0" marL="0">
              <a:buNone/>
            </a:pPr>
            <a:r>
              <a:rPr lang="en-US" sz="1400" dirty="0">
                <a:solidFill>
                  <a:srgbClr val="1A2233"/>
                </a:solidFill>
                <a:latin typeface="Calibri" pitchFamily="34" charset="0"/>
                <a:ea typeface="Calibri" pitchFamily="34" charset="-122"/>
                <a:cs typeface="Calibri" pitchFamily="34" charset="-120"/>
              </a:rPr>
              <a:t>model-estimated P(Placed)</a:t>
            </a:r>
            <a:endParaRPr lang="en-US" sz="1400" dirty="0"/>
          </a:p>
        </p:txBody>
      </p:sp>
      <p:sp>
        <p:nvSpPr>
          <p:cNvPr id="14" name="output 2"/>
          <p:cNvSpPr/>
          <p:nvPr/>
        </p:nvSpPr>
        <p:spPr>
          <a:xfrm>
            <a:off x="7955280" y="2743200"/>
            <a:ext cx="3657600" cy="1188720"/>
          </a:xfrm>
          <a:prstGeom prst="roundRect">
            <a:avLst>
              <a:gd name="adj" fmla="val 7692"/>
            </a:avLst>
          </a:prstGeom>
          <a:solidFill>
            <a:srgbClr val="FFFFFF"/>
          </a:solidFill>
          <a:ln w="12700">
            <a:solidFill>
              <a:srgbClr val="17798A"/>
            </a:solidFill>
            <a:prstDash val="solid"/>
          </a:ln>
          <a:effectLst>
            <a:outerShdw sx="100000" sy="100000" kx="0" ky="0" algn="bl" rotWithShape="0" blurRad="76200" dist="25400" dir="5400000">
              <a:srgbClr val="000000">
                <a:alpha val="12000"/>
              </a:srgbClr>
            </a:outerShdw>
          </a:effectLst>
        </p:spPr>
        <p:txBody>
          <a:bodyPr/>
          <a:p/>
        </p:txBody>
      </p:sp>
      <p:sp>
        <p:nvSpPr>
          <p:cNvPr id="15" name="Text 12"/>
          <p:cNvSpPr txBox="1"/>
          <p:nvPr/>
        </p:nvSpPr>
        <p:spPr>
          <a:xfrm>
            <a:off x="8138160" y="2834640"/>
            <a:ext cx="3291840" cy="411480"/>
          </a:xfrm>
          <a:prstGeom prst="rect">
            <a:avLst/>
          </a:prstGeom>
          <a:noFill/>
          <a:ln/>
        </p:spPr>
        <p:txBody>
          <a:bodyPr wrap="square" lIns="0" tIns="0" rIns="0" bIns="0" rtlCol="0" anchor="t"/>
          <a:lstStyle/>
          <a:p>
            <a:pPr indent="0" marL="0">
              <a:buNone/>
            </a:pPr>
            <a:r>
              <a:rPr lang="en-US" sz="2000" b="1" dirty="0">
                <a:solidFill>
                  <a:srgbClr val="17798A"/>
                </a:solidFill>
                <a:latin typeface="Calibri" pitchFamily="34" charset="0"/>
                <a:ea typeface="Calibri" pitchFamily="34" charset="-122"/>
                <a:cs typeface="Calibri" pitchFamily="34" charset="-120"/>
              </a:rPr>
              <a:t>Classification</a:t>
            </a:r>
            <a:endParaRPr lang="en-US" sz="2000" dirty="0"/>
          </a:p>
        </p:txBody>
      </p:sp>
      <p:sp>
        <p:nvSpPr>
          <p:cNvPr id="16" name="Text 13"/>
          <p:cNvSpPr txBox="1"/>
          <p:nvPr/>
        </p:nvSpPr>
        <p:spPr>
          <a:xfrm>
            <a:off x="8138160" y="3291840"/>
            <a:ext cx="3291840" cy="502920"/>
          </a:xfrm>
          <a:prstGeom prst="rect">
            <a:avLst/>
          </a:prstGeom>
          <a:noFill/>
          <a:ln/>
        </p:spPr>
        <p:txBody>
          <a:bodyPr wrap="square" lIns="0" tIns="0" rIns="0" bIns="0" rtlCol="0" anchor="t"/>
          <a:lstStyle/>
          <a:p>
            <a:pPr indent="0" marL="0">
              <a:buNone/>
            </a:pPr>
            <a:r>
              <a:rPr lang="en-US" sz="1400" dirty="0">
                <a:solidFill>
                  <a:srgbClr val="1A2233"/>
                </a:solidFill>
                <a:latin typeface="Calibri" pitchFamily="34" charset="0"/>
                <a:ea typeface="Calibri" pitchFamily="34" charset="-122"/>
                <a:cs typeface="Calibri" pitchFamily="34" charset="-120"/>
              </a:rPr>
              <a:t>0.35 operating · 0.50 reference</a:t>
            </a:r>
            <a:endParaRPr lang="en-US" sz="1400" dirty="0"/>
          </a:p>
        </p:txBody>
      </p:sp>
      <p:sp>
        <p:nvSpPr>
          <p:cNvPr id="17" name="output 3"/>
          <p:cNvSpPr/>
          <p:nvPr/>
        </p:nvSpPr>
        <p:spPr>
          <a:xfrm>
            <a:off x="7955280" y="4114800"/>
            <a:ext cx="3657600" cy="1188720"/>
          </a:xfrm>
          <a:prstGeom prst="roundRect">
            <a:avLst>
              <a:gd name="adj" fmla="val 7692"/>
            </a:avLst>
          </a:prstGeom>
          <a:solidFill>
            <a:srgbClr val="FFFFFF"/>
          </a:solidFill>
          <a:ln w="12700">
            <a:solidFill>
              <a:srgbClr val="17798A"/>
            </a:solidFill>
            <a:prstDash val="solid"/>
          </a:ln>
          <a:effectLst>
            <a:outerShdw sx="100000" sy="100000" kx="0" ky="0" algn="bl" rotWithShape="0" blurRad="76200" dist="25400" dir="5400000">
              <a:srgbClr val="000000">
                <a:alpha val="12000"/>
              </a:srgbClr>
            </a:outerShdw>
          </a:effectLst>
        </p:spPr>
        <p:txBody>
          <a:bodyPr/>
          <a:p/>
        </p:txBody>
      </p:sp>
      <p:sp>
        <p:nvSpPr>
          <p:cNvPr id="18" name="Text 15"/>
          <p:cNvSpPr txBox="1"/>
          <p:nvPr/>
        </p:nvSpPr>
        <p:spPr>
          <a:xfrm>
            <a:off x="8138160" y="4206240"/>
            <a:ext cx="3291840" cy="411480"/>
          </a:xfrm>
          <a:prstGeom prst="rect">
            <a:avLst/>
          </a:prstGeom>
          <a:noFill/>
          <a:ln/>
        </p:spPr>
        <p:txBody>
          <a:bodyPr wrap="square" lIns="0" tIns="0" rIns="0" bIns="0" rtlCol="0" anchor="t"/>
          <a:lstStyle/>
          <a:p>
            <a:pPr indent="0" marL="0">
              <a:buNone/>
            </a:pPr>
            <a:r>
              <a:rPr lang="en-US" sz="2000" b="1" dirty="0">
                <a:solidFill>
                  <a:srgbClr val="17798A"/>
                </a:solidFill>
                <a:latin typeface="Calibri" pitchFamily="34" charset="0"/>
                <a:ea typeface="Calibri" pitchFamily="34" charset="-122"/>
                <a:cs typeface="Calibri" pitchFamily="34" charset="-120"/>
              </a:rPr>
              <a:t>Explanation</a:t>
            </a:r>
            <a:endParaRPr lang="en-US" sz="2000" dirty="0"/>
          </a:p>
        </p:txBody>
      </p:sp>
      <p:sp>
        <p:nvSpPr>
          <p:cNvPr id="19" name="Text 16"/>
          <p:cNvSpPr txBox="1"/>
          <p:nvPr/>
        </p:nvSpPr>
        <p:spPr>
          <a:xfrm>
            <a:off x="8138160" y="4663440"/>
            <a:ext cx="3291840" cy="502920"/>
          </a:xfrm>
          <a:prstGeom prst="rect">
            <a:avLst/>
          </a:prstGeom>
          <a:noFill/>
          <a:ln/>
        </p:spPr>
        <p:txBody>
          <a:bodyPr wrap="square" lIns="0" tIns="0" rIns="0" bIns="0" rtlCol="0" anchor="t"/>
          <a:lstStyle/>
          <a:p>
            <a:pPr indent="0" marL="0">
              <a:buNone/>
            </a:pPr>
            <a:r>
              <a:rPr lang="en-US" sz="1400" dirty="0">
                <a:solidFill>
                  <a:srgbClr val="1A2233"/>
                </a:solidFill>
                <a:latin typeface="Calibri" pitchFamily="34" charset="0"/>
                <a:ea typeface="Calibri" pitchFamily="34" charset="-122"/>
                <a:cs typeface="Calibri" pitchFamily="34" charset="-120"/>
              </a:rPr>
              <a:t>additive log-odds contributions</a:t>
            </a:r>
            <a:endParaRPr lang="en-US" sz="1400" dirty="0"/>
          </a:p>
        </p:txBody>
      </p:sp>
      <p:sp>
        <p:nvSpPr>
          <p:cNvPr id="20" name="chip"/>
          <p:cNvSpPr/>
          <p:nvPr/>
        </p:nvSpPr>
        <p:spPr>
          <a:xfrm>
            <a:off x="548640" y="5486400"/>
            <a:ext cx="3566160" cy="594360"/>
          </a:xfrm>
          <a:prstGeom prst="roundRect">
            <a:avLst>
              <a:gd name="adj" fmla="val 15385"/>
            </a:avLst>
          </a:prstGeom>
          <a:solidFill>
            <a:srgbClr val="EEF3F8"/>
          </a:solidFill>
          <a:ln w="12700">
            <a:solidFill>
              <a:srgbClr val="EEF3F8"/>
            </a:solidFill>
            <a:prstDash val="solid"/>
          </a:ln>
        </p:spPr>
        <p:txBody>
          <a:bodyPr/>
          <a:p/>
        </p:txBody>
      </p:sp>
      <p:sp>
        <p:nvSpPr>
          <p:cNvPr id="21" name="Text 18"/>
          <p:cNvSpPr txBox="1"/>
          <p:nvPr/>
        </p:nvSpPr>
        <p:spPr>
          <a:xfrm>
            <a:off x="548640" y="5486400"/>
            <a:ext cx="3566160" cy="594360"/>
          </a:xfrm>
          <a:prstGeom prst="rect">
            <a:avLst/>
          </a:prstGeom>
          <a:noFill/>
          <a:ln/>
        </p:spPr>
        <p:txBody>
          <a:bodyPr wrap="square" lIns="0" tIns="0" rIns="0" bIns="0" rtlCol="0" anchor="ctr"/>
          <a:lstStyle/>
          <a:p>
            <a:pPr algn="ctr" indent="0" marL="0">
              <a:buNone/>
            </a:pPr>
            <a:r>
              <a:rPr lang="en-US" sz="1500" b="1" dirty="0">
                <a:solidFill>
                  <a:srgbClr val="12355B"/>
                </a:solidFill>
                <a:latin typeface="Calibri" pitchFamily="34" charset="0"/>
                <a:ea typeface="Calibri" pitchFamily="34" charset="-122"/>
                <a:cs typeface="Calibri" pitchFamily="34" charset="-120"/>
              </a:rPr>
              <a:t>Streamlit</a:t>
            </a:r>
            <a:endParaRPr lang="en-US" sz="1500" dirty="0"/>
          </a:p>
        </p:txBody>
      </p:sp>
      <p:sp>
        <p:nvSpPr>
          <p:cNvPr id="22" name="chip"/>
          <p:cNvSpPr/>
          <p:nvPr/>
        </p:nvSpPr>
        <p:spPr>
          <a:xfrm>
            <a:off x="4297680" y="5486400"/>
            <a:ext cx="3566160" cy="594360"/>
          </a:xfrm>
          <a:prstGeom prst="roundRect">
            <a:avLst>
              <a:gd name="adj" fmla="val 15385"/>
            </a:avLst>
          </a:prstGeom>
          <a:solidFill>
            <a:srgbClr val="EEF3F8"/>
          </a:solidFill>
          <a:ln w="12700">
            <a:solidFill>
              <a:srgbClr val="EEF3F8"/>
            </a:solidFill>
            <a:prstDash val="solid"/>
          </a:ln>
        </p:spPr>
        <p:txBody>
          <a:bodyPr/>
          <a:p/>
        </p:txBody>
      </p:sp>
      <p:sp>
        <p:nvSpPr>
          <p:cNvPr id="23" name="Text 20"/>
          <p:cNvSpPr txBox="1"/>
          <p:nvPr/>
        </p:nvSpPr>
        <p:spPr>
          <a:xfrm>
            <a:off x="4297680" y="5486400"/>
            <a:ext cx="3566160" cy="594360"/>
          </a:xfrm>
          <a:prstGeom prst="rect">
            <a:avLst/>
          </a:prstGeom>
          <a:noFill/>
          <a:ln/>
        </p:spPr>
        <p:txBody>
          <a:bodyPr wrap="square" lIns="0" tIns="0" rIns="0" bIns="0" rtlCol="0" anchor="ctr"/>
          <a:lstStyle/>
          <a:p>
            <a:pPr algn="ctr" indent="0" marL="0">
              <a:buNone/>
            </a:pPr>
            <a:r>
              <a:rPr lang="en-US" sz="1500" b="1" dirty="0">
                <a:solidFill>
                  <a:srgbClr val="12355B"/>
                </a:solidFill>
                <a:latin typeface="Calibri" pitchFamily="34" charset="0"/>
                <a:ea typeface="Calibri" pitchFamily="34" charset="-122"/>
                <a:cs typeface="Calibri" pitchFamily="34" charset="-120"/>
              </a:rPr>
              <a:t>178 verification checks passed</a:t>
            </a:r>
            <a:endParaRPr lang="en-US" sz="1500" dirty="0"/>
          </a:p>
        </p:txBody>
      </p:sp>
      <p:sp>
        <p:nvSpPr>
          <p:cNvPr id="24" name="chip"/>
          <p:cNvSpPr/>
          <p:nvPr/>
        </p:nvSpPr>
        <p:spPr>
          <a:xfrm>
            <a:off x="8046720" y="5486400"/>
            <a:ext cx="3566160" cy="594360"/>
          </a:xfrm>
          <a:prstGeom prst="roundRect">
            <a:avLst>
              <a:gd name="adj" fmla="val 15385"/>
            </a:avLst>
          </a:prstGeom>
          <a:solidFill>
            <a:srgbClr val="EEF3F8"/>
          </a:solidFill>
          <a:ln w="12700">
            <a:solidFill>
              <a:srgbClr val="EEF3F8"/>
            </a:solidFill>
            <a:prstDash val="solid"/>
          </a:ln>
        </p:spPr>
        <p:txBody>
          <a:bodyPr/>
          <a:p/>
        </p:txBody>
      </p:sp>
      <p:sp>
        <p:nvSpPr>
          <p:cNvPr id="25" name="Text 22"/>
          <p:cNvSpPr txBox="1"/>
          <p:nvPr/>
        </p:nvSpPr>
        <p:spPr>
          <a:xfrm>
            <a:off x="8046720" y="5486400"/>
            <a:ext cx="3566160" cy="594360"/>
          </a:xfrm>
          <a:prstGeom prst="rect">
            <a:avLst/>
          </a:prstGeom>
          <a:noFill/>
          <a:ln/>
        </p:spPr>
        <p:txBody>
          <a:bodyPr wrap="square" lIns="0" tIns="0" rIns="0" bIns="0" rtlCol="0" anchor="ctr"/>
          <a:lstStyle/>
          <a:p>
            <a:pPr algn="ctr" indent="0" marL="0">
              <a:buNone/>
            </a:pPr>
            <a:r>
              <a:rPr lang="en-US" sz="1500" b="1" dirty="0">
                <a:solidFill>
                  <a:srgbClr val="12355B"/>
                </a:solidFill>
                <a:latin typeface="Calibri" pitchFamily="34" charset="0"/>
                <a:ea typeface="Calibri" pitchFamily="34" charset="-122"/>
                <a:cs typeface="Calibri" pitchFamily="34" charset="-120"/>
              </a:rPr>
              <a:t>Reads no test data</a:t>
            </a:r>
            <a:endParaRPr lang="en-US" sz="1500" dirty="0"/>
          </a:p>
        </p:txBody>
      </p:sp>
      <p:sp>
        <p:nvSpPr>
          <p:cNvPr id="26" name="Text 23"/>
          <p:cNvSpPr txBox="1"/>
          <p:nvPr/>
        </p:nvSpPr>
        <p:spPr>
          <a:xfrm>
            <a:off x="548640" y="6108192"/>
            <a:ext cx="7315200" cy="256032"/>
          </a:xfrm>
          <a:prstGeom prst="rect">
            <a:avLst/>
          </a:prstGeom>
          <a:noFill/>
          <a:ln/>
        </p:spPr>
        <p:txBody>
          <a:bodyPr wrap="square" lIns="0" tIns="0" rIns="0" bIns="0" rtlCol="0" anchor="t"/>
          <a:lstStyle/>
          <a:p>
            <a:pPr indent="0" marL="0">
              <a:buNone/>
            </a:pPr>
            <a:r>
              <a:rPr lang="en-US" sz="1100" dirty="0">
                <a:solidFill>
                  <a:srgbClr val="5B6B7F"/>
                </a:solidFill>
                <a:latin typeface="Calibri" pitchFamily="34" charset="0"/>
                <a:ea typeface="Calibri" pitchFamily="34" charset="-122"/>
                <a:cs typeface="Calibri" pitchFamily="34" charset="-120"/>
              </a:rPr>
              <a:t>Schematic of the application workflow (not a screenshot).</a:t>
            </a:r>
            <a:endParaRPr lang="en-US" sz="11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F"/>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lIns="0" tIns="0" rIns="0" bIns="0" rtlCol="0" anchor="ctr"/>
          <a:lstStyle/>
          <a:p>
            <a:pPr algn="l" indent="0" marL="0">
              <a:buNone/>
            </a:pPr>
            <a:r>
              <a:rPr lang="en-US" sz="3200" b="1" dirty="0">
                <a:solidFill>
                  <a:srgbClr val="FFFFFF"/>
                </a:solidFill>
                <a:latin typeface="Cambria" pitchFamily="34" charset="0"/>
                <a:ea typeface="Cambria" pitchFamily="34" charset="-122"/>
                <a:cs typeface="Cambria" pitchFamily="34" charset="-120"/>
              </a:rPr>
              <a:t>Conclusions and limitations</a:t>
            </a:r>
            <a:endParaRPr lang="en-US" sz="3200" dirty="0"/>
          </a:p>
        </p:txBody>
      </p:sp>
      <p:sp>
        <p:nvSpPr>
          <p:cNvPr id="4" name="Text 1"/>
          <p:cNvSpPr txBox="1"/>
          <p:nvPr/>
        </p:nvSpPr>
        <p:spPr>
          <a:xfrm>
            <a:off x="548640" y="1280160"/>
            <a:ext cx="5760720" cy="411480"/>
          </a:xfrm>
          <a:prstGeom prst="rect">
            <a:avLst/>
          </a:prstGeom>
          <a:noFill/>
          <a:ln/>
        </p:spPr>
        <p:txBody>
          <a:bodyPr wrap="square" lIns="0" tIns="0" rIns="0" bIns="0" rtlCol="0" anchor="t"/>
          <a:lstStyle/>
          <a:p>
            <a:pPr indent="0" marL="0">
              <a:buNone/>
            </a:pPr>
            <a:r>
              <a:rPr lang="en-US" sz="2200" b="1" dirty="0">
                <a:solidFill>
                  <a:srgbClr val="E8A33D"/>
                </a:solidFill>
                <a:latin typeface="Cambria" pitchFamily="34" charset="0"/>
                <a:ea typeface="Cambria" pitchFamily="34" charset="-122"/>
                <a:cs typeface="Cambria" pitchFamily="34" charset="-120"/>
              </a:rPr>
              <a:t>Conclusions</a:t>
            </a:r>
            <a:endParaRPr lang="en-US" sz="2200" dirty="0"/>
          </a:p>
        </p:txBody>
      </p:sp>
      <p:sp>
        <p:nvSpPr>
          <p:cNvPr id="5" name="number badge"/>
          <p:cNvSpPr/>
          <p:nvPr/>
        </p:nvSpPr>
        <p:spPr>
          <a:xfrm>
            <a:off x="548640" y="1856232"/>
            <a:ext cx="502920" cy="502920"/>
          </a:xfrm>
          <a:prstGeom prst="ellipse">
            <a:avLst/>
          </a:prstGeom>
          <a:solidFill>
            <a:srgbClr val="E8A33D"/>
          </a:solidFill>
          <a:ln w="12700">
            <a:solidFill>
              <a:srgbClr val="E8A33D"/>
            </a:solidFill>
            <a:prstDash val="solid"/>
          </a:ln>
        </p:spPr>
      </p:sp>
      <p:sp>
        <p:nvSpPr>
          <p:cNvPr id="6" name="Text 3"/>
          <p:cNvSpPr txBox="1"/>
          <p:nvPr/>
        </p:nvSpPr>
        <p:spPr>
          <a:xfrm>
            <a:off x="548640" y="1856232"/>
            <a:ext cx="502920" cy="502920"/>
          </a:xfrm>
          <a:prstGeom prst="rect">
            <a:avLst/>
          </a:prstGeom>
          <a:noFill/>
          <a:ln/>
        </p:spPr>
        <p:txBody>
          <a:bodyPr wrap="square" lIns="0" tIns="0" rIns="0" bIns="0" rtlCol="0" anchor="ctr"/>
          <a:lstStyle/>
          <a:p>
            <a:pPr algn="ctr" indent="0" marL="0">
              <a:buNone/>
            </a:pPr>
            <a:r>
              <a:rPr lang="en-US" sz="1800" b="1" dirty="0">
                <a:solidFill>
                  <a:srgbClr val="1A2233"/>
                </a:solidFill>
                <a:latin typeface="Calibri" pitchFamily="34" charset="0"/>
                <a:ea typeface="Calibri" pitchFamily="34" charset="-122"/>
                <a:cs typeface="Calibri" pitchFamily="34" charset="-120"/>
              </a:rPr>
              <a:t>1</a:t>
            </a:r>
            <a:endParaRPr lang="en-US" sz="1800" dirty="0"/>
          </a:p>
        </p:txBody>
      </p:sp>
      <p:sp>
        <p:nvSpPr>
          <p:cNvPr id="7" name="Text 4"/>
          <p:cNvSpPr txBox="1"/>
          <p:nvPr/>
        </p:nvSpPr>
        <p:spPr>
          <a:xfrm>
            <a:off x="1234440" y="1783080"/>
            <a:ext cx="4937760" cy="77724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Leakage-aware cleaning changed the evaluation design.</a:t>
            </a:r>
            <a:endParaRPr lang="en-US" sz="1700" dirty="0"/>
          </a:p>
        </p:txBody>
      </p:sp>
      <p:sp>
        <p:nvSpPr>
          <p:cNvPr id="8" name="number badge"/>
          <p:cNvSpPr/>
          <p:nvPr/>
        </p:nvSpPr>
        <p:spPr>
          <a:xfrm>
            <a:off x="548640" y="2770632"/>
            <a:ext cx="502920" cy="502920"/>
          </a:xfrm>
          <a:prstGeom prst="ellipse">
            <a:avLst/>
          </a:prstGeom>
          <a:solidFill>
            <a:srgbClr val="E8A33D"/>
          </a:solidFill>
          <a:ln w="12700">
            <a:solidFill>
              <a:srgbClr val="E8A33D"/>
            </a:solidFill>
            <a:prstDash val="solid"/>
          </a:ln>
        </p:spPr>
      </p:sp>
      <p:sp>
        <p:nvSpPr>
          <p:cNvPr id="9" name="Text 6"/>
          <p:cNvSpPr txBox="1"/>
          <p:nvPr/>
        </p:nvSpPr>
        <p:spPr>
          <a:xfrm>
            <a:off x="548640" y="2770632"/>
            <a:ext cx="502920" cy="502920"/>
          </a:xfrm>
          <a:prstGeom prst="rect">
            <a:avLst/>
          </a:prstGeom>
          <a:noFill/>
          <a:ln/>
        </p:spPr>
        <p:txBody>
          <a:bodyPr wrap="square" lIns="0" tIns="0" rIns="0" bIns="0" rtlCol="0" anchor="ctr"/>
          <a:lstStyle/>
          <a:p>
            <a:pPr algn="ctr" indent="0" marL="0">
              <a:buNone/>
            </a:pPr>
            <a:r>
              <a:rPr lang="en-US" sz="1800" b="1" dirty="0">
                <a:solidFill>
                  <a:srgbClr val="1A2233"/>
                </a:solidFill>
                <a:latin typeface="Calibri" pitchFamily="34" charset="0"/>
                <a:ea typeface="Calibri" pitchFamily="34" charset="-122"/>
                <a:cs typeface="Calibri" pitchFamily="34" charset="-120"/>
              </a:rPr>
              <a:t>2</a:t>
            </a:r>
            <a:endParaRPr lang="en-US" sz="1800" dirty="0"/>
          </a:p>
        </p:txBody>
      </p:sp>
      <p:sp>
        <p:nvSpPr>
          <p:cNvPr id="10" name="Text 7"/>
          <p:cNvSpPr txBox="1"/>
          <p:nvPr/>
        </p:nvSpPr>
        <p:spPr>
          <a:xfrm>
            <a:off x="1234440" y="2697480"/>
            <a:ext cx="4937760" cy="77724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Logistic regression provided strong, interpretable probability estimates.</a:t>
            </a:r>
            <a:endParaRPr lang="en-US" sz="1700" dirty="0"/>
          </a:p>
        </p:txBody>
      </p:sp>
      <p:sp>
        <p:nvSpPr>
          <p:cNvPr id="11" name="number badge"/>
          <p:cNvSpPr/>
          <p:nvPr/>
        </p:nvSpPr>
        <p:spPr>
          <a:xfrm>
            <a:off x="548640" y="3685032"/>
            <a:ext cx="502920" cy="502920"/>
          </a:xfrm>
          <a:prstGeom prst="ellipse">
            <a:avLst/>
          </a:prstGeom>
          <a:solidFill>
            <a:srgbClr val="E8A33D"/>
          </a:solidFill>
          <a:ln w="12700">
            <a:solidFill>
              <a:srgbClr val="E8A33D"/>
            </a:solidFill>
            <a:prstDash val="solid"/>
          </a:ln>
        </p:spPr>
      </p:sp>
      <p:sp>
        <p:nvSpPr>
          <p:cNvPr id="12" name="Text 9"/>
          <p:cNvSpPr txBox="1"/>
          <p:nvPr/>
        </p:nvSpPr>
        <p:spPr>
          <a:xfrm>
            <a:off x="548640" y="3685032"/>
            <a:ext cx="502920" cy="502920"/>
          </a:xfrm>
          <a:prstGeom prst="rect">
            <a:avLst/>
          </a:prstGeom>
          <a:noFill/>
          <a:ln/>
        </p:spPr>
        <p:txBody>
          <a:bodyPr wrap="square" lIns="0" tIns="0" rIns="0" bIns="0" rtlCol="0" anchor="ctr"/>
          <a:lstStyle/>
          <a:p>
            <a:pPr algn="ctr" indent="0" marL="0">
              <a:buNone/>
            </a:pPr>
            <a:r>
              <a:rPr lang="en-US" sz="1800" b="1" dirty="0">
                <a:solidFill>
                  <a:srgbClr val="1A2233"/>
                </a:solidFill>
                <a:latin typeface="Calibri" pitchFamily="34" charset="0"/>
                <a:ea typeface="Calibri" pitchFamily="34" charset="-122"/>
                <a:cs typeface="Calibri" pitchFamily="34" charset="-120"/>
              </a:rPr>
              <a:t>3</a:t>
            </a:r>
            <a:endParaRPr lang="en-US" sz="1800" dirty="0"/>
          </a:p>
        </p:txBody>
      </p:sp>
      <p:sp>
        <p:nvSpPr>
          <p:cNvPr id="13" name="Text 10"/>
          <p:cNvSpPr txBox="1"/>
          <p:nvPr/>
        </p:nvSpPr>
        <p:spPr>
          <a:xfrm>
            <a:off x="1234440" y="3611880"/>
            <a:ext cx="4937760" cy="77724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Calibration and threshold analysis made the probability output more meaningful.</a:t>
            </a:r>
            <a:endParaRPr lang="en-US" sz="1700" dirty="0"/>
          </a:p>
        </p:txBody>
      </p:sp>
      <p:sp>
        <p:nvSpPr>
          <p:cNvPr id="14" name="number badge"/>
          <p:cNvSpPr/>
          <p:nvPr/>
        </p:nvSpPr>
        <p:spPr>
          <a:xfrm>
            <a:off x="548640" y="4599432"/>
            <a:ext cx="502920" cy="502920"/>
          </a:xfrm>
          <a:prstGeom prst="ellipse">
            <a:avLst/>
          </a:prstGeom>
          <a:solidFill>
            <a:srgbClr val="E8A33D"/>
          </a:solidFill>
          <a:ln w="12700">
            <a:solidFill>
              <a:srgbClr val="E8A33D"/>
            </a:solidFill>
            <a:prstDash val="solid"/>
          </a:ln>
        </p:spPr>
      </p:sp>
      <p:sp>
        <p:nvSpPr>
          <p:cNvPr id="15" name="Text 12"/>
          <p:cNvSpPr txBox="1"/>
          <p:nvPr/>
        </p:nvSpPr>
        <p:spPr>
          <a:xfrm>
            <a:off x="548640" y="4599432"/>
            <a:ext cx="502920" cy="502920"/>
          </a:xfrm>
          <a:prstGeom prst="rect">
            <a:avLst/>
          </a:prstGeom>
          <a:noFill/>
          <a:ln/>
        </p:spPr>
        <p:txBody>
          <a:bodyPr wrap="square" lIns="0" tIns="0" rIns="0" bIns="0" rtlCol="0" anchor="ctr"/>
          <a:lstStyle/>
          <a:p>
            <a:pPr algn="ctr" indent="0" marL="0">
              <a:buNone/>
            </a:pPr>
            <a:r>
              <a:rPr lang="en-US" sz="1800" b="1" dirty="0">
                <a:solidFill>
                  <a:srgbClr val="1A2233"/>
                </a:solidFill>
                <a:latin typeface="Calibri" pitchFamily="34" charset="0"/>
                <a:ea typeface="Calibri" pitchFamily="34" charset="-122"/>
                <a:cs typeface="Calibri" pitchFamily="34" charset="-120"/>
              </a:rPr>
              <a:t>4</a:t>
            </a:r>
            <a:endParaRPr lang="en-US" sz="1800" dirty="0"/>
          </a:p>
        </p:txBody>
      </p:sp>
      <p:sp>
        <p:nvSpPr>
          <p:cNvPr id="16" name="Text 13"/>
          <p:cNvSpPr txBox="1"/>
          <p:nvPr/>
        </p:nvSpPr>
        <p:spPr>
          <a:xfrm>
            <a:off x="1234440" y="4526280"/>
            <a:ext cx="4937760" cy="77724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The model achieved ROC-AUC 0.886 on the final held-out evaluation.</a:t>
            </a:r>
            <a:endParaRPr lang="en-US" sz="1700" dirty="0"/>
          </a:p>
        </p:txBody>
      </p:sp>
      <p:sp>
        <p:nvSpPr>
          <p:cNvPr id="17" name="limitations"/>
          <p:cNvSpPr/>
          <p:nvPr/>
        </p:nvSpPr>
        <p:spPr>
          <a:xfrm>
            <a:off x="6583680" y="1280160"/>
            <a:ext cx="5029200" cy="3840480"/>
          </a:xfrm>
          <a:prstGeom prst="roundRect">
            <a:avLst>
              <a:gd name="adj" fmla="val 2381"/>
            </a:avLst>
          </a:prstGeom>
          <a:solidFill>
            <a:srgbClr val="1D4673"/>
          </a:solidFill>
          <a:ln w="12700">
            <a:solidFill>
              <a:srgbClr val="1D4673"/>
            </a:solidFill>
            <a:prstDash val="solid"/>
          </a:ln>
        </p:spPr>
      </p:sp>
      <p:sp>
        <p:nvSpPr>
          <p:cNvPr id="18" name="Text 15"/>
          <p:cNvSpPr txBox="1"/>
          <p:nvPr/>
        </p:nvSpPr>
        <p:spPr>
          <a:xfrm>
            <a:off x="6812280" y="1371600"/>
            <a:ext cx="4572000" cy="411480"/>
          </a:xfrm>
          <a:prstGeom prst="rect">
            <a:avLst/>
          </a:prstGeom>
          <a:noFill/>
          <a:ln/>
        </p:spPr>
        <p:txBody>
          <a:bodyPr wrap="square" lIns="0" tIns="0" rIns="0" bIns="0" rtlCol="0" anchor="t"/>
          <a:lstStyle/>
          <a:p>
            <a:pPr indent="0" marL="0">
              <a:buNone/>
            </a:pPr>
            <a:r>
              <a:rPr lang="en-US" sz="2200" b="1" dirty="0">
                <a:solidFill>
                  <a:srgbClr val="E8A33D"/>
                </a:solidFill>
                <a:latin typeface="Cambria" pitchFamily="34" charset="0"/>
                <a:ea typeface="Cambria" pitchFamily="34" charset="-122"/>
                <a:cs typeface="Cambria" pitchFamily="34" charset="-120"/>
              </a:rPr>
              <a:t>Limitations</a:t>
            </a:r>
            <a:endParaRPr lang="en-US" sz="2200" dirty="0"/>
          </a:p>
        </p:txBody>
      </p:sp>
      <p:sp>
        <p:nvSpPr>
          <p:cNvPr id="19" name="Text 16"/>
          <p:cNvSpPr txBox="1"/>
          <p:nvPr/>
        </p:nvSpPr>
        <p:spPr>
          <a:xfrm>
            <a:off x="6812280" y="1874520"/>
            <a:ext cx="4572000" cy="3337560"/>
          </a:xfrm>
          <a:prstGeom prst="rect">
            <a:avLst/>
          </a:prstGeom>
          <a:noFill/>
          <a:ln/>
        </p:spPr>
        <p:txBody>
          <a:bodyPr wrap="square" lIns="0" tIns="0" rIns="0" bIns="0" rtlCol="0" anchor="t"/>
          <a:lstStyle/>
          <a:p>
            <a:pPr marL="342900" indent="-342900">
              <a:spcAft>
                <a:spcPts val="700"/>
              </a:spcAft>
              <a:buSzPct val="100000"/>
              <a:buChar char="•"/>
            </a:pPr>
            <a:r>
              <a:rPr lang="en-US" sz="1600" dirty="0">
                <a:solidFill>
                  <a:srgbClr val="FFFFFF"/>
                </a:solidFill>
                <a:latin typeface="Calibri" pitchFamily="34" charset="0"/>
                <a:ea typeface="Calibri" pitchFamily="34" charset="-122"/>
                <a:cs typeface="Calibri" pitchFamily="34" charset="-120"/>
              </a:rPr>
              <a:t>Single dataset, uncertain representativeness</a:t>
            </a:r>
            <a:endParaRPr lang="en-US" sz="1600" dirty="0"/>
          </a:p>
          <a:p>
            <a:pPr marL="342900" indent="-342900">
              <a:spcAft>
                <a:spcPts val="700"/>
              </a:spcAft>
              <a:buSzPct val="100000"/>
              <a:buChar char="•"/>
            </a:pPr>
            <a:r>
              <a:rPr lang="en-US" sz="1600" dirty="0">
                <a:solidFill>
                  <a:srgbClr val="FFFFFF"/>
                </a:solidFill>
                <a:latin typeface="Calibri" pitchFamily="34" charset="0"/>
                <a:ea typeface="Calibri" pitchFamily="34" charset="-122"/>
                <a:cs typeface="Calibri" pitchFamily="34" charset="-120"/>
              </a:rPr>
              <a:t>Possibly constructed / rule-based structure</a:t>
            </a:r>
            <a:endParaRPr lang="en-US" sz="1600" dirty="0"/>
          </a:p>
          <a:p>
            <a:pPr marL="342900" indent="-342900">
              <a:spcAft>
                <a:spcPts val="700"/>
              </a:spcAft>
              <a:buSzPct val="100000"/>
              <a:buChar char="•"/>
            </a:pPr>
            <a:r>
              <a:rPr lang="en-US" sz="1600" dirty="0">
                <a:solidFill>
                  <a:srgbClr val="FFFFFF"/>
                </a:solidFill>
                <a:latin typeface="Calibri" pitchFamily="34" charset="0"/>
                <a:ea typeface="Calibri" pitchFamily="34" charset="-122"/>
                <a:cs typeface="Calibri" pitchFamily="34" charset="-120"/>
              </a:rPr>
              <a:t>Associations, not causation</a:t>
            </a:r>
            <a:endParaRPr lang="en-US" sz="1600" dirty="0"/>
          </a:p>
          <a:p>
            <a:pPr marL="342900" indent="-342900">
              <a:spcAft>
                <a:spcPts val="700"/>
              </a:spcAft>
              <a:buSzPct val="100000"/>
              <a:buChar char="•"/>
            </a:pPr>
            <a:r>
              <a:rPr lang="en-US" sz="1600" dirty="0">
                <a:solidFill>
                  <a:srgbClr val="FFFFFF"/>
                </a:solidFill>
                <a:latin typeface="Calibri" pitchFamily="34" charset="0"/>
                <a:ea typeface="Calibri" pitchFamily="34" charset="-122"/>
                <a:cs typeface="Calibri" pitchFamily="34" charset="-120"/>
              </a:rPr>
              <a:t>Threshold depends on error costs</a:t>
            </a:r>
            <a:endParaRPr lang="en-US" sz="1600" dirty="0"/>
          </a:p>
          <a:p>
            <a:pPr marL="342900" indent="-342900">
              <a:spcAft>
                <a:spcPts val="700"/>
              </a:spcAft>
              <a:buSzPct val="100000"/>
              <a:buChar char="•"/>
            </a:pPr>
            <a:r>
              <a:rPr lang="en-US" sz="1600" dirty="0">
                <a:solidFill>
                  <a:srgbClr val="FFFFFF"/>
                </a:solidFill>
                <a:latin typeface="Calibri" pitchFamily="34" charset="0"/>
                <a:ea typeface="Calibri" pitchFamily="34" charset="-122"/>
                <a:cs typeface="Calibri" pitchFamily="34" charset="-120"/>
              </a:rPr>
              <a:t>Early descriptive access to eventual test rows (disclosed)</a:t>
            </a:r>
            <a:endParaRPr lang="en-US" sz="1600" dirty="0"/>
          </a:p>
          <a:p>
            <a:pPr marL="342900" indent="-342900">
              <a:spcAft>
                <a:spcPts val="700"/>
              </a:spcAft>
              <a:buSzPct val="100000"/>
              <a:buChar char="•"/>
            </a:pPr>
            <a:r>
              <a:rPr lang="en-US" sz="1600" dirty="0">
                <a:solidFill>
                  <a:srgbClr val="FFFFFF"/>
                </a:solidFill>
                <a:latin typeface="Calibri" pitchFamily="34" charset="0"/>
                <a:ea typeface="Calibri" pitchFamily="34" charset="-122"/>
                <a:cs typeface="Calibri" pitchFamily="34" charset="-120"/>
              </a:rPr>
              <a:t>No external validation</a:t>
            </a:r>
            <a:endParaRPr lang="en-US" sz="1600" dirty="0"/>
          </a:p>
        </p:txBody>
      </p:sp>
      <p:sp>
        <p:nvSpPr>
          <p:cNvPr id="20" name="Text 17"/>
          <p:cNvSpPr txBox="1"/>
          <p:nvPr/>
        </p:nvSpPr>
        <p:spPr>
          <a:xfrm>
            <a:off x="548640" y="5486400"/>
            <a:ext cx="11064240" cy="731520"/>
          </a:xfrm>
          <a:prstGeom prst="rect">
            <a:avLst/>
          </a:prstGeom>
          <a:noFill/>
          <a:ln/>
        </p:spPr>
        <p:txBody>
          <a:bodyPr wrap="square" lIns="0" tIns="0" rIns="0" bIns="0" rtlCol="0" anchor="ctr"/>
          <a:lstStyle/>
          <a:p>
            <a:pPr algn="ctr" indent="0" marL="0">
              <a:buNone/>
            </a:pPr>
            <a:r>
              <a:rPr lang="en-US" sz="2000" b="1" i="1" dirty="0">
                <a:solidFill>
                  <a:srgbClr val="FFFFFF"/>
                </a:solidFill>
                <a:latin typeface="Cambria" pitchFamily="34" charset="0"/>
                <a:ea typeface="Cambria" pitchFamily="34" charset="-122"/>
                <a:cs typeface="Cambria" pitchFamily="34" charset="-120"/>
              </a:rPr>
              <a:t>A useful predictive estimate within this dataset and experimental protocol — not a guarantee of individual placement.</a:t>
            </a:r>
            <a:endParaRPr lang="en-US" sz="2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B8C9"/>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Placement Report">
  <a:themeElements>
    <a:clrScheme name="Placement Report">
      <a:dk1>
        <a:srgbClr val="1A2233"/>
      </a:dk1>
      <a:lt1>
        <a:srgbClr val="FFFFFF"/>
      </a:lt1>
      <a:dk2>
        <a:srgbClr val="12355B"/>
      </a:dk2>
      <a:lt2>
        <a:srgbClr val="EEF3F8"/>
      </a:lt2>
      <a:accent1>
        <a:srgbClr val="12355B"/>
      </a:accent1>
      <a:accent2>
        <a:srgbClr val="17798A"/>
      </a:accent2>
      <a:accent3>
        <a:srgbClr val="E8A33D"/>
      </a:accent3>
      <a:accent4>
        <a:srgbClr val="B5483A"/>
      </a:accent4>
      <a:accent5>
        <a:srgbClr val="5B6B7F"/>
      </a:accent5>
      <a:accent6>
        <a:srgbClr val="8FB8C9"/>
      </a:accent6>
      <a:hlink>
        <a:srgbClr val="17798A"/>
      </a:hlink>
      <a:folHlink>
        <a:srgbClr val="5B6B7F"/>
      </a:folHlink>
    </a:clrScheme>
    <a:fontScheme name="Placement Repor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Student Placement Probability</dc:title>
  <dc:subject>Final project presentation</dc:subject>
  <dc:creator>[Student name(s)]</dc:creator>
  <cp:lastModifiedBy>[Student name(s)]</cp:lastModifiedBy>
  <cp:revision>1</cp:revision>
  <dcterms:created xsi:type="dcterms:W3CDTF">2026-10-03T18:28:13Z</dcterms:created>
  <dcterms:modified xsi:type="dcterms:W3CDTF">2026-10-03T18:28:13Z</dcterms:modified>
</cp:coreProperties>
</file>